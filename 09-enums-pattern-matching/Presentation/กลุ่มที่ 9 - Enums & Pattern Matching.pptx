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18288000" cy="10287000"/>
  <p:notesSz cx="6858000" cy="9144000"/>
  <p:embeddedFontLst>
    <p:embeddedFont>
      <p:font typeface="ไอติม" charset="1" panose="00000500000000000000"/>
      <p:regular r:id="rId60"/>
    </p:embeddedFont>
    <p:embeddedFont>
      <p:font typeface="Amiko TH" charset="1" panose="00000500000000000000"/>
      <p:regular r:id="rId61"/>
    </p:embeddedFont>
    <p:embeddedFont>
      <p:font typeface="Aristotelica Pro Condensed Bold" charset="1" panose="00000800000000000000"/>
      <p:regular r:id="rId62"/>
    </p:embeddedFont>
    <p:embeddedFont>
      <p:font typeface="Aristotelica Pro Condensed" charset="1" panose="00000500000000000000"/>
      <p:regular r:id="rId63"/>
    </p:embeddedFont>
    <p:embeddedFont>
      <p:font typeface="Itim" charset="1" panose="00000500000000000000"/>
      <p:regular r:id="rId64"/>
    </p:embeddedFont>
    <p:embeddedFont>
      <p:font typeface="Comic Sans Bold" charset="1" panose="03000902030302020204"/>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20.jpeg" Type="http://schemas.openxmlformats.org/officeDocument/2006/relationships/image"/><Relationship Id="rId6" Target="../media/image2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22.jpeg" Type="http://schemas.openxmlformats.org/officeDocument/2006/relationships/image"/><Relationship Id="rId6" Target="../media/image2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4.jpeg" Type="http://schemas.openxmlformats.org/officeDocument/2006/relationships/image"/><Relationship Id="rId8"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 Id="rId3" Target="../media/image52.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jpeg" Type="http://schemas.openxmlformats.org/officeDocument/2006/relationships/image"/><Relationship Id="rId5" Target="../media/image64.png" Type="http://schemas.openxmlformats.org/officeDocument/2006/relationships/image"/><Relationship Id="rId6" Target="../media/image65.svg" Type="http://schemas.openxmlformats.org/officeDocument/2006/relationships/image"/><Relationship Id="rId7" Target="../media/image66.png" Type="http://schemas.openxmlformats.org/officeDocument/2006/relationships/image"/><Relationship Id="rId8" Target="../media/image67.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 Id="rId4" Target="../media/image70.png" Type="http://schemas.openxmlformats.org/officeDocument/2006/relationships/image"/><Relationship Id="rId5" Target="../media/image71.svg" Type="http://schemas.openxmlformats.org/officeDocument/2006/relationships/image"/><Relationship Id="rId6" Target="../media/image72.png" Type="http://schemas.openxmlformats.org/officeDocument/2006/relationships/image"/><Relationship Id="rId7" Target="../media/image73.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svg" Type="http://schemas.openxmlformats.org/officeDocument/2006/relationships/image"/><Relationship Id="rId4" Target="../media/image70.png" Type="http://schemas.openxmlformats.org/officeDocument/2006/relationships/image"/><Relationship Id="rId5" Target="../media/image71.svg" Type="http://schemas.openxmlformats.org/officeDocument/2006/relationships/image"/><Relationship Id="rId6" Target="../media/image72.png" Type="http://schemas.openxmlformats.org/officeDocument/2006/relationships/image"/><Relationship Id="rId7" Target="../media/image73.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BD3B"/>
        </a:solidFill>
      </p:bgPr>
    </p:bg>
    <p:spTree>
      <p:nvGrpSpPr>
        <p:cNvPr id="1" name=""/>
        <p:cNvGrpSpPr/>
        <p:nvPr/>
      </p:nvGrpSpPr>
      <p:grpSpPr>
        <a:xfrm>
          <a:off x="0" y="0"/>
          <a:ext cx="0" cy="0"/>
          <a:chOff x="0" y="0"/>
          <a:chExt cx="0" cy="0"/>
        </a:xfrm>
      </p:grpSpPr>
      <p:grpSp>
        <p:nvGrpSpPr>
          <p:cNvPr name="Group 2" id="2"/>
          <p:cNvGrpSpPr/>
          <p:nvPr/>
        </p:nvGrpSpPr>
        <p:grpSpPr>
          <a:xfrm rot="0">
            <a:off x="-1306392" y="2319626"/>
            <a:ext cx="18083804" cy="7148224"/>
            <a:chOff x="0" y="0"/>
            <a:chExt cx="4762812" cy="1882660"/>
          </a:xfrm>
        </p:grpSpPr>
        <p:sp>
          <p:nvSpPr>
            <p:cNvPr name="Freeform 3" id="3"/>
            <p:cNvSpPr/>
            <p:nvPr/>
          </p:nvSpPr>
          <p:spPr>
            <a:xfrm flipH="false" flipV="false" rot="0">
              <a:off x="0" y="0"/>
              <a:ext cx="4762812" cy="1882660"/>
            </a:xfrm>
            <a:custGeom>
              <a:avLst/>
              <a:gdLst/>
              <a:ahLst/>
              <a:cxnLst/>
              <a:rect r="r" b="b" t="t" l="l"/>
              <a:pathLst>
                <a:path h="1882660" w="4762812">
                  <a:moveTo>
                    <a:pt x="29968" y="0"/>
                  </a:moveTo>
                  <a:lnTo>
                    <a:pt x="4732844" y="0"/>
                  </a:lnTo>
                  <a:cubicBezTo>
                    <a:pt x="4740792" y="0"/>
                    <a:pt x="4748415" y="3157"/>
                    <a:pt x="4754035" y="8777"/>
                  </a:cubicBezTo>
                  <a:cubicBezTo>
                    <a:pt x="4759655" y="14397"/>
                    <a:pt x="4762812" y="22020"/>
                    <a:pt x="4762812" y="29968"/>
                  </a:cubicBezTo>
                  <a:lnTo>
                    <a:pt x="4762812" y="1852692"/>
                  </a:lnTo>
                  <a:cubicBezTo>
                    <a:pt x="4762812" y="1869243"/>
                    <a:pt x="4749395" y="1882660"/>
                    <a:pt x="4732844" y="1882660"/>
                  </a:cubicBezTo>
                  <a:lnTo>
                    <a:pt x="29968" y="1882660"/>
                  </a:lnTo>
                  <a:cubicBezTo>
                    <a:pt x="13417" y="1882660"/>
                    <a:pt x="0" y="1869243"/>
                    <a:pt x="0" y="1852692"/>
                  </a:cubicBezTo>
                  <a:lnTo>
                    <a:pt x="0" y="29968"/>
                  </a:lnTo>
                  <a:cubicBezTo>
                    <a:pt x="0" y="13417"/>
                    <a:pt x="13417" y="0"/>
                    <a:pt x="29968" y="0"/>
                  </a:cubicBezTo>
                  <a:close/>
                </a:path>
              </a:pathLst>
            </a:custGeom>
            <a:solidFill>
              <a:srgbClr val="FFFFFF"/>
            </a:solidFill>
            <a:ln w="38100" cap="rnd">
              <a:solidFill>
                <a:srgbClr val="000000"/>
              </a:solidFill>
              <a:prstDash val="solid"/>
              <a:round/>
            </a:ln>
          </p:spPr>
        </p:sp>
        <p:sp>
          <p:nvSpPr>
            <p:cNvPr name="TextBox 4" id="4"/>
            <p:cNvSpPr txBox="true"/>
            <p:nvPr/>
          </p:nvSpPr>
          <p:spPr>
            <a:xfrm>
              <a:off x="0" y="19050"/>
              <a:ext cx="4762812" cy="1863610"/>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5876423" y="2975765"/>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E2A9F1"/>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5876423" y="5032722"/>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327EBD"/>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876423" y="7015121"/>
            <a:ext cx="1382877" cy="1619841"/>
            <a:chOff x="0" y="0"/>
            <a:chExt cx="364214" cy="426625"/>
          </a:xfrm>
        </p:grpSpPr>
        <p:sp>
          <p:nvSpPr>
            <p:cNvPr name="Freeform 12" id="12"/>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3" id="13"/>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1515942" y="2042490"/>
            <a:ext cx="18083804" cy="7215810"/>
            <a:chOff x="0" y="0"/>
            <a:chExt cx="4762812" cy="1900460"/>
          </a:xfrm>
        </p:grpSpPr>
        <p:sp>
          <p:nvSpPr>
            <p:cNvPr name="Freeform 15" id="15"/>
            <p:cNvSpPr/>
            <p:nvPr/>
          </p:nvSpPr>
          <p:spPr>
            <a:xfrm flipH="false" flipV="false" rot="0">
              <a:off x="0" y="0"/>
              <a:ext cx="4762812" cy="1900460"/>
            </a:xfrm>
            <a:custGeom>
              <a:avLst/>
              <a:gdLst/>
              <a:ahLst/>
              <a:cxnLst/>
              <a:rect r="r" b="b" t="t" l="l"/>
              <a:pathLst>
                <a:path h="1900460" w="4762812">
                  <a:moveTo>
                    <a:pt x="29968" y="0"/>
                  </a:moveTo>
                  <a:lnTo>
                    <a:pt x="4732844" y="0"/>
                  </a:lnTo>
                  <a:cubicBezTo>
                    <a:pt x="4740792" y="0"/>
                    <a:pt x="4748415" y="3157"/>
                    <a:pt x="4754035" y="8777"/>
                  </a:cubicBezTo>
                  <a:cubicBezTo>
                    <a:pt x="4759655" y="14397"/>
                    <a:pt x="4762812" y="22020"/>
                    <a:pt x="4762812" y="29968"/>
                  </a:cubicBezTo>
                  <a:lnTo>
                    <a:pt x="4762812" y="1870492"/>
                  </a:lnTo>
                  <a:cubicBezTo>
                    <a:pt x="4762812" y="1887043"/>
                    <a:pt x="4749395" y="1900460"/>
                    <a:pt x="4732844" y="1900460"/>
                  </a:cubicBezTo>
                  <a:lnTo>
                    <a:pt x="29968" y="1900460"/>
                  </a:lnTo>
                  <a:cubicBezTo>
                    <a:pt x="13417" y="1900460"/>
                    <a:pt x="0" y="1887043"/>
                    <a:pt x="0" y="1870492"/>
                  </a:cubicBezTo>
                  <a:lnTo>
                    <a:pt x="0" y="29968"/>
                  </a:lnTo>
                  <a:cubicBezTo>
                    <a:pt x="0" y="13417"/>
                    <a:pt x="13417" y="0"/>
                    <a:pt x="29968" y="0"/>
                  </a:cubicBezTo>
                  <a:close/>
                </a:path>
              </a:pathLst>
            </a:custGeom>
            <a:solidFill>
              <a:srgbClr val="F8F5E7"/>
            </a:solidFill>
            <a:ln w="38100" cap="rnd">
              <a:solidFill>
                <a:srgbClr val="000000"/>
              </a:solidFill>
              <a:prstDash val="solid"/>
              <a:round/>
            </a:ln>
          </p:spPr>
        </p:sp>
        <p:sp>
          <p:nvSpPr>
            <p:cNvPr name="TextBox 16" id="16"/>
            <p:cNvSpPr txBox="true"/>
            <p:nvPr/>
          </p:nvSpPr>
          <p:spPr>
            <a:xfrm>
              <a:off x="0" y="19050"/>
              <a:ext cx="4762812" cy="1881410"/>
            </a:xfrm>
            <a:prstGeom prst="rect">
              <a:avLst/>
            </a:prstGeom>
          </p:spPr>
          <p:txBody>
            <a:bodyPr anchor="ctr" rtlCol="false" tIns="50800" lIns="50800" bIns="50800" rIns="50800"/>
            <a:lstStyle/>
            <a:p>
              <a:pPr algn="ctr">
                <a:lnSpc>
                  <a:spcPts val="2694"/>
                </a:lnSpc>
              </a:pPr>
            </a:p>
          </p:txBody>
        </p:sp>
      </p:grpSp>
      <p:sp>
        <p:nvSpPr>
          <p:cNvPr name="Freeform 17" id="17"/>
          <p:cNvSpPr/>
          <p:nvPr/>
        </p:nvSpPr>
        <p:spPr>
          <a:xfrm flipH="false" flipV="false" rot="-246729">
            <a:off x="8857465" y="1622203"/>
            <a:ext cx="3255743" cy="840574"/>
          </a:xfrm>
          <a:custGeom>
            <a:avLst/>
            <a:gdLst/>
            <a:ahLst/>
            <a:cxnLst/>
            <a:rect r="r" b="b" t="t" l="l"/>
            <a:pathLst>
              <a:path h="840574" w="3255743">
                <a:moveTo>
                  <a:pt x="0" y="0"/>
                </a:moveTo>
                <a:lnTo>
                  <a:pt x="3255742" y="0"/>
                </a:lnTo>
                <a:lnTo>
                  <a:pt x="3255742" y="840574"/>
                </a:lnTo>
                <a:lnTo>
                  <a:pt x="0" y="840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547187" y="2705350"/>
            <a:ext cx="12641482" cy="1070810"/>
          </a:xfrm>
          <a:prstGeom prst="rect">
            <a:avLst/>
          </a:prstGeom>
        </p:spPr>
        <p:txBody>
          <a:bodyPr anchor="t" rtlCol="false" tIns="0" lIns="0" bIns="0" rIns="0">
            <a:spAutoFit/>
          </a:bodyPr>
          <a:lstStyle/>
          <a:p>
            <a:pPr algn="ctr">
              <a:lnSpc>
                <a:spcPts val="8703"/>
              </a:lnSpc>
            </a:pPr>
            <a:r>
              <a:rPr lang="en-US" sz="6217">
                <a:solidFill>
                  <a:srgbClr val="000000"/>
                </a:solidFill>
                <a:latin typeface="ไอติม"/>
                <a:ea typeface="ไอติม"/>
                <a:cs typeface="ไอติม"/>
                <a:sym typeface="ไอติม"/>
              </a:rPr>
              <a:t>กลุ่มที่ 9 - Enums &amp; Pattern Matching</a:t>
            </a:r>
          </a:p>
        </p:txBody>
      </p:sp>
      <p:grpSp>
        <p:nvGrpSpPr>
          <p:cNvPr name="Group 19" id="19"/>
          <p:cNvGrpSpPr/>
          <p:nvPr/>
        </p:nvGrpSpPr>
        <p:grpSpPr>
          <a:xfrm rot="0">
            <a:off x="413855" y="4316334"/>
            <a:ext cx="15462568" cy="4046773"/>
            <a:chOff x="0" y="0"/>
            <a:chExt cx="4072446" cy="1065817"/>
          </a:xfrm>
        </p:grpSpPr>
        <p:sp>
          <p:nvSpPr>
            <p:cNvPr name="Freeform 20" id="20"/>
            <p:cNvSpPr/>
            <p:nvPr/>
          </p:nvSpPr>
          <p:spPr>
            <a:xfrm flipH="false" flipV="false" rot="0">
              <a:off x="0" y="0"/>
              <a:ext cx="4072446" cy="1065817"/>
            </a:xfrm>
            <a:custGeom>
              <a:avLst/>
              <a:gdLst/>
              <a:ahLst/>
              <a:cxnLst/>
              <a:rect r="r" b="b" t="t" l="l"/>
              <a:pathLst>
                <a:path h="1065817" w="4072446">
                  <a:moveTo>
                    <a:pt x="35048" y="0"/>
                  </a:moveTo>
                  <a:lnTo>
                    <a:pt x="4037398" y="0"/>
                  </a:lnTo>
                  <a:cubicBezTo>
                    <a:pt x="4046693" y="0"/>
                    <a:pt x="4055608" y="3693"/>
                    <a:pt x="4062181" y="10265"/>
                  </a:cubicBezTo>
                  <a:cubicBezTo>
                    <a:pt x="4068754" y="16838"/>
                    <a:pt x="4072446" y="25753"/>
                    <a:pt x="4072446" y="35048"/>
                  </a:cubicBezTo>
                  <a:lnTo>
                    <a:pt x="4072446" y="1030769"/>
                  </a:lnTo>
                  <a:cubicBezTo>
                    <a:pt x="4072446" y="1040064"/>
                    <a:pt x="4068754" y="1048979"/>
                    <a:pt x="4062181" y="1055552"/>
                  </a:cubicBezTo>
                  <a:cubicBezTo>
                    <a:pt x="4055608" y="1062124"/>
                    <a:pt x="4046693" y="1065817"/>
                    <a:pt x="4037398" y="1065817"/>
                  </a:cubicBezTo>
                  <a:lnTo>
                    <a:pt x="35048" y="1065817"/>
                  </a:lnTo>
                  <a:cubicBezTo>
                    <a:pt x="25753" y="1065817"/>
                    <a:pt x="16838" y="1062124"/>
                    <a:pt x="10265" y="1055552"/>
                  </a:cubicBezTo>
                  <a:cubicBezTo>
                    <a:pt x="3693" y="1048979"/>
                    <a:pt x="0" y="1040064"/>
                    <a:pt x="0" y="1030769"/>
                  </a:cubicBezTo>
                  <a:lnTo>
                    <a:pt x="0" y="35048"/>
                  </a:lnTo>
                  <a:cubicBezTo>
                    <a:pt x="0" y="25753"/>
                    <a:pt x="3693" y="16838"/>
                    <a:pt x="10265" y="10265"/>
                  </a:cubicBezTo>
                  <a:cubicBezTo>
                    <a:pt x="16838" y="3693"/>
                    <a:pt x="25753" y="0"/>
                    <a:pt x="35048" y="0"/>
                  </a:cubicBezTo>
                  <a:close/>
                </a:path>
              </a:pathLst>
            </a:custGeom>
            <a:solidFill>
              <a:srgbClr val="FFFFFF"/>
            </a:solidFill>
            <a:ln w="38100" cap="rnd">
              <a:solidFill>
                <a:srgbClr val="FCE1B1"/>
              </a:solidFill>
              <a:prstDash val="solid"/>
              <a:round/>
            </a:ln>
          </p:spPr>
        </p:sp>
        <p:sp>
          <p:nvSpPr>
            <p:cNvPr name="TextBox 21" id="21"/>
            <p:cNvSpPr txBox="true"/>
            <p:nvPr/>
          </p:nvSpPr>
          <p:spPr>
            <a:xfrm>
              <a:off x="0" y="19050"/>
              <a:ext cx="4072446" cy="1046767"/>
            </a:xfrm>
            <a:prstGeom prst="rect">
              <a:avLst/>
            </a:prstGeom>
          </p:spPr>
          <p:txBody>
            <a:bodyPr anchor="ctr" rtlCol="false" tIns="50800" lIns="50800" bIns="50800" rIns="50800"/>
            <a:lstStyle/>
            <a:p>
              <a:pPr algn="ctr">
                <a:lnSpc>
                  <a:spcPts val="2694"/>
                </a:lnSpc>
              </a:pPr>
            </a:p>
          </p:txBody>
        </p:sp>
      </p:grpSp>
      <p:sp>
        <p:nvSpPr>
          <p:cNvPr name="Freeform 22" id="22"/>
          <p:cNvSpPr/>
          <p:nvPr/>
        </p:nvSpPr>
        <p:spPr>
          <a:xfrm flipH="false" flipV="false" rot="419754">
            <a:off x="14054354" y="7137632"/>
            <a:ext cx="1822320" cy="1822320"/>
          </a:xfrm>
          <a:custGeom>
            <a:avLst/>
            <a:gdLst/>
            <a:ahLst/>
            <a:cxnLst/>
            <a:rect r="r" b="b" t="t" l="l"/>
            <a:pathLst>
              <a:path h="1822320" w="1822320">
                <a:moveTo>
                  <a:pt x="0" y="0"/>
                </a:moveTo>
                <a:lnTo>
                  <a:pt x="1822320" y="0"/>
                </a:lnTo>
                <a:lnTo>
                  <a:pt x="1822320" y="1822320"/>
                </a:lnTo>
                <a:lnTo>
                  <a:pt x="0" y="1822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547187" y="4895096"/>
            <a:ext cx="17857443" cy="2803525"/>
          </a:xfrm>
          <a:prstGeom prst="rect">
            <a:avLst/>
          </a:prstGeom>
        </p:spPr>
        <p:txBody>
          <a:bodyPr anchor="t" rtlCol="false" tIns="0" lIns="0" bIns="0" rIns="0">
            <a:spAutoFit/>
          </a:bodyPr>
          <a:lstStyle/>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วุฒิชัย หลักเพชร- Concept + Short Code Illustration</a:t>
            </a:r>
          </a:p>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ศุภิสรา สอนดี - Detailed Code + Live Demo</a:t>
            </a:r>
          </a:p>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จารุเดช พินิตศักดา - Rust vs Other Language + PPL Analysis</a:t>
            </a:r>
          </a:p>
          <a:p>
            <a:pPr algn="l" marL="863599" indent="-431800" lvl="1">
              <a:lnSpc>
                <a:spcPts val="5599"/>
              </a:lnSpc>
              <a:buAutoNum type="arabicPeriod" startAt="1"/>
            </a:pPr>
            <a:r>
              <a:rPr lang="en-US" sz="3999">
                <a:solidFill>
                  <a:srgbClr val="000000"/>
                </a:solidFill>
                <a:latin typeface="ไอติม"/>
                <a:ea typeface="ไอติม"/>
                <a:cs typeface="ไอติม"/>
                <a:sym typeface="ไอติม"/>
              </a:rPr>
              <a:t>ชัชชา เภาเสน - Exercises + Common Mistakes + Challenge</a:t>
            </a:r>
          </a:p>
        </p:txBody>
      </p:sp>
      <p:sp>
        <p:nvSpPr>
          <p:cNvPr name="TextBox 24" id="24"/>
          <p:cNvSpPr txBox="true"/>
          <p:nvPr/>
        </p:nvSpPr>
        <p:spPr>
          <a:xfrm rot="0">
            <a:off x="547187" y="219407"/>
            <a:ext cx="16020675" cy="896620"/>
          </a:xfrm>
          <a:prstGeom prst="rect">
            <a:avLst/>
          </a:prstGeom>
        </p:spPr>
        <p:txBody>
          <a:bodyPr anchor="t" rtlCol="false" tIns="0" lIns="0" bIns="0" rIns="0">
            <a:spAutoFit/>
          </a:bodyPr>
          <a:lstStyle/>
          <a:p>
            <a:pPr algn="l">
              <a:lnSpc>
                <a:spcPts val="7279"/>
              </a:lnSpc>
            </a:pPr>
            <a:r>
              <a:rPr lang="en-US" sz="5199">
                <a:solidFill>
                  <a:srgbClr val="000000"/>
                </a:solidFill>
                <a:latin typeface="ไอติม"/>
                <a:ea typeface="ไอติม"/>
                <a:cs typeface="ไอติม"/>
                <a:sym typeface="ไอติม"/>
              </a:rPr>
              <a:t>517321 PRINCIPLES OF PROGRAMMING LANGUAGES</a:t>
            </a:r>
          </a:p>
        </p:txBody>
      </p:sp>
      <p:sp>
        <p:nvSpPr>
          <p:cNvPr name="TextBox 25" id="25"/>
          <p:cNvSpPr txBox="true"/>
          <p:nvPr/>
        </p:nvSpPr>
        <p:spPr>
          <a:xfrm rot="0">
            <a:off x="547187" y="1144602"/>
            <a:ext cx="6495239" cy="501650"/>
          </a:xfrm>
          <a:prstGeom prst="rect">
            <a:avLst/>
          </a:prstGeom>
        </p:spPr>
        <p:txBody>
          <a:bodyPr anchor="t" rtlCol="false" tIns="0" lIns="0" bIns="0" rIns="0">
            <a:spAutoFit/>
          </a:bodyPr>
          <a:lstStyle/>
          <a:p>
            <a:pPr algn="ctr">
              <a:lnSpc>
                <a:spcPts val="3850"/>
              </a:lnSpc>
              <a:spcBef>
                <a:spcPct val="0"/>
              </a:spcBef>
            </a:pPr>
            <a:r>
              <a:rPr lang="en-US" sz="3500">
                <a:solidFill>
                  <a:srgbClr val="000000"/>
                </a:solidFill>
                <a:latin typeface="ไอติม"/>
                <a:ea typeface="ไอติม"/>
                <a:cs typeface="ไอติม"/>
                <a:sym typeface="ไอติม"/>
              </a:rPr>
              <a:t>RUST TUTORIAL PRESENTATION</a:t>
            </a:r>
          </a:p>
        </p:txBody>
      </p:sp>
      <p:sp>
        <p:nvSpPr>
          <p:cNvPr name="TextBox 26" id="26"/>
          <p:cNvSpPr txBox="true"/>
          <p:nvPr/>
        </p:nvSpPr>
        <p:spPr>
          <a:xfrm rot="0">
            <a:off x="0" y="9554541"/>
            <a:ext cx="10763660" cy="641350"/>
          </a:xfrm>
          <a:prstGeom prst="rect">
            <a:avLst/>
          </a:prstGeom>
        </p:spPr>
        <p:txBody>
          <a:bodyPr anchor="t" rtlCol="false" tIns="0" lIns="0" bIns="0" rIns="0">
            <a:spAutoFit/>
          </a:bodyPr>
          <a:lstStyle/>
          <a:p>
            <a:pPr algn="ctr">
              <a:lnSpc>
                <a:spcPts val="4399"/>
              </a:lnSpc>
              <a:spcBef>
                <a:spcPct val="0"/>
              </a:spcBef>
            </a:pPr>
            <a:r>
              <a:rPr lang="en-US" sz="3999">
                <a:solidFill>
                  <a:srgbClr val="000000"/>
                </a:solidFill>
                <a:latin typeface="Amiko TH"/>
                <a:ea typeface="Amiko TH"/>
                <a:cs typeface="Amiko TH"/>
                <a:sym typeface="Amiko TH"/>
              </a:rPr>
              <a:t>คณะวิทยาศาสตร์ มหาวิทยาลัยศิลปากร | ภาคการศึกษาที่ 1/2569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23677" y="1098533"/>
            <a:ext cx="12776568" cy="1249168"/>
            <a:chOff x="0" y="0"/>
            <a:chExt cx="3615750" cy="353513"/>
          </a:xfrm>
        </p:grpSpPr>
        <p:sp>
          <p:nvSpPr>
            <p:cNvPr name="Freeform 3" id="3"/>
            <p:cNvSpPr/>
            <p:nvPr/>
          </p:nvSpPr>
          <p:spPr>
            <a:xfrm flipH="false" flipV="false" rot="0">
              <a:off x="0" y="0"/>
              <a:ext cx="3615750" cy="353513"/>
            </a:xfrm>
            <a:custGeom>
              <a:avLst/>
              <a:gdLst/>
              <a:ahLst/>
              <a:cxnLst/>
              <a:rect r="r" b="b" t="t" l="l"/>
              <a:pathLst>
                <a:path h="353513" w="3615750">
                  <a:moveTo>
                    <a:pt x="60595" y="0"/>
                  </a:moveTo>
                  <a:lnTo>
                    <a:pt x="3555155" y="0"/>
                  </a:lnTo>
                  <a:cubicBezTo>
                    <a:pt x="3571226" y="0"/>
                    <a:pt x="3586639" y="6384"/>
                    <a:pt x="3598002" y="17748"/>
                  </a:cubicBezTo>
                  <a:cubicBezTo>
                    <a:pt x="3609366" y="29111"/>
                    <a:pt x="3615750" y="44524"/>
                    <a:pt x="3615750" y="60595"/>
                  </a:cubicBezTo>
                  <a:lnTo>
                    <a:pt x="3615750" y="292918"/>
                  </a:lnTo>
                  <a:cubicBezTo>
                    <a:pt x="3615750" y="308989"/>
                    <a:pt x="3609366" y="324401"/>
                    <a:pt x="3598002" y="335765"/>
                  </a:cubicBezTo>
                  <a:cubicBezTo>
                    <a:pt x="3586639" y="347129"/>
                    <a:pt x="3571226" y="353513"/>
                    <a:pt x="3555155" y="353513"/>
                  </a:cubicBezTo>
                  <a:lnTo>
                    <a:pt x="60595" y="353513"/>
                  </a:lnTo>
                  <a:cubicBezTo>
                    <a:pt x="44524" y="353513"/>
                    <a:pt x="29111" y="347129"/>
                    <a:pt x="17748" y="335765"/>
                  </a:cubicBezTo>
                  <a:cubicBezTo>
                    <a:pt x="6384" y="324401"/>
                    <a:pt x="0" y="308989"/>
                    <a:pt x="0" y="292918"/>
                  </a:cubicBezTo>
                  <a:lnTo>
                    <a:pt x="0" y="60595"/>
                  </a:lnTo>
                  <a:cubicBezTo>
                    <a:pt x="0" y="44524"/>
                    <a:pt x="6384" y="29111"/>
                    <a:pt x="17748" y="17748"/>
                  </a:cubicBezTo>
                  <a:cubicBezTo>
                    <a:pt x="29111" y="6384"/>
                    <a:pt x="44524" y="0"/>
                    <a:pt x="60595"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3615750" cy="334463"/>
            </a:xfrm>
            <a:prstGeom prst="rect">
              <a:avLst/>
            </a:prstGeom>
          </p:spPr>
          <p:txBody>
            <a:bodyPr anchor="ctr" rtlCol="false" tIns="50800" lIns="50800" bIns="50800" rIns="50800"/>
            <a:lstStyle/>
            <a:p>
              <a:pPr algn="ctr">
                <a:lnSpc>
                  <a:spcPts val="2694"/>
                </a:lnSpc>
              </a:pPr>
            </a:p>
          </p:txBody>
        </p:sp>
      </p:grpSp>
      <p:sp>
        <p:nvSpPr>
          <p:cNvPr name="Freeform 5" id="5"/>
          <p:cNvSpPr/>
          <p:nvPr/>
        </p:nvSpPr>
        <p:spPr>
          <a:xfrm flipH="false" flipV="false" rot="-669913">
            <a:off x="1552264" y="350457"/>
            <a:ext cx="1178430" cy="1178430"/>
          </a:xfrm>
          <a:custGeom>
            <a:avLst/>
            <a:gdLst/>
            <a:ahLst/>
            <a:cxnLst/>
            <a:rect r="r" b="b" t="t" l="l"/>
            <a:pathLst>
              <a:path h="1178430" w="1178430">
                <a:moveTo>
                  <a:pt x="0" y="0"/>
                </a:moveTo>
                <a:lnTo>
                  <a:pt x="1178430" y="0"/>
                </a:lnTo>
                <a:lnTo>
                  <a:pt x="1178430" y="1178431"/>
                </a:lnTo>
                <a:lnTo>
                  <a:pt x="0" y="11784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83902">
            <a:off x="12968348" y="1925106"/>
            <a:ext cx="974502" cy="974502"/>
          </a:xfrm>
          <a:custGeom>
            <a:avLst/>
            <a:gdLst/>
            <a:ahLst/>
            <a:cxnLst/>
            <a:rect r="r" b="b" t="t" l="l"/>
            <a:pathLst>
              <a:path h="974502" w="974502">
                <a:moveTo>
                  <a:pt x="0" y="0"/>
                </a:moveTo>
                <a:lnTo>
                  <a:pt x="974502" y="0"/>
                </a:lnTo>
                <a:lnTo>
                  <a:pt x="974502" y="974502"/>
                </a:lnTo>
                <a:lnTo>
                  <a:pt x="0" y="9745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23677" y="1452374"/>
            <a:ext cx="12776568" cy="623018"/>
          </a:xfrm>
          <a:prstGeom prst="rect">
            <a:avLst/>
          </a:prstGeom>
        </p:spPr>
        <p:txBody>
          <a:bodyPr anchor="t" rtlCol="false" tIns="0" lIns="0" bIns="0" rIns="0">
            <a:spAutoFit/>
          </a:bodyPr>
          <a:lstStyle/>
          <a:p>
            <a:pPr algn="ctr" marL="0" indent="0" lvl="0">
              <a:lnSpc>
                <a:spcPts val="4653"/>
              </a:lnSpc>
              <a:spcBef>
                <a:spcPct val="0"/>
              </a:spcBef>
            </a:pPr>
            <a:r>
              <a:rPr lang="en-US" sz="4653">
                <a:solidFill>
                  <a:srgbClr val="000000"/>
                </a:solidFill>
                <a:latin typeface="ไอติม"/>
                <a:ea typeface="ไอติม"/>
                <a:cs typeface="ไอติม"/>
                <a:sym typeface="ไอติม"/>
              </a:rPr>
              <a:t>Agenga - โครงสร้างการนำเสนอ(รวม ~ 20 นาที)</a:t>
            </a:r>
          </a:p>
        </p:txBody>
      </p:sp>
      <p:grpSp>
        <p:nvGrpSpPr>
          <p:cNvPr name="Group 8" id="8"/>
          <p:cNvGrpSpPr/>
          <p:nvPr/>
        </p:nvGrpSpPr>
        <p:grpSpPr>
          <a:xfrm rot="0">
            <a:off x="13617344" y="3140702"/>
            <a:ext cx="3936023" cy="6309637"/>
            <a:chOff x="0" y="0"/>
            <a:chExt cx="1036648" cy="1661797"/>
          </a:xfrm>
        </p:grpSpPr>
        <p:sp>
          <p:nvSpPr>
            <p:cNvPr name="Freeform 9" id="9"/>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10" id="10"/>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4920591" y="4698628"/>
            <a:ext cx="1311620" cy="30289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4</a:t>
            </a:r>
          </a:p>
        </p:txBody>
      </p:sp>
      <p:sp>
        <p:nvSpPr>
          <p:cNvPr name="TextBox 12" id="12"/>
          <p:cNvSpPr txBox="true"/>
          <p:nvPr/>
        </p:nvSpPr>
        <p:spPr>
          <a:xfrm rot="0">
            <a:off x="13197496" y="5668273"/>
            <a:ext cx="4816577" cy="10414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EXER</a:t>
            </a:r>
            <a:r>
              <a:rPr lang="en-US" sz="2499">
                <a:solidFill>
                  <a:srgbClr val="000000"/>
                </a:solidFill>
                <a:latin typeface="ไอติม"/>
                <a:ea typeface="ไอติม"/>
                <a:cs typeface="ไอติม"/>
                <a:sym typeface="ไอติม"/>
              </a:rPr>
              <a:t>CISES + COMMON MISTAKES + CHALLENGE</a:t>
            </a:r>
          </a:p>
          <a:p>
            <a:pPr algn="ctr">
              <a:lnSpc>
                <a:spcPts val="2749"/>
              </a:lnSpc>
              <a:spcBef>
                <a:spcPct val="0"/>
              </a:spcBef>
            </a:pPr>
          </a:p>
        </p:txBody>
      </p:sp>
      <p:sp>
        <p:nvSpPr>
          <p:cNvPr name="TextBox 13" id="13"/>
          <p:cNvSpPr txBox="true"/>
          <p:nvPr/>
        </p:nvSpPr>
        <p:spPr>
          <a:xfrm rot="0">
            <a:off x="13957960" y="6921399"/>
            <a:ext cx="3295649" cy="10414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ข้อผิดพลาดที่พบบ่อย และโจทย์ท้าทายผู้ฟัง</a:t>
            </a:r>
          </a:p>
          <a:p>
            <a:pPr algn="ctr">
              <a:lnSpc>
                <a:spcPts val="2749"/>
              </a:lnSpc>
              <a:spcBef>
                <a:spcPct val="0"/>
              </a:spcBef>
            </a:pPr>
          </a:p>
        </p:txBody>
      </p:sp>
      <p:sp>
        <p:nvSpPr>
          <p:cNvPr name="TextBox 14" id="14"/>
          <p:cNvSpPr txBox="true"/>
          <p:nvPr/>
        </p:nvSpPr>
        <p:spPr>
          <a:xfrm rot="0">
            <a:off x="15081771" y="8879360"/>
            <a:ext cx="932111" cy="355600"/>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nvGrpSpPr>
          <p:cNvPr name="Group 15" id="15"/>
          <p:cNvGrpSpPr/>
          <p:nvPr/>
        </p:nvGrpSpPr>
        <p:grpSpPr>
          <a:xfrm rot="0">
            <a:off x="9261473" y="3120113"/>
            <a:ext cx="3936023" cy="6309637"/>
            <a:chOff x="0" y="0"/>
            <a:chExt cx="1036648" cy="1661797"/>
          </a:xfrm>
        </p:grpSpPr>
        <p:sp>
          <p:nvSpPr>
            <p:cNvPr name="Freeform 16" id="16"/>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17" id="17"/>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10581741" y="4698628"/>
            <a:ext cx="1295488" cy="30289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3</a:t>
            </a:r>
          </a:p>
        </p:txBody>
      </p:sp>
      <p:sp>
        <p:nvSpPr>
          <p:cNvPr name="TextBox 19" id="19"/>
          <p:cNvSpPr txBox="true"/>
          <p:nvPr/>
        </p:nvSpPr>
        <p:spPr>
          <a:xfrm rot="0">
            <a:off x="9571318" y="5592307"/>
            <a:ext cx="3396913" cy="13843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RUS</a:t>
            </a:r>
            <a:r>
              <a:rPr lang="en-US" sz="2499">
                <a:solidFill>
                  <a:srgbClr val="000000"/>
                </a:solidFill>
                <a:latin typeface="ไอติม"/>
                <a:ea typeface="ไอติม"/>
                <a:cs typeface="ไอติม"/>
                <a:sym typeface="ไอติม"/>
              </a:rPr>
              <a:t>T VS OTHER LANGUAGE + PPL ANALYSIS</a:t>
            </a:r>
          </a:p>
          <a:p>
            <a:pPr algn="ctr">
              <a:lnSpc>
                <a:spcPts val="2749"/>
              </a:lnSpc>
              <a:spcBef>
                <a:spcPct val="0"/>
              </a:spcBef>
            </a:pPr>
          </a:p>
        </p:txBody>
      </p:sp>
      <p:sp>
        <p:nvSpPr>
          <p:cNvPr name="TextBox 20" id="20"/>
          <p:cNvSpPr txBox="true"/>
          <p:nvPr/>
        </p:nvSpPr>
        <p:spPr>
          <a:xfrm rot="0">
            <a:off x="9315474" y="6921399"/>
            <a:ext cx="3828022" cy="1727200"/>
          </a:xfrm>
          <a:prstGeom prst="rect">
            <a:avLst/>
          </a:prstGeom>
        </p:spPr>
        <p:txBody>
          <a:bodyPr anchor="t" rtlCol="false" tIns="0" lIns="0" bIns="0" rIns="0">
            <a:spAutoFit/>
          </a:bodyPr>
          <a:lstStyle/>
          <a:p>
            <a:pPr algn="ctr">
              <a:lnSpc>
                <a:spcPts val="2749"/>
              </a:lnSpc>
            </a:pPr>
            <a:r>
              <a:rPr lang="en-US" sz="2499">
                <a:solidFill>
                  <a:srgbClr val="000000"/>
                </a:solidFill>
                <a:latin typeface="ไอติม"/>
                <a:ea typeface="ไอติม"/>
                <a:cs typeface="ไอติม"/>
                <a:sym typeface="ไอติม"/>
              </a:rPr>
              <a:t>เปรียบเทียบภาษา</a:t>
            </a:r>
          </a:p>
          <a:p>
            <a:pPr algn="ctr">
              <a:lnSpc>
                <a:spcPts val="2749"/>
              </a:lnSpc>
              <a:spcBef>
                <a:spcPct val="0"/>
              </a:spcBef>
            </a:pPr>
            <a:r>
              <a:rPr lang="en-US" sz="2499">
                <a:solidFill>
                  <a:srgbClr val="000000"/>
                </a:solidFill>
                <a:latin typeface="ไอติม"/>
                <a:ea typeface="ไอติม"/>
                <a:cs typeface="ไอติม"/>
                <a:sym typeface="ไอติม"/>
              </a:rPr>
              <a:t>และวิเคราะห์เชิง PROGRAMMING LANGUAGE</a:t>
            </a:r>
          </a:p>
          <a:p>
            <a:pPr algn="ctr">
              <a:lnSpc>
                <a:spcPts val="2749"/>
              </a:lnSpc>
              <a:spcBef>
                <a:spcPct val="0"/>
              </a:spcBef>
            </a:pPr>
          </a:p>
        </p:txBody>
      </p:sp>
      <p:sp>
        <p:nvSpPr>
          <p:cNvPr name="TextBox 21" id="21"/>
          <p:cNvSpPr txBox="true"/>
          <p:nvPr/>
        </p:nvSpPr>
        <p:spPr>
          <a:xfrm rot="0">
            <a:off x="10725901" y="8858770"/>
            <a:ext cx="932111" cy="355600"/>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nvGrpSpPr>
          <p:cNvPr name="Group 22" id="22"/>
          <p:cNvGrpSpPr/>
          <p:nvPr/>
        </p:nvGrpSpPr>
        <p:grpSpPr>
          <a:xfrm rot="0">
            <a:off x="4986181" y="3120113"/>
            <a:ext cx="3936023" cy="6309637"/>
            <a:chOff x="0" y="0"/>
            <a:chExt cx="1036648" cy="1661797"/>
          </a:xfrm>
        </p:grpSpPr>
        <p:sp>
          <p:nvSpPr>
            <p:cNvPr name="Freeform 23" id="23"/>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6305562" y="4698628"/>
            <a:ext cx="1279355" cy="30289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2</a:t>
            </a:r>
          </a:p>
        </p:txBody>
      </p:sp>
      <p:sp>
        <p:nvSpPr>
          <p:cNvPr name="TextBox 26" id="26"/>
          <p:cNvSpPr txBox="true"/>
          <p:nvPr/>
        </p:nvSpPr>
        <p:spPr>
          <a:xfrm rot="0">
            <a:off x="5455925" y="5668273"/>
            <a:ext cx="3032176" cy="10414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D</a:t>
            </a:r>
            <a:r>
              <a:rPr lang="en-US" sz="2499">
                <a:solidFill>
                  <a:srgbClr val="000000"/>
                </a:solidFill>
                <a:latin typeface="ไอติม"/>
                <a:ea typeface="ไอติม"/>
                <a:cs typeface="ไอติม"/>
                <a:sym typeface="ไอติม"/>
              </a:rPr>
              <a:t>ETAILED CODE + LIVE DEMO</a:t>
            </a:r>
          </a:p>
          <a:p>
            <a:pPr algn="ctr">
              <a:lnSpc>
                <a:spcPts val="2749"/>
              </a:lnSpc>
              <a:spcBef>
                <a:spcPct val="0"/>
              </a:spcBef>
            </a:pPr>
          </a:p>
        </p:txBody>
      </p:sp>
      <p:sp>
        <p:nvSpPr>
          <p:cNvPr name="TextBox 27" id="27"/>
          <p:cNvSpPr txBox="true"/>
          <p:nvPr/>
        </p:nvSpPr>
        <p:spPr>
          <a:xfrm rot="0">
            <a:off x="5324189" y="6921399"/>
            <a:ext cx="3295649" cy="6985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อธิบายโค้ดเชิงลึกและสาธิตการทำงานจริง</a:t>
            </a:r>
          </a:p>
        </p:txBody>
      </p:sp>
      <p:sp>
        <p:nvSpPr>
          <p:cNvPr name="TextBox 28" id="28"/>
          <p:cNvSpPr txBox="true"/>
          <p:nvPr/>
        </p:nvSpPr>
        <p:spPr>
          <a:xfrm rot="0">
            <a:off x="6450609" y="8858770"/>
            <a:ext cx="932111" cy="355600"/>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nvGrpSpPr>
          <p:cNvPr name="Group 29" id="29"/>
          <p:cNvGrpSpPr/>
          <p:nvPr/>
        </p:nvGrpSpPr>
        <p:grpSpPr>
          <a:xfrm rot="0">
            <a:off x="14981089" y="3471995"/>
            <a:ext cx="1190625" cy="1190625"/>
            <a:chOff x="0" y="0"/>
            <a:chExt cx="313580" cy="313580"/>
          </a:xfrm>
        </p:grpSpPr>
        <p:sp>
          <p:nvSpPr>
            <p:cNvPr name="Freeform 30" id="30"/>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E2A9F1"/>
            </a:solidFill>
            <a:ln w="38100" cap="rnd">
              <a:solidFill>
                <a:srgbClr val="000000"/>
              </a:solidFill>
              <a:prstDash val="solid"/>
              <a:round/>
            </a:ln>
          </p:spPr>
        </p:sp>
        <p:sp>
          <p:nvSpPr>
            <p:cNvPr name="TextBox 31" id="31"/>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04</a:t>
              </a:r>
            </a:p>
          </p:txBody>
        </p:sp>
      </p:grpSp>
      <p:grpSp>
        <p:nvGrpSpPr>
          <p:cNvPr name="Group 32" id="32"/>
          <p:cNvGrpSpPr/>
          <p:nvPr/>
        </p:nvGrpSpPr>
        <p:grpSpPr>
          <a:xfrm rot="0">
            <a:off x="10627408" y="3452945"/>
            <a:ext cx="1190625" cy="1190625"/>
            <a:chOff x="0" y="0"/>
            <a:chExt cx="313580" cy="313580"/>
          </a:xfrm>
        </p:grpSpPr>
        <p:sp>
          <p:nvSpPr>
            <p:cNvPr name="Freeform 33" id="33"/>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83C7FF"/>
            </a:solidFill>
            <a:ln w="38100" cap="rnd">
              <a:solidFill>
                <a:srgbClr val="000000"/>
              </a:solidFill>
              <a:prstDash val="solid"/>
              <a:round/>
            </a:ln>
          </p:spPr>
        </p:sp>
        <p:sp>
          <p:nvSpPr>
            <p:cNvPr name="TextBox 34" id="34"/>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03</a:t>
              </a:r>
            </a:p>
          </p:txBody>
        </p:sp>
      </p:grpSp>
      <p:grpSp>
        <p:nvGrpSpPr>
          <p:cNvPr name="Group 35" id="35"/>
          <p:cNvGrpSpPr/>
          <p:nvPr/>
        </p:nvGrpSpPr>
        <p:grpSpPr>
          <a:xfrm rot="0">
            <a:off x="6349927" y="3452945"/>
            <a:ext cx="1190625" cy="1190625"/>
            <a:chOff x="0" y="0"/>
            <a:chExt cx="313580" cy="313580"/>
          </a:xfrm>
        </p:grpSpPr>
        <p:sp>
          <p:nvSpPr>
            <p:cNvPr name="Freeform 36" id="36"/>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89C471"/>
            </a:solidFill>
            <a:ln w="38100" cap="rnd">
              <a:solidFill>
                <a:srgbClr val="000000"/>
              </a:solidFill>
              <a:prstDash val="solid"/>
              <a:round/>
            </a:ln>
          </p:spPr>
        </p:sp>
        <p:sp>
          <p:nvSpPr>
            <p:cNvPr name="TextBox 37" id="37"/>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02</a:t>
              </a:r>
            </a:p>
          </p:txBody>
        </p:sp>
      </p:grpSp>
      <p:sp>
        <p:nvSpPr>
          <p:cNvPr name="TextBox 38" id="38"/>
          <p:cNvSpPr txBox="true"/>
          <p:nvPr/>
        </p:nvSpPr>
        <p:spPr>
          <a:xfrm rot="0">
            <a:off x="1028700" y="2431407"/>
            <a:ext cx="6959352" cy="375920"/>
          </a:xfrm>
          <a:prstGeom prst="rect">
            <a:avLst/>
          </a:prstGeom>
        </p:spPr>
        <p:txBody>
          <a:bodyPr anchor="t" rtlCol="false" tIns="0" lIns="0" bIns="0" rIns="0">
            <a:spAutoFit/>
          </a:bodyPr>
          <a:lstStyle/>
          <a:p>
            <a:pPr algn="ctr">
              <a:lnSpc>
                <a:spcPts val="2860"/>
              </a:lnSpc>
              <a:spcBef>
                <a:spcPct val="0"/>
              </a:spcBef>
            </a:pPr>
            <a:r>
              <a:rPr lang="en-US" sz="2600">
                <a:solidFill>
                  <a:srgbClr val="000000"/>
                </a:solidFill>
                <a:latin typeface="ไอติม"/>
                <a:ea typeface="ไอติม"/>
                <a:cs typeface="ไอติม"/>
                <a:sym typeface="ไอติม"/>
              </a:rPr>
              <a:t>แต่ละคนนำเสนอประมาณ 5 นาที ต่อเนื่องกันตามลำดับ</a:t>
            </a:r>
          </a:p>
        </p:txBody>
      </p:sp>
      <p:grpSp>
        <p:nvGrpSpPr>
          <p:cNvPr name="Group 39" id="39"/>
          <p:cNvGrpSpPr/>
          <p:nvPr/>
        </p:nvGrpSpPr>
        <p:grpSpPr>
          <a:xfrm rot="0">
            <a:off x="662963" y="3120113"/>
            <a:ext cx="3936023" cy="6309637"/>
            <a:chOff x="0" y="0"/>
            <a:chExt cx="5248031" cy="8412849"/>
          </a:xfrm>
        </p:grpSpPr>
        <p:grpSp>
          <p:nvGrpSpPr>
            <p:cNvPr name="Group 40" id="40"/>
            <p:cNvGrpSpPr/>
            <p:nvPr/>
          </p:nvGrpSpPr>
          <p:grpSpPr>
            <a:xfrm rot="0">
              <a:off x="0" y="0"/>
              <a:ext cx="5248031" cy="8412849"/>
              <a:chOff x="0" y="0"/>
              <a:chExt cx="1036648" cy="1661797"/>
            </a:xfrm>
          </p:grpSpPr>
          <p:sp>
            <p:nvSpPr>
              <p:cNvPr name="Freeform 41" id="41"/>
              <p:cNvSpPr/>
              <p:nvPr/>
            </p:nvSpPr>
            <p:spPr>
              <a:xfrm flipH="false" flipV="false" rot="0">
                <a:off x="0" y="0"/>
                <a:ext cx="1036648" cy="1661797"/>
              </a:xfrm>
              <a:custGeom>
                <a:avLst/>
                <a:gdLst/>
                <a:ahLst/>
                <a:cxnLst/>
                <a:rect r="r" b="b" t="t" l="l"/>
                <a:pathLst>
                  <a:path h="1661797" w="1036648">
                    <a:moveTo>
                      <a:pt x="137686" y="0"/>
                    </a:moveTo>
                    <a:lnTo>
                      <a:pt x="898962" y="0"/>
                    </a:lnTo>
                    <a:cubicBezTo>
                      <a:pt x="975004" y="0"/>
                      <a:pt x="1036648" y="61644"/>
                      <a:pt x="1036648" y="137686"/>
                    </a:cubicBezTo>
                    <a:lnTo>
                      <a:pt x="1036648" y="1524112"/>
                    </a:lnTo>
                    <a:cubicBezTo>
                      <a:pt x="1036648" y="1560628"/>
                      <a:pt x="1022142" y="1595649"/>
                      <a:pt x="996321" y="1621470"/>
                    </a:cubicBezTo>
                    <a:cubicBezTo>
                      <a:pt x="970500" y="1647291"/>
                      <a:pt x="935479" y="1661797"/>
                      <a:pt x="898962" y="1661797"/>
                    </a:cubicBezTo>
                    <a:lnTo>
                      <a:pt x="137686" y="1661797"/>
                    </a:lnTo>
                    <a:cubicBezTo>
                      <a:pt x="101169" y="1661797"/>
                      <a:pt x="66148" y="1647291"/>
                      <a:pt x="40327" y="1621470"/>
                    </a:cubicBezTo>
                    <a:cubicBezTo>
                      <a:pt x="14506" y="1595649"/>
                      <a:pt x="0" y="1560628"/>
                      <a:pt x="0" y="1524112"/>
                    </a:cubicBezTo>
                    <a:lnTo>
                      <a:pt x="0" y="137686"/>
                    </a:lnTo>
                    <a:cubicBezTo>
                      <a:pt x="0" y="101169"/>
                      <a:pt x="14506" y="66148"/>
                      <a:pt x="40327" y="40327"/>
                    </a:cubicBezTo>
                    <a:cubicBezTo>
                      <a:pt x="66148" y="14506"/>
                      <a:pt x="101169" y="0"/>
                      <a:pt x="137686" y="0"/>
                    </a:cubicBezTo>
                    <a:close/>
                  </a:path>
                </a:pathLst>
              </a:custGeom>
              <a:solidFill>
                <a:srgbClr val="FFFFFF"/>
              </a:solidFill>
              <a:ln w="38100" cap="rnd">
                <a:solidFill>
                  <a:srgbClr val="FCE1B1"/>
                </a:solidFill>
                <a:prstDash val="solid"/>
                <a:round/>
              </a:ln>
            </p:spPr>
          </p:sp>
          <p:sp>
            <p:nvSpPr>
              <p:cNvPr name="TextBox 42" id="42"/>
              <p:cNvSpPr txBox="true"/>
              <p:nvPr/>
            </p:nvSpPr>
            <p:spPr>
              <a:xfrm>
                <a:off x="0" y="19050"/>
                <a:ext cx="1036648" cy="1642747"/>
              </a:xfrm>
              <a:prstGeom prst="rect">
                <a:avLst/>
              </a:prstGeom>
            </p:spPr>
            <p:txBody>
              <a:bodyPr anchor="ctr" rtlCol="false" tIns="50800" lIns="50800" bIns="50800" rIns="50800"/>
              <a:lstStyle/>
              <a:p>
                <a:pPr algn="ctr">
                  <a:lnSpc>
                    <a:spcPts val="2694"/>
                  </a:lnSpc>
                </a:pPr>
              </a:p>
            </p:txBody>
          </p:sp>
        </p:grpSp>
        <p:grpSp>
          <p:nvGrpSpPr>
            <p:cNvPr name="Group 43" id="43"/>
            <p:cNvGrpSpPr/>
            <p:nvPr/>
          </p:nvGrpSpPr>
          <p:grpSpPr>
            <a:xfrm rot="0">
              <a:off x="1817565" y="443776"/>
              <a:ext cx="1587500" cy="1587500"/>
              <a:chOff x="0" y="0"/>
              <a:chExt cx="313580" cy="313580"/>
            </a:xfrm>
          </p:grpSpPr>
          <p:sp>
            <p:nvSpPr>
              <p:cNvPr name="Freeform 44" id="44"/>
              <p:cNvSpPr/>
              <p:nvPr/>
            </p:nvSpPr>
            <p:spPr>
              <a:xfrm flipH="false" flipV="false" rot="0">
                <a:off x="0" y="0"/>
                <a:ext cx="313580" cy="313580"/>
              </a:xfrm>
              <a:custGeom>
                <a:avLst/>
                <a:gdLst/>
                <a:ahLst/>
                <a:cxnLst/>
                <a:rect r="r" b="b" t="t" l="l"/>
                <a:pathLst>
                  <a:path h="313580" w="313580">
                    <a:moveTo>
                      <a:pt x="156790" y="0"/>
                    </a:moveTo>
                    <a:lnTo>
                      <a:pt x="156790" y="0"/>
                    </a:lnTo>
                    <a:cubicBezTo>
                      <a:pt x="198373" y="0"/>
                      <a:pt x="238254" y="16519"/>
                      <a:pt x="267657" y="45923"/>
                    </a:cubicBezTo>
                    <a:cubicBezTo>
                      <a:pt x="297061" y="75327"/>
                      <a:pt x="313580" y="115207"/>
                      <a:pt x="313580" y="156790"/>
                    </a:cubicBezTo>
                    <a:lnTo>
                      <a:pt x="313580" y="156790"/>
                    </a:lnTo>
                    <a:cubicBezTo>
                      <a:pt x="313580" y="198373"/>
                      <a:pt x="297061" y="238254"/>
                      <a:pt x="267657" y="267657"/>
                    </a:cubicBezTo>
                    <a:cubicBezTo>
                      <a:pt x="238254" y="297061"/>
                      <a:pt x="198373" y="313580"/>
                      <a:pt x="156790" y="313580"/>
                    </a:cubicBezTo>
                    <a:lnTo>
                      <a:pt x="156790" y="313580"/>
                    </a:lnTo>
                    <a:cubicBezTo>
                      <a:pt x="115207" y="313580"/>
                      <a:pt x="75327" y="297061"/>
                      <a:pt x="45923" y="267657"/>
                    </a:cubicBezTo>
                    <a:cubicBezTo>
                      <a:pt x="16519" y="238254"/>
                      <a:pt x="0" y="198373"/>
                      <a:pt x="0" y="156790"/>
                    </a:cubicBezTo>
                    <a:lnTo>
                      <a:pt x="0" y="156790"/>
                    </a:lnTo>
                    <a:cubicBezTo>
                      <a:pt x="0" y="115207"/>
                      <a:pt x="16519" y="75327"/>
                      <a:pt x="45923" y="45923"/>
                    </a:cubicBezTo>
                    <a:cubicBezTo>
                      <a:pt x="75327" y="16519"/>
                      <a:pt x="115207" y="0"/>
                      <a:pt x="156790" y="0"/>
                    </a:cubicBezTo>
                    <a:close/>
                  </a:path>
                </a:pathLst>
              </a:custGeom>
              <a:solidFill>
                <a:srgbClr val="F6BD3B"/>
              </a:solidFill>
              <a:ln w="38100" cap="rnd">
                <a:solidFill>
                  <a:srgbClr val="000000"/>
                </a:solidFill>
                <a:prstDash val="solid"/>
                <a:round/>
              </a:ln>
            </p:spPr>
          </p:sp>
          <p:sp>
            <p:nvSpPr>
              <p:cNvPr name="TextBox 45" id="45"/>
              <p:cNvSpPr txBox="true"/>
              <p:nvPr/>
            </p:nvSpPr>
            <p:spPr>
              <a:xfrm>
                <a:off x="0" y="28575"/>
                <a:ext cx="313580" cy="285005"/>
              </a:xfrm>
              <a:prstGeom prst="rect">
                <a:avLst/>
              </a:prstGeom>
            </p:spPr>
            <p:txBody>
              <a:bodyPr anchor="ctr" rtlCol="false" tIns="50800" lIns="50800" bIns="50800" rIns="50800"/>
              <a:lstStyle/>
              <a:p>
                <a:pPr algn="ctr">
                  <a:lnSpc>
                    <a:spcPts val="4950"/>
                  </a:lnSpc>
                </a:pPr>
                <a:r>
                  <a:rPr lang="en-US" b="true" sz="4500">
                    <a:solidFill>
                      <a:srgbClr val="000000"/>
                    </a:solidFill>
                    <a:latin typeface="Aristotelica Pro Condensed Bold"/>
                    <a:ea typeface="Aristotelica Pro Condensed Bold"/>
                    <a:cs typeface="Aristotelica Pro Condensed Bold"/>
                    <a:sym typeface="Aristotelica Pro Condensed Bold"/>
                  </a:rPr>
                  <a:t>01</a:t>
                </a:r>
              </a:p>
            </p:txBody>
          </p:sp>
        </p:grpSp>
        <p:sp>
          <p:nvSpPr>
            <p:cNvPr name="TextBox 46" id="46"/>
            <p:cNvSpPr txBox="true"/>
            <p:nvPr/>
          </p:nvSpPr>
          <p:spPr>
            <a:xfrm rot="0">
              <a:off x="1824411" y="2101512"/>
              <a:ext cx="1641277" cy="407035"/>
            </a:xfrm>
            <a:prstGeom prst="rect">
              <a:avLst/>
            </a:prstGeom>
          </p:spPr>
          <p:txBody>
            <a:bodyPr anchor="t" rtlCol="false" tIns="0" lIns="0" bIns="0" rIns="0">
              <a:spAutoFit/>
            </a:bodyPr>
            <a:lstStyle/>
            <a:p>
              <a:pPr algn="ctr">
                <a:lnSpc>
                  <a:spcPts val="2310"/>
                </a:lnSpc>
                <a:spcBef>
                  <a:spcPct val="0"/>
                </a:spcBef>
              </a:pPr>
              <a:r>
                <a:rPr lang="en-US" sz="2100">
                  <a:solidFill>
                    <a:srgbClr val="145DA0"/>
                  </a:solidFill>
                  <a:latin typeface="ไอติม"/>
                  <a:ea typeface="ไอติม"/>
                  <a:cs typeface="ไอติม"/>
                  <a:sym typeface="ไอติม"/>
                </a:rPr>
                <a:t>MEMBER 1</a:t>
              </a:r>
            </a:p>
          </p:txBody>
        </p:sp>
        <p:sp>
          <p:nvSpPr>
            <p:cNvPr name="TextBox 47" id="47"/>
            <p:cNvSpPr txBox="true"/>
            <p:nvPr/>
          </p:nvSpPr>
          <p:spPr>
            <a:xfrm rot="0">
              <a:off x="450676" y="5062031"/>
              <a:ext cx="4394198" cy="937683"/>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แนวคิดหลักของหัวข้อ พร้อมโค้ดตัวอย่างสั้น ๆ</a:t>
              </a:r>
            </a:p>
          </p:txBody>
        </p:sp>
        <p:sp>
          <p:nvSpPr>
            <p:cNvPr name="TextBox 48" id="48"/>
            <p:cNvSpPr txBox="true"/>
            <p:nvPr/>
          </p:nvSpPr>
          <p:spPr>
            <a:xfrm rot="0">
              <a:off x="1952570" y="7645193"/>
              <a:ext cx="1242814" cy="480483"/>
            </a:xfrm>
            <a:prstGeom prst="rect">
              <a:avLst/>
            </a:prstGeom>
          </p:spPr>
          <p:txBody>
            <a:bodyPr anchor="t" rtlCol="false" tIns="0" lIns="0" bIns="0" rIns="0">
              <a:spAutoFit/>
            </a:bodyPr>
            <a:lstStyle/>
            <a:p>
              <a:pPr algn="ctr">
                <a:lnSpc>
                  <a:spcPts val="2749"/>
                </a:lnSpc>
                <a:spcBef>
                  <a:spcPct val="0"/>
                </a:spcBef>
              </a:pPr>
              <a:r>
                <a:rPr lang="en-US" sz="2499">
                  <a:solidFill>
                    <a:srgbClr val="327EBD"/>
                  </a:solidFill>
                  <a:latin typeface="ไอติม"/>
                  <a:ea typeface="ไอติม"/>
                  <a:cs typeface="ไอติม"/>
                  <a:sym typeface="ไอติม"/>
                </a:rPr>
                <a:t>~5 นาที</a:t>
              </a:r>
            </a:p>
          </p:txBody>
        </p:sp>
      </p:grpSp>
      <p:sp>
        <p:nvSpPr>
          <p:cNvPr name="TextBox 49" id="49"/>
          <p:cNvSpPr txBox="true"/>
          <p:nvPr/>
        </p:nvSpPr>
        <p:spPr>
          <a:xfrm rot="0">
            <a:off x="185157" y="5693047"/>
            <a:ext cx="4816577" cy="698500"/>
          </a:xfrm>
          <a:prstGeom prst="rect">
            <a:avLst/>
          </a:prstGeom>
        </p:spPr>
        <p:txBody>
          <a:bodyPr anchor="t" rtlCol="false" tIns="0" lIns="0" bIns="0" rIns="0">
            <a:spAutoFit/>
          </a:bodyPr>
          <a:lstStyle/>
          <a:p>
            <a:pPr algn="ctr">
              <a:lnSpc>
                <a:spcPts val="2749"/>
              </a:lnSpc>
              <a:spcBef>
                <a:spcPct val="0"/>
              </a:spcBef>
            </a:pPr>
            <a:r>
              <a:rPr lang="en-US" sz="2499">
                <a:solidFill>
                  <a:srgbClr val="000000"/>
                </a:solidFill>
                <a:latin typeface="ไอติม"/>
                <a:ea typeface="ไอติม"/>
                <a:cs typeface="ไอติม"/>
                <a:sym typeface="ไอติม"/>
              </a:rPr>
              <a:t>CONCEPT + SHORT CODE ILLUSTRATION</a:t>
            </a:r>
          </a:p>
        </p:txBody>
      </p:sp>
      <p:sp>
        <p:nvSpPr>
          <p:cNvPr name="TextBox 50" id="50"/>
          <p:cNvSpPr txBox="true"/>
          <p:nvPr/>
        </p:nvSpPr>
        <p:spPr>
          <a:xfrm rot="0">
            <a:off x="15420" y="9658350"/>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10219" y="2093389"/>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747336" y="3669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3542" y="4333828"/>
            <a:ext cx="10072762" cy="4720524"/>
          </a:xfrm>
          <a:prstGeom prst="rect">
            <a:avLst/>
          </a:prstGeom>
        </p:spPr>
        <p:txBody>
          <a:bodyPr anchor="t" rtlCol="false" tIns="0" lIns="0" bIns="0" rIns="0">
            <a:spAutoFit/>
          </a:bodyPr>
          <a:lstStyle/>
          <a:p>
            <a:pPr algn="l" marL="0" indent="0" lvl="0">
              <a:lnSpc>
                <a:spcPts val="12488"/>
              </a:lnSpc>
            </a:pPr>
            <a:r>
              <a:rPr lang="en-US" sz="9756">
                <a:solidFill>
                  <a:srgbClr val="E74724"/>
                </a:solidFill>
                <a:latin typeface="ไอติม"/>
                <a:ea typeface="ไอติม"/>
                <a:cs typeface="ไอติม"/>
                <a:sym typeface="ไอติม"/>
              </a:rPr>
              <a:t>CONC</a:t>
            </a:r>
            <a:r>
              <a:rPr lang="en-US" sz="9756">
                <a:solidFill>
                  <a:srgbClr val="E74724"/>
                </a:solidFill>
                <a:latin typeface="ไอติม"/>
                <a:ea typeface="ไอติม"/>
                <a:cs typeface="ไอติม"/>
                <a:sym typeface="ไอติม"/>
              </a:rPr>
              <a:t>EPT &amp; SHORT CODE ILLUSTRATION</a:t>
            </a:r>
          </a:p>
        </p:txBody>
      </p:sp>
      <p:sp>
        <p:nvSpPr>
          <p:cNvPr name="TextBox 7" id="7"/>
          <p:cNvSpPr txBox="true"/>
          <p:nvPr/>
        </p:nvSpPr>
        <p:spPr>
          <a:xfrm rot="0">
            <a:off x="2436206" y="2538586"/>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1</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4520787" cy="1249168"/>
            <a:chOff x="0" y="0"/>
            <a:chExt cx="19361049" cy="1665557"/>
          </a:xfrm>
        </p:grpSpPr>
        <p:grpSp>
          <p:nvGrpSpPr>
            <p:cNvPr name="Group 15" id="15"/>
            <p:cNvGrpSpPr/>
            <p:nvPr/>
          </p:nvGrpSpPr>
          <p:grpSpPr>
            <a:xfrm rot="0">
              <a:off x="0" y="0"/>
              <a:ext cx="18102831" cy="1665557"/>
              <a:chOff x="0" y="0"/>
              <a:chExt cx="3842306" cy="353513"/>
            </a:xfrm>
          </p:grpSpPr>
          <p:sp>
            <p:nvSpPr>
              <p:cNvPr name="Freeform 16" id="16"/>
              <p:cNvSpPr/>
              <p:nvPr/>
            </p:nvSpPr>
            <p:spPr>
              <a:xfrm flipH="false" flipV="false" rot="0">
                <a:off x="0" y="0"/>
                <a:ext cx="3842306" cy="353513"/>
              </a:xfrm>
              <a:custGeom>
                <a:avLst/>
                <a:gdLst/>
                <a:ahLst/>
                <a:cxnLst/>
                <a:rect r="r" b="b" t="t" l="l"/>
                <a:pathLst>
                  <a:path h="353513" w="3842306">
                    <a:moveTo>
                      <a:pt x="57022" y="0"/>
                    </a:moveTo>
                    <a:lnTo>
                      <a:pt x="3785284" y="0"/>
                    </a:lnTo>
                    <a:cubicBezTo>
                      <a:pt x="3816777" y="0"/>
                      <a:pt x="3842306" y="25530"/>
                      <a:pt x="3842306" y="57022"/>
                    </a:cubicBezTo>
                    <a:lnTo>
                      <a:pt x="3842306" y="296491"/>
                    </a:lnTo>
                    <a:cubicBezTo>
                      <a:pt x="3842306" y="311614"/>
                      <a:pt x="3836298" y="326118"/>
                      <a:pt x="3825605" y="336811"/>
                    </a:cubicBezTo>
                    <a:cubicBezTo>
                      <a:pt x="3814911" y="347505"/>
                      <a:pt x="3800408" y="353513"/>
                      <a:pt x="3785284" y="353513"/>
                    </a:cubicBezTo>
                    <a:lnTo>
                      <a:pt x="57022" y="353513"/>
                    </a:lnTo>
                    <a:cubicBezTo>
                      <a:pt x="41899" y="353513"/>
                      <a:pt x="27395" y="347505"/>
                      <a:pt x="16701" y="336811"/>
                    </a:cubicBezTo>
                    <a:cubicBezTo>
                      <a:pt x="6008" y="326118"/>
                      <a:pt x="0" y="311614"/>
                      <a:pt x="0" y="296491"/>
                    </a:cubicBezTo>
                    <a:lnTo>
                      <a:pt x="0" y="57022"/>
                    </a:lnTo>
                    <a:cubicBezTo>
                      <a:pt x="0" y="41899"/>
                      <a:pt x="6008" y="27395"/>
                      <a:pt x="16701" y="16701"/>
                    </a:cubicBezTo>
                    <a:cubicBezTo>
                      <a:pt x="27395" y="6008"/>
                      <a:pt x="41899" y="0"/>
                      <a:pt x="57022" y="0"/>
                    </a:cubicBezTo>
                    <a:close/>
                  </a:path>
                </a:pathLst>
              </a:custGeom>
              <a:solidFill>
                <a:srgbClr val="FFE88B"/>
              </a:solidFill>
              <a:ln w="38100" cap="rnd">
                <a:solidFill>
                  <a:srgbClr val="000000"/>
                </a:solidFill>
                <a:prstDash val="solid"/>
                <a:round/>
              </a:ln>
            </p:spPr>
          </p:sp>
          <p:sp>
            <p:nvSpPr>
              <p:cNvPr name="TextBox 17" id="17"/>
              <p:cNvSpPr txBox="true"/>
              <p:nvPr/>
            </p:nvSpPr>
            <p:spPr>
              <a:xfrm>
                <a:off x="0" y="19050"/>
                <a:ext cx="3842306" cy="334463"/>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755597" y="473619"/>
              <a:ext cx="18605453" cy="79452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การ</a:t>
              </a:r>
              <a:r>
                <a:rPr lang="en-US" sz="4335">
                  <a:solidFill>
                    <a:srgbClr val="000000"/>
                  </a:solidFill>
                  <a:latin typeface="ไอติม"/>
                  <a:ea typeface="ไอติม"/>
                  <a:cs typeface="ไอติม"/>
                  <a:sym typeface="ไอติม"/>
                </a:rPr>
                <a:t>ประกาศ ENUM พื้นฐาน (DEFINING ENUMS) คืออะไร</a:t>
              </a:r>
            </a:p>
          </p:txBody>
        </p:sp>
      </p:grpSp>
      <p:grpSp>
        <p:nvGrpSpPr>
          <p:cNvPr name="Group 19" id="19"/>
          <p:cNvGrpSpPr/>
          <p:nvPr/>
        </p:nvGrpSpPr>
        <p:grpSpPr>
          <a:xfrm rot="0">
            <a:off x="476616" y="1703281"/>
            <a:ext cx="16954470" cy="1511373"/>
            <a:chOff x="0" y="0"/>
            <a:chExt cx="22605959" cy="2015164"/>
          </a:xfrm>
        </p:grpSpPr>
        <p:grpSp>
          <p:nvGrpSpPr>
            <p:cNvPr name="Group 20" id="20"/>
            <p:cNvGrpSpPr/>
            <p:nvPr/>
          </p:nvGrpSpPr>
          <p:grpSpPr>
            <a:xfrm rot="0">
              <a:off x="0" y="613960"/>
              <a:ext cx="22605959" cy="1401204"/>
              <a:chOff x="0" y="0"/>
              <a:chExt cx="4465375" cy="276781"/>
            </a:xfrm>
          </p:grpSpPr>
          <p:sp>
            <p:nvSpPr>
              <p:cNvPr name="Freeform 21" id="21"/>
              <p:cNvSpPr/>
              <p:nvPr/>
            </p:nvSpPr>
            <p:spPr>
              <a:xfrm flipH="false" flipV="false" rot="0">
                <a:off x="0" y="0"/>
                <a:ext cx="4465375" cy="276781"/>
              </a:xfrm>
              <a:custGeom>
                <a:avLst/>
                <a:gdLst/>
                <a:ahLst/>
                <a:cxnLst/>
                <a:rect r="r" b="b" t="t" l="l"/>
                <a:pathLst>
                  <a:path h="276781" w="4465375">
                    <a:moveTo>
                      <a:pt x="0" y="0"/>
                    </a:moveTo>
                    <a:lnTo>
                      <a:pt x="4465375" y="0"/>
                    </a:lnTo>
                    <a:lnTo>
                      <a:pt x="4465375" y="276781"/>
                    </a:lnTo>
                    <a:lnTo>
                      <a:pt x="0" y="276781"/>
                    </a:lnTo>
                    <a:close/>
                  </a:path>
                </a:pathLst>
              </a:custGeom>
              <a:solidFill>
                <a:srgbClr val="FFFFFF"/>
              </a:solidFill>
              <a:ln w="38100" cap="sq">
                <a:solidFill>
                  <a:srgbClr val="000000"/>
                </a:solidFill>
                <a:prstDash val="solid"/>
                <a:miter/>
              </a:ln>
            </p:spPr>
          </p:sp>
          <p:sp>
            <p:nvSpPr>
              <p:cNvPr name="TextBox 22" id="22"/>
              <p:cNvSpPr txBox="true"/>
              <p:nvPr/>
            </p:nvSpPr>
            <p:spPr>
              <a:xfrm>
                <a:off x="0" y="28575"/>
                <a:ext cx="4465375" cy="248206"/>
              </a:xfrm>
              <a:prstGeom prst="rect">
                <a:avLst/>
              </a:prstGeom>
            </p:spPr>
            <p:txBody>
              <a:bodyPr anchor="ctr" rtlCol="false" tIns="50800" lIns="50800" bIns="50800" rIns="50800"/>
              <a:lstStyle/>
              <a:p>
                <a:pPr algn="l">
                  <a:lnSpc>
                    <a:spcPts val="4399"/>
                  </a:lnSpc>
                </a:pPr>
              </a:p>
            </p:txBody>
          </p:sp>
        </p:grpSp>
        <p:sp>
          <p:nvSpPr>
            <p:cNvPr name="TextBox 23" id="23"/>
            <p:cNvSpPr txBox="true"/>
            <p:nvPr/>
          </p:nvSpPr>
          <p:spPr>
            <a:xfrm rot="0">
              <a:off x="212515" y="1131909"/>
              <a:ext cx="22277383" cy="590761"/>
            </a:xfrm>
            <a:prstGeom prst="rect">
              <a:avLst/>
            </a:prstGeom>
          </p:spPr>
          <p:txBody>
            <a:bodyPr anchor="t" rtlCol="false" tIns="0" lIns="0" bIns="0" rIns="0">
              <a:spAutoFit/>
            </a:bodyPr>
            <a:lstStyle/>
            <a:p>
              <a:pPr algn="l" marL="0" indent="0" lvl="0">
                <a:lnSpc>
                  <a:spcPts val="3640"/>
                </a:lnSpc>
              </a:pPr>
              <a:r>
                <a:rPr lang="en-US" sz="2800" strike="noStrike" u="none">
                  <a:solidFill>
                    <a:srgbClr val="000000"/>
                  </a:solidFill>
                  <a:latin typeface="ไอติม"/>
                  <a:ea typeface="ไอติม"/>
                  <a:cs typeface="ไอติม"/>
                  <a:sym typeface="ไอติม"/>
                </a:rPr>
                <a:t>Custom Type ใน Rust ที่กำหนดค่าที่เป็นไปได้หลายรูปแบบ โดยแต่ละ Variant สามารถเก็บข้อมูลในรูปแบบที่ต่างกันได้</a:t>
              </a:r>
            </a:p>
          </p:txBody>
        </p:sp>
        <p:grpSp>
          <p:nvGrpSpPr>
            <p:cNvPr name="Group 24" id="24"/>
            <p:cNvGrpSpPr/>
            <p:nvPr/>
          </p:nvGrpSpPr>
          <p:grpSpPr>
            <a:xfrm rot="0">
              <a:off x="0" y="0"/>
              <a:ext cx="3550934" cy="1056164"/>
              <a:chOff x="0" y="0"/>
              <a:chExt cx="753682" cy="224170"/>
            </a:xfrm>
          </p:grpSpPr>
          <p:sp>
            <p:nvSpPr>
              <p:cNvPr name="Freeform 25" id="25"/>
              <p:cNvSpPr/>
              <p:nvPr/>
            </p:nvSpPr>
            <p:spPr>
              <a:xfrm flipH="false" flipV="false" rot="0">
                <a:off x="0" y="0"/>
                <a:ext cx="753682" cy="224170"/>
              </a:xfrm>
              <a:custGeom>
                <a:avLst/>
                <a:gdLst/>
                <a:ahLst/>
                <a:cxnLst/>
                <a:rect r="r" b="b" t="t" l="l"/>
                <a:pathLst>
                  <a:path h="224170" w="753682">
                    <a:moveTo>
                      <a:pt x="112085" y="0"/>
                    </a:moveTo>
                    <a:lnTo>
                      <a:pt x="641597" y="0"/>
                    </a:lnTo>
                    <a:cubicBezTo>
                      <a:pt x="671324" y="0"/>
                      <a:pt x="699833" y="11809"/>
                      <a:pt x="720853" y="32829"/>
                    </a:cubicBezTo>
                    <a:cubicBezTo>
                      <a:pt x="741873" y="53849"/>
                      <a:pt x="753682" y="82358"/>
                      <a:pt x="753682" y="112085"/>
                    </a:cubicBezTo>
                    <a:lnTo>
                      <a:pt x="753682" y="112085"/>
                    </a:lnTo>
                    <a:cubicBezTo>
                      <a:pt x="753682" y="141812"/>
                      <a:pt x="741873" y="170321"/>
                      <a:pt x="720853" y="191341"/>
                    </a:cubicBezTo>
                    <a:cubicBezTo>
                      <a:pt x="699833" y="212361"/>
                      <a:pt x="671324" y="224170"/>
                      <a:pt x="641597" y="224170"/>
                    </a:cubicBezTo>
                    <a:lnTo>
                      <a:pt x="112085" y="224170"/>
                    </a:lnTo>
                    <a:cubicBezTo>
                      <a:pt x="82358" y="224170"/>
                      <a:pt x="53849" y="212361"/>
                      <a:pt x="32829" y="191341"/>
                    </a:cubicBezTo>
                    <a:cubicBezTo>
                      <a:pt x="11809" y="170321"/>
                      <a:pt x="0" y="141812"/>
                      <a:pt x="0" y="112085"/>
                    </a:cubicBezTo>
                    <a:lnTo>
                      <a:pt x="0" y="112085"/>
                    </a:lnTo>
                    <a:cubicBezTo>
                      <a:pt x="0" y="82358"/>
                      <a:pt x="11809" y="53849"/>
                      <a:pt x="32829" y="32829"/>
                    </a:cubicBezTo>
                    <a:cubicBezTo>
                      <a:pt x="53849" y="11809"/>
                      <a:pt x="82358" y="0"/>
                      <a:pt x="112085" y="0"/>
                    </a:cubicBezTo>
                    <a:close/>
                  </a:path>
                </a:pathLst>
              </a:custGeom>
              <a:solidFill>
                <a:srgbClr val="FFD9E1"/>
              </a:solidFill>
              <a:ln w="38100" cap="rnd">
                <a:solidFill>
                  <a:srgbClr val="000000"/>
                </a:solidFill>
                <a:prstDash val="solid"/>
                <a:round/>
              </a:ln>
            </p:spPr>
          </p:sp>
          <p:sp>
            <p:nvSpPr>
              <p:cNvPr name="TextBox 26" id="26"/>
              <p:cNvSpPr txBox="true"/>
              <p:nvPr/>
            </p:nvSpPr>
            <p:spPr>
              <a:xfrm>
                <a:off x="0" y="19050"/>
                <a:ext cx="753682" cy="205120"/>
              </a:xfrm>
              <a:prstGeom prst="rect">
                <a:avLst/>
              </a:prstGeom>
            </p:spPr>
            <p:txBody>
              <a:bodyPr anchor="ctr" rtlCol="false" tIns="50800" lIns="50800" bIns="50800" rIns="50800"/>
              <a:lstStyle/>
              <a:p>
                <a:pPr algn="ctr">
                  <a:lnSpc>
                    <a:spcPts val="2694"/>
                  </a:lnSpc>
                </a:pPr>
              </a:p>
            </p:txBody>
          </p:sp>
        </p:grpSp>
        <p:sp>
          <p:nvSpPr>
            <p:cNvPr name="TextBox 27" id="27"/>
            <p:cNvSpPr txBox="true"/>
            <p:nvPr/>
          </p:nvSpPr>
          <p:spPr>
            <a:xfrm rot="0">
              <a:off x="455621" y="208568"/>
              <a:ext cx="3095314" cy="659477"/>
            </a:xfrm>
            <a:prstGeom prst="rect">
              <a:avLst/>
            </a:prstGeom>
          </p:spPr>
          <p:txBody>
            <a:bodyPr anchor="t" rtlCol="false" tIns="0" lIns="0" bIns="0" rIns="0">
              <a:spAutoFit/>
            </a:bodyPr>
            <a:lstStyle/>
            <a:p>
              <a:pPr algn="l" marL="0" indent="0" lvl="0">
                <a:lnSpc>
                  <a:spcPts val="3535"/>
                </a:lnSpc>
                <a:spcBef>
                  <a:spcPct val="0"/>
                </a:spcBef>
              </a:pPr>
              <a:r>
                <a:rPr lang="en-US" sz="3535">
                  <a:solidFill>
                    <a:srgbClr val="000000"/>
                  </a:solidFill>
                  <a:latin typeface="ไอติม"/>
                  <a:ea typeface="ไอติม"/>
                  <a:cs typeface="ไอติม"/>
                  <a:sym typeface="ไอติม"/>
                </a:rPr>
                <a:t>ความหมาย</a:t>
              </a:r>
            </a:p>
          </p:txBody>
        </p:sp>
      </p:grpSp>
      <p:grpSp>
        <p:nvGrpSpPr>
          <p:cNvPr name="Group 28" id="28"/>
          <p:cNvGrpSpPr/>
          <p:nvPr/>
        </p:nvGrpSpPr>
        <p:grpSpPr>
          <a:xfrm rot="0">
            <a:off x="476616" y="3348004"/>
            <a:ext cx="9932788" cy="2285136"/>
            <a:chOff x="0" y="0"/>
            <a:chExt cx="13243717" cy="3046847"/>
          </a:xfrm>
        </p:grpSpPr>
        <p:grpSp>
          <p:nvGrpSpPr>
            <p:cNvPr name="Group 29" id="29"/>
            <p:cNvGrpSpPr/>
            <p:nvPr/>
          </p:nvGrpSpPr>
          <p:grpSpPr>
            <a:xfrm rot="0">
              <a:off x="0" y="507926"/>
              <a:ext cx="13243717" cy="2152268"/>
              <a:chOff x="0" y="0"/>
              <a:chExt cx="2616043" cy="425139"/>
            </a:xfrm>
          </p:grpSpPr>
          <p:sp>
            <p:nvSpPr>
              <p:cNvPr name="Freeform 30" id="30"/>
              <p:cNvSpPr/>
              <p:nvPr/>
            </p:nvSpPr>
            <p:spPr>
              <a:xfrm flipH="false" flipV="false" rot="0">
                <a:off x="0" y="0"/>
                <a:ext cx="2616043" cy="425139"/>
              </a:xfrm>
              <a:custGeom>
                <a:avLst/>
                <a:gdLst/>
                <a:ahLst/>
                <a:cxnLst/>
                <a:rect r="r" b="b" t="t" l="l"/>
                <a:pathLst>
                  <a:path h="425139" w="2616043">
                    <a:moveTo>
                      <a:pt x="0" y="0"/>
                    </a:moveTo>
                    <a:lnTo>
                      <a:pt x="2616043" y="0"/>
                    </a:lnTo>
                    <a:lnTo>
                      <a:pt x="2616043" y="425139"/>
                    </a:lnTo>
                    <a:lnTo>
                      <a:pt x="0" y="425139"/>
                    </a:lnTo>
                    <a:close/>
                  </a:path>
                </a:pathLst>
              </a:custGeom>
              <a:solidFill>
                <a:srgbClr val="FFFFFF"/>
              </a:solidFill>
              <a:ln w="38100" cap="sq">
                <a:solidFill>
                  <a:srgbClr val="000000"/>
                </a:solidFill>
                <a:prstDash val="solid"/>
                <a:miter/>
              </a:ln>
            </p:spPr>
          </p:sp>
          <p:sp>
            <p:nvSpPr>
              <p:cNvPr name="TextBox 31" id="31"/>
              <p:cNvSpPr txBox="true"/>
              <p:nvPr/>
            </p:nvSpPr>
            <p:spPr>
              <a:xfrm>
                <a:off x="0" y="28575"/>
                <a:ext cx="2616043" cy="396564"/>
              </a:xfrm>
              <a:prstGeom prst="rect">
                <a:avLst/>
              </a:prstGeom>
            </p:spPr>
            <p:txBody>
              <a:bodyPr anchor="ctr" rtlCol="false" tIns="50800" lIns="50800" bIns="50800" rIns="50800"/>
              <a:lstStyle/>
              <a:p>
                <a:pPr algn="l">
                  <a:lnSpc>
                    <a:spcPts val="4399"/>
                  </a:lnSpc>
                </a:pPr>
              </a:p>
            </p:txBody>
          </p:sp>
        </p:grpSp>
        <p:sp>
          <p:nvSpPr>
            <p:cNvPr name="TextBox 32" id="32"/>
            <p:cNvSpPr txBox="true"/>
            <p:nvPr/>
          </p:nvSpPr>
          <p:spPr>
            <a:xfrm rot="0">
              <a:off x="339784" y="1162379"/>
              <a:ext cx="12734374" cy="1884468"/>
            </a:xfrm>
            <a:prstGeom prst="rect">
              <a:avLst/>
            </a:prstGeom>
          </p:spPr>
          <p:txBody>
            <a:bodyPr anchor="t" rtlCol="false" tIns="0" lIns="0" bIns="0" rIns="0">
              <a:spAutoFit/>
            </a:bodyPr>
            <a:lstStyle/>
            <a:p>
              <a:pPr algn="l">
                <a:lnSpc>
                  <a:spcPts val="3770"/>
                </a:lnSpc>
              </a:pPr>
              <a:r>
                <a:rPr lang="en-US" sz="2900">
                  <a:solidFill>
                    <a:srgbClr val="000000"/>
                  </a:solidFill>
                  <a:latin typeface="ไอติม"/>
                  <a:ea typeface="ไอติม"/>
                  <a:cs typeface="ไอติม"/>
                  <a:sym typeface="ไอติม"/>
                </a:rPr>
                <a:t>เพื่อ</a:t>
              </a:r>
              <a:r>
                <a:rPr lang="en-US" sz="2900" strike="noStrike" u="none">
                  <a:solidFill>
                    <a:srgbClr val="000000"/>
                  </a:solidFill>
                  <a:latin typeface="ไอติม"/>
                  <a:ea typeface="ไอติม"/>
                  <a:cs typeface="ไอติม"/>
                  <a:sym typeface="ไอติม"/>
                </a:rPr>
                <a:t>รวบรวมข้อมูลที่เกี่ยวข้องให้อยู่ด้วยกันอย่างเป็นระเบียบ และเพิ่มความปลอดภัยด้วยการเช็กข้อผิดพลาดตั้งแต่ตอน Compile time</a:t>
              </a:r>
            </a:p>
            <a:p>
              <a:pPr algn="l" marL="0" indent="0" lvl="0">
                <a:lnSpc>
                  <a:spcPts val="3770"/>
                </a:lnSpc>
              </a:pPr>
            </a:p>
          </p:txBody>
        </p:sp>
        <p:grpSp>
          <p:nvGrpSpPr>
            <p:cNvPr name="Group 33" id="33"/>
            <p:cNvGrpSpPr/>
            <p:nvPr/>
          </p:nvGrpSpPr>
          <p:grpSpPr>
            <a:xfrm rot="0">
              <a:off x="0" y="0"/>
              <a:ext cx="5371866" cy="1015852"/>
              <a:chOff x="0" y="0"/>
              <a:chExt cx="1140173" cy="215613"/>
            </a:xfrm>
          </p:grpSpPr>
          <p:sp>
            <p:nvSpPr>
              <p:cNvPr name="Freeform 34" id="34"/>
              <p:cNvSpPr/>
              <p:nvPr/>
            </p:nvSpPr>
            <p:spPr>
              <a:xfrm flipH="false" flipV="false" rot="0">
                <a:off x="0" y="0"/>
                <a:ext cx="1140173" cy="215613"/>
              </a:xfrm>
              <a:custGeom>
                <a:avLst/>
                <a:gdLst/>
                <a:ahLst/>
                <a:cxnLst/>
                <a:rect r="r" b="b" t="t" l="l"/>
                <a:pathLst>
                  <a:path h="215613" w="1140173">
                    <a:moveTo>
                      <a:pt x="107807" y="0"/>
                    </a:moveTo>
                    <a:lnTo>
                      <a:pt x="1032366" y="0"/>
                    </a:lnTo>
                    <a:cubicBezTo>
                      <a:pt x="1060958" y="0"/>
                      <a:pt x="1088379" y="11358"/>
                      <a:pt x="1108597" y="31576"/>
                    </a:cubicBezTo>
                    <a:cubicBezTo>
                      <a:pt x="1128815" y="51794"/>
                      <a:pt x="1140173" y="79215"/>
                      <a:pt x="1140173" y="107807"/>
                    </a:cubicBezTo>
                    <a:lnTo>
                      <a:pt x="1140173" y="107807"/>
                    </a:lnTo>
                    <a:cubicBezTo>
                      <a:pt x="1140173" y="136399"/>
                      <a:pt x="1128815" y="163820"/>
                      <a:pt x="1108597" y="184038"/>
                    </a:cubicBezTo>
                    <a:cubicBezTo>
                      <a:pt x="1088379" y="204255"/>
                      <a:pt x="1060958" y="215613"/>
                      <a:pt x="1032366" y="215613"/>
                    </a:cubicBezTo>
                    <a:lnTo>
                      <a:pt x="107807" y="215613"/>
                    </a:lnTo>
                    <a:cubicBezTo>
                      <a:pt x="79215" y="215613"/>
                      <a:pt x="51794" y="204255"/>
                      <a:pt x="31576" y="184038"/>
                    </a:cubicBezTo>
                    <a:cubicBezTo>
                      <a:pt x="11358" y="163820"/>
                      <a:pt x="0" y="136399"/>
                      <a:pt x="0" y="107807"/>
                    </a:cubicBezTo>
                    <a:lnTo>
                      <a:pt x="0" y="107807"/>
                    </a:lnTo>
                    <a:cubicBezTo>
                      <a:pt x="0" y="79215"/>
                      <a:pt x="11358" y="51794"/>
                      <a:pt x="31576" y="31576"/>
                    </a:cubicBezTo>
                    <a:cubicBezTo>
                      <a:pt x="51794" y="11358"/>
                      <a:pt x="79215" y="0"/>
                      <a:pt x="107807" y="0"/>
                    </a:cubicBezTo>
                    <a:close/>
                  </a:path>
                </a:pathLst>
              </a:custGeom>
              <a:solidFill>
                <a:srgbClr val="D1EAFF"/>
              </a:solidFill>
              <a:ln w="38100" cap="rnd">
                <a:solidFill>
                  <a:srgbClr val="000000"/>
                </a:solidFill>
                <a:prstDash val="solid"/>
                <a:round/>
              </a:ln>
            </p:spPr>
          </p:sp>
          <p:sp>
            <p:nvSpPr>
              <p:cNvPr name="TextBox 35" id="35"/>
              <p:cNvSpPr txBox="true"/>
              <p:nvPr/>
            </p:nvSpPr>
            <p:spPr>
              <a:xfrm>
                <a:off x="0" y="19050"/>
                <a:ext cx="1140173" cy="196563"/>
              </a:xfrm>
              <a:prstGeom prst="rect">
                <a:avLst/>
              </a:prstGeom>
            </p:spPr>
            <p:txBody>
              <a:bodyPr anchor="ctr" rtlCol="false" tIns="50800" lIns="50800" bIns="50800" rIns="50800"/>
              <a:lstStyle/>
              <a:p>
                <a:pPr algn="ctr">
                  <a:lnSpc>
                    <a:spcPts val="2694"/>
                  </a:lnSpc>
                </a:pPr>
              </a:p>
            </p:txBody>
          </p:sp>
        </p:grpSp>
        <p:sp>
          <p:nvSpPr>
            <p:cNvPr name="TextBox 36" id="36"/>
            <p:cNvSpPr txBox="true"/>
            <p:nvPr/>
          </p:nvSpPr>
          <p:spPr>
            <a:xfrm rot="0">
              <a:off x="339784" y="211316"/>
              <a:ext cx="5365816" cy="598517"/>
            </a:xfrm>
            <a:prstGeom prst="rect">
              <a:avLst/>
            </a:prstGeom>
          </p:spPr>
          <p:txBody>
            <a:bodyPr anchor="t" rtlCol="false" tIns="0" lIns="0" bIns="0" rIns="0">
              <a:spAutoFit/>
            </a:bodyPr>
            <a:lstStyle/>
            <a:p>
              <a:pPr algn="l" marL="0" indent="0" lvl="0">
                <a:lnSpc>
                  <a:spcPts val="3235"/>
                </a:lnSpc>
                <a:spcBef>
                  <a:spcPct val="0"/>
                </a:spcBef>
              </a:pPr>
              <a:r>
                <a:rPr lang="en-US" sz="3235">
                  <a:solidFill>
                    <a:srgbClr val="000000"/>
                  </a:solidFill>
                  <a:latin typeface="ไอติม"/>
                  <a:ea typeface="ไอติม"/>
                  <a:cs typeface="ไอติม"/>
                  <a:sym typeface="ไอติม"/>
                </a:rPr>
                <a:t>เหตุผลที่ออกแบบ</a:t>
              </a:r>
            </a:p>
          </p:txBody>
        </p:sp>
      </p:grpSp>
      <p:grpSp>
        <p:nvGrpSpPr>
          <p:cNvPr name="Group 37" id="37"/>
          <p:cNvGrpSpPr/>
          <p:nvPr/>
        </p:nvGrpSpPr>
        <p:grpSpPr>
          <a:xfrm rot="0">
            <a:off x="476616" y="5480553"/>
            <a:ext cx="11452999" cy="2032547"/>
            <a:chOff x="0" y="0"/>
            <a:chExt cx="15270666" cy="2710062"/>
          </a:xfrm>
        </p:grpSpPr>
        <p:grpSp>
          <p:nvGrpSpPr>
            <p:cNvPr name="Group 38" id="38"/>
            <p:cNvGrpSpPr/>
            <p:nvPr/>
          </p:nvGrpSpPr>
          <p:grpSpPr>
            <a:xfrm rot="0">
              <a:off x="113644" y="244166"/>
              <a:ext cx="13090414" cy="2095378"/>
              <a:chOff x="0" y="0"/>
              <a:chExt cx="2585761" cy="413902"/>
            </a:xfrm>
          </p:grpSpPr>
          <p:sp>
            <p:nvSpPr>
              <p:cNvPr name="Freeform 39" id="39"/>
              <p:cNvSpPr/>
              <p:nvPr/>
            </p:nvSpPr>
            <p:spPr>
              <a:xfrm flipH="false" flipV="false" rot="0">
                <a:off x="0" y="0"/>
                <a:ext cx="2585761" cy="413902"/>
              </a:xfrm>
              <a:custGeom>
                <a:avLst/>
                <a:gdLst/>
                <a:ahLst/>
                <a:cxnLst/>
                <a:rect r="r" b="b" t="t" l="l"/>
                <a:pathLst>
                  <a:path h="413902" w="2585761">
                    <a:moveTo>
                      <a:pt x="0" y="0"/>
                    </a:moveTo>
                    <a:lnTo>
                      <a:pt x="2585761" y="0"/>
                    </a:lnTo>
                    <a:lnTo>
                      <a:pt x="2585761" y="413902"/>
                    </a:lnTo>
                    <a:lnTo>
                      <a:pt x="0" y="413902"/>
                    </a:lnTo>
                    <a:close/>
                  </a:path>
                </a:pathLst>
              </a:custGeom>
              <a:solidFill>
                <a:srgbClr val="FFFFFF"/>
              </a:solidFill>
              <a:ln w="38100" cap="sq">
                <a:solidFill>
                  <a:srgbClr val="000000"/>
                </a:solidFill>
                <a:prstDash val="solid"/>
                <a:miter/>
              </a:ln>
            </p:spPr>
          </p:sp>
          <p:sp>
            <p:nvSpPr>
              <p:cNvPr name="TextBox 40" id="40"/>
              <p:cNvSpPr txBox="true"/>
              <p:nvPr/>
            </p:nvSpPr>
            <p:spPr>
              <a:xfrm>
                <a:off x="0" y="28575"/>
                <a:ext cx="2585761" cy="385327"/>
              </a:xfrm>
              <a:prstGeom prst="rect">
                <a:avLst/>
              </a:prstGeom>
            </p:spPr>
            <p:txBody>
              <a:bodyPr anchor="ctr" rtlCol="false" tIns="50800" lIns="50800" bIns="50800" rIns="50800"/>
              <a:lstStyle/>
              <a:p>
                <a:pPr algn="l">
                  <a:lnSpc>
                    <a:spcPts val="4399"/>
                  </a:lnSpc>
                </a:pPr>
              </a:p>
            </p:txBody>
          </p:sp>
        </p:grpSp>
        <p:sp>
          <p:nvSpPr>
            <p:cNvPr name="TextBox 41" id="41"/>
            <p:cNvSpPr txBox="true"/>
            <p:nvPr/>
          </p:nvSpPr>
          <p:spPr>
            <a:xfrm rot="0">
              <a:off x="490185" y="900101"/>
              <a:ext cx="14780481" cy="18099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ตัดปัญหากา</a:t>
              </a:r>
              <a:r>
                <a:rPr lang="en-US" sz="2800" strike="noStrike" u="none">
                  <a:solidFill>
                    <a:srgbClr val="000000"/>
                  </a:solidFill>
                  <a:latin typeface="ไอติม"/>
                  <a:ea typeface="ไอติม"/>
                  <a:cs typeface="ไอติม"/>
                  <a:sym typeface="ไอติม"/>
                </a:rPr>
                <a:t>รใช้ Magic Number (เช่น ใช้ -1 หรือ 0 แทนสถานะ) </a:t>
              </a:r>
            </a:p>
            <a:p>
              <a:pPr algn="l">
                <a:lnSpc>
                  <a:spcPts val="3640"/>
                </a:lnSpc>
              </a:pPr>
              <a:r>
                <a:rPr lang="en-US" sz="2800" strike="noStrike" u="none">
                  <a:solidFill>
                    <a:srgbClr val="000000"/>
                  </a:solidFill>
                  <a:latin typeface="ไอติม"/>
                  <a:ea typeface="ไอติม"/>
                  <a:cs typeface="ไอติม"/>
                  <a:sym typeface="ไอติม"/>
                </a:rPr>
                <a:t>ซึ่งทำให้โค้ดอ่านยากและเสี่ยงต่อการตีความผิด</a:t>
              </a:r>
            </a:p>
            <a:p>
              <a:pPr algn="l" marL="0" indent="0" lvl="0">
                <a:lnSpc>
                  <a:spcPts val="3640"/>
                </a:lnSpc>
              </a:pPr>
            </a:p>
          </p:txBody>
        </p:sp>
        <p:grpSp>
          <p:nvGrpSpPr>
            <p:cNvPr name="Group 42" id="42"/>
            <p:cNvGrpSpPr/>
            <p:nvPr/>
          </p:nvGrpSpPr>
          <p:grpSpPr>
            <a:xfrm rot="0">
              <a:off x="0" y="0"/>
              <a:ext cx="4449448" cy="928676"/>
              <a:chOff x="0" y="0"/>
              <a:chExt cx="944390" cy="197111"/>
            </a:xfrm>
          </p:grpSpPr>
          <p:sp>
            <p:nvSpPr>
              <p:cNvPr name="Freeform 43" id="43"/>
              <p:cNvSpPr/>
              <p:nvPr/>
            </p:nvSpPr>
            <p:spPr>
              <a:xfrm flipH="false" flipV="false" rot="0">
                <a:off x="0" y="0"/>
                <a:ext cx="944390" cy="197111"/>
              </a:xfrm>
              <a:custGeom>
                <a:avLst/>
                <a:gdLst/>
                <a:ahLst/>
                <a:cxnLst/>
                <a:rect r="r" b="b" t="t" l="l"/>
                <a:pathLst>
                  <a:path h="197111" w="944390">
                    <a:moveTo>
                      <a:pt x="98555" y="0"/>
                    </a:moveTo>
                    <a:lnTo>
                      <a:pt x="845835" y="0"/>
                    </a:lnTo>
                    <a:cubicBezTo>
                      <a:pt x="871974" y="0"/>
                      <a:pt x="897042" y="10383"/>
                      <a:pt x="915524" y="28866"/>
                    </a:cubicBezTo>
                    <a:cubicBezTo>
                      <a:pt x="934007" y="47349"/>
                      <a:pt x="944390" y="72417"/>
                      <a:pt x="944390" y="98555"/>
                    </a:cubicBezTo>
                    <a:lnTo>
                      <a:pt x="944390" y="98555"/>
                    </a:lnTo>
                    <a:cubicBezTo>
                      <a:pt x="944390" y="124694"/>
                      <a:pt x="934007" y="149762"/>
                      <a:pt x="915524" y="168244"/>
                    </a:cubicBezTo>
                    <a:cubicBezTo>
                      <a:pt x="897042" y="186727"/>
                      <a:pt x="871974" y="197111"/>
                      <a:pt x="845835" y="197111"/>
                    </a:cubicBezTo>
                    <a:lnTo>
                      <a:pt x="98555" y="197111"/>
                    </a:lnTo>
                    <a:cubicBezTo>
                      <a:pt x="72417" y="197111"/>
                      <a:pt x="47349" y="186727"/>
                      <a:pt x="28866" y="168244"/>
                    </a:cubicBezTo>
                    <a:cubicBezTo>
                      <a:pt x="10383" y="149762"/>
                      <a:pt x="0" y="124694"/>
                      <a:pt x="0" y="98555"/>
                    </a:cubicBezTo>
                    <a:lnTo>
                      <a:pt x="0" y="98555"/>
                    </a:lnTo>
                    <a:cubicBezTo>
                      <a:pt x="0" y="72417"/>
                      <a:pt x="10383" y="47349"/>
                      <a:pt x="28866" y="28866"/>
                    </a:cubicBezTo>
                    <a:cubicBezTo>
                      <a:pt x="47349" y="10383"/>
                      <a:pt x="72417" y="0"/>
                      <a:pt x="98555" y="0"/>
                    </a:cubicBezTo>
                    <a:close/>
                  </a:path>
                </a:pathLst>
              </a:custGeom>
              <a:solidFill>
                <a:srgbClr val="FED7AE"/>
              </a:solidFill>
              <a:ln w="38100" cap="rnd">
                <a:solidFill>
                  <a:srgbClr val="000000"/>
                </a:solidFill>
                <a:prstDash val="solid"/>
                <a:round/>
              </a:ln>
            </p:spPr>
          </p:sp>
          <p:sp>
            <p:nvSpPr>
              <p:cNvPr name="TextBox 44" id="44"/>
              <p:cNvSpPr txBox="true"/>
              <p:nvPr/>
            </p:nvSpPr>
            <p:spPr>
              <a:xfrm>
                <a:off x="0" y="19050"/>
                <a:ext cx="944390" cy="178061"/>
              </a:xfrm>
              <a:prstGeom prst="rect">
                <a:avLst/>
              </a:prstGeom>
            </p:spPr>
            <p:txBody>
              <a:bodyPr anchor="ctr" rtlCol="false" tIns="50800" lIns="50800" bIns="50800" rIns="50800"/>
              <a:lstStyle/>
              <a:p>
                <a:pPr algn="ctr">
                  <a:lnSpc>
                    <a:spcPts val="2694"/>
                  </a:lnSpc>
                </a:pPr>
              </a:p>
            </p:txBody>
          </p:sp>
        </p:grpSp>
        <p:sp>
          <p:nvSpPr>
            <p:cNvPr name="TextBox 45" id="45"/>
            <p:cNvSpPr txBox="true"/>
            <p:nvPr/>
          </p:nvSpPr>
          <p:spPr>
            <a:xfrm rot="0">
              <a:off x="490185" y="185611"/>
              <a:ext cx="3352912" cy="614604"/>
            </a:xfrm>
            <a:prstGeom prst="rect">
              <a:avLst/>
            </a:prstGeom>
          </p:spPr>
          <p:txBody>
            <a:bodyPr anchor="t" rtlCol="false" tIns="0" lIns="0" bIns="0" rIns="0">
              <a:spAutoFit/>
            </a:bodyPr>
            <a:lstStyle/>
            <a:p>
              <a:pPr algn="l" marL="0" indent="0" lvl="0">
                <a:lnSpc>
                  <a:spcPts val="3335"/>
                </a:lnSpc>
                <a:spcBef>
                  <a:spcPct val="0"/>
                </a:spcBef>
              </a:pPr>
              <a:r>
                <a:rPr lang="en-US" sz="3335">
                  <a:solidFill>
                    <a:srgbClr val="000000"/>
                  </a:solidFill>
                  <a:latin typeface="ไอติม"/>
                  <a:ea typeface="ไอติม"/>
                  <a:cs typeface="ไอติม"/>
                  <a:sym typeface="ไอติม"/>
                </a:rPr>
                <a:t>ปัญหาที่แก้ไข</a:t>
              </a:r>
            </a:p>
          </p:txBody>
        </p:sp>
      </p:grpSp>
      <p:sp>
        <p:nvSpPr>
          <p:cNvPr name="Freeform 46" id="46"/>
          <p:cNvSpPr/>
          <p:nvPr/>
        </p:nvSpPr>
        <p:spPr>
          <a:xfrm flipH="false" flipV="false" rot="1400785">
            <a:off x="14313468" y="666947"/>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grpSp>
        <p:nvGrpSpPr>
          <p:cNvPr name="Group 47" id="47"/>
          <p:cNvGrpSpPr/>
          <p:nvPr/>
        </p:nvGrpSpPr>
        <p:grpSpPr>
          <a:xfrm rot="0">
            <a:off x="11293610" y="3622437"/>
            <a:ext cx="5644231" cy="5748779"/>
            <a:chOff x="0" y="0"/>
            <a:chExt cx="7525642" cy="7665038"/>
          </a:xfrm>
        </p:grpSpPr>
        <p:sp>
          <p:nvSpPr>
            <p:cNvPr name="Freeform 48" id="48"/>
            <p:cNvSpPr/>
            <p:nvPr/>
          </p:nvSpPr>
          <p:spPr>
            <a:xfrm flipH="false" flipV="false" rot="0">
              <a:off x="0" y="0"/>
              <a:ext cx="7525642" cy="4966924"/>
            </a:xfrm>
            <a:custGeom>
              <a:avLst/>
              <a:gdLst/>
              <a:ahLst/>
              <a:cxnLst/>
              <a:rect r="r" b="b" t="t" l="l"/>
              <a:pathLst>
                <a:path h="4966924" w="7525642">
                  <a:moveTo>
                    <a:pt x="0" y="0"/>
                  </a:moveTo>
                  <a:lnTo>
                    <a:pt x="7525642" y="0"/>
                  </a:lnTo>
                  <a:lnTo>
                    <a:pt x="7525642" y="4966924"/>
                  </a:lnTo>
                  <a:lnTo>
                    <a:pt x="0" y="4966924"/>
                  </a:lnTo>
                  <a:lnTo>
                    <a:pt x="0" y="0"/>
                  </a:lnTo>
                  <a:close/>
                </a:path>
              </a:pathLst>
            </a:custGeom>
            <a:blipFill>
              <a:blip r:embed="rId3"/>
              <a:stretch>
                <a:fillRect l="0" t="0" r="0" b="0"/>
              </a:stretch>
            </a:blipFill>
          </p:spPr>
        </p:sp>
        <p:sp>
          <p:nvSpPr>
            <p:cNvPr name="Freeform 49" id="49"/>
            <p:cNvSpPr/>
            <p:nvPr/>
          </p:nvSpPr>
          <p:spPr>
            <a:xfrm flipH="false" flipV="false" rot="0">
              <a:off x="0" y="5425264"/>
              <a:ext cx="7525642" cy="2239774"/>
            </a:xfrm>
            <a:custGeom>
              <a:avLst/>
              <a:gdLst/>
              <a:ahLst/>
              <a:cxnLst/>
              <a:rect r="r" b="b" t="t" l="l"/>
              <a:pathLst>
                <a:path h="2239774" w="7525642">
                  <a:moveTo>
                    <a:pt x="0" y="0"/>
                  </a:moveTo>
                  <a:lnTo>
                    <a:pt x="7525642" y="0"/>
                  </a:lnTo>
                  <a:lnTo>
                    <a:pt x="7525642" y="2239774"/>
                  </a:lnTo>
                  <a:lnTo>
                    <a:pt x="0" y="2239774"/>
                  </a:lnTo>
                  <a:lnTo>
                    <a:pt x="0" y="0"/>
                  </a:lnTo>
                  <a:close/>
                </a:path>
              </a:pathLst>
            </a:custGeom>
            <a:blipFill>
              <a:blip r:embed="rId4"/>
              <a:stretch>
                <a:fillRect l="0" t="0" r="0" b="0"/>
              </a:stretch>
            </a:blipFill>
          </p:spPr>
        </p:sp>
      </p:grpSp>
      <p:grpSp>
        <p:nvGrpSpPr>
          <p:cNvPr name="Group 50" id="50"/>
          <p:cNvGrpSpPr/>
          <p:nvPr/>
        </p:nvGrpSpPr>
        <p:grpSpPr>
          <a:xfrm rot="0">
            <a:off x="1206006" y="7055506"/>
            <a:ext cx="9203398" cy="2933301"/>
            <a:chOff x="0" y="0"/>
            <a:chExt cx="12271197" cy="3911068"/>
          </a:xfrm>
        </p:grpSpPr>
        <p:grpSp>
          <p:nvGrpSpPr>
            <p:cNvPr name="Group 51" id="51"/>
            <p:cNvGrpSpPr/>
            <p:nvPr/>
          </p:nvGrpSpPr>
          <p:grpSpPr>
            <a:xfrm rot="0">
              <a:off x="583541" y="677596"/>
              <a:ext cx="11302980" cy="2966305"/>
              <a:chOff x="0" y="0"/>
              <a:chExt cx="2232687" cy="585937"/>
            </a:xfrm>
          </p:grpSpPr>
          <p:sp>
            <p:nvSpPr>
              <p:cNvPr name="Freeform 52" id="52"/>
              <p:cNvSpPr/>
              <p:nvPr/>
            </p:nvSpPr>
            <p:spPr>
              <a:xfrm flipH="false" flipV="false" rot="0">
                <a:off x="0" y="0"/>
                <a:ext cx="2232687" cy="585937"/>
              </a:xfrm>
              <a:custGeom>
                <a:avLst/>
                <a:gdLst/>
                <a:ahLst/>
                <a:cxnLst/>
                <a:rect r="r" b="b" t="t" l="l"/>
                <a:pathLst>
                  <a:path h="585937" w="2232687">
                    <a:moveTo>
                      <a:pt x="44750" y="0"/>
                    </a:moveTo>
                    <a:lnTo>
                      <a:pt x="2187938" y="0"/>
                    </a:lnTo>
                    <a:cubicBezTo>
                      <a:pt x="2212652" y="0"/>
                      <a:pt x="2232687" y="20035"/>
                      <a:pt x="2232687" y="44750"/>
                    </a:cubicBezTo>
                    <a:lnTo>
                      <a:pt x="2232687" y="541187"/>
                    </a:lnTo>
                    <a:cubicBezTo>
                      <a:pt x="2232687" y="553055"/>
                      <a:pt x="2227973" y="564438"/>
                      <a:pt x="2219580" y="572830"/>
                    </a:cubicBezTo>
                    <a:cubicBezTo>
                      <a:pt x="2211188" y="581222"/>
                      <a:pt x="2199806" y="585937"/>
                      <a:pt x="2187938" y="585937"/>
                    </a:cubicBezTo>
                    <a:lnTo>
                      <a:pt x="44750" y="585937"/>
                    </a:lnTo>
                    <a:cubicBezTo>
                      <a:pt x="20035" y="585937"/>
                      <a:pt x="0" y="565902"/>
                      <a:pt x="0" y="541187"/>
                    </a:cubicBezTo>
                    <a:lnTo>
                      <a:pt x="0" y="44750"/>
                    </a:lnTo>
                    <a:cubicBezTo>
                      <a:pt x="0" y="20035"/>
                      <a:pt x="20035" y="0"/>
                      <a:pt x="44750" y="0"/>
                    </a:cubicBezTo>
                    <a:close/>
                  </a:path>
                </a:pathLst>
              </a:custGeom>
              <a:solidFill>
                <a:srgbClr val="FFD167"/>
              </a:solidFill>
              <a:ln w="38100" cap="rnd">
                <a:solidFill>
                  <a:srgbClr val="000000"/>
                </a:solidFill>
                <a:prstDash val="solid"/>
                <a:round/>
              </a:ln>
            </p:spPr>
          </p:sp>
          <p:sp>
            <p:nvSpPr>
              <p:cNvPr name="TextBox 53" id="53"/>
              <p:cNvSpPr txBox="true"/>
              <p:nvPr/>
            </p:nvSpPr>
            <p:spPr>
              <a:xfrm>
                <a:off x="0" y="19050"/>
                <a:ext cx="2232687" cy="566887"/>
              </a:xfrm>
              <a:prstGeom prst="rect">
                <a:avLst/>
              </a:prstGeom>
            </p:spPr>
            <p:txBody>
              <a:bodyPr anchor="ctr" rtlCol="false" tIns="50800" lIns="50800" bIns="50800" rIns="50800"/>
              <a:lstStyle/>
              <a:p>
                <a:pPr algn="ctr">
                  <a:lnSpc>
                    <a:spcPts val="2694"/>
                  </a:lnSpc>
                </a:pPr>
              </a:p>
            </p:txBody>
          </p:sp>
        </p:grpSp>
        <p:grpSp>
          <p:nvGrpSpPr>
            <p:cNvPr name="Group 54" id="54"/>
            <p:cNvGrpSpPr/>
            <p:nvPr/>
          </p:nvGrpSpPr>
          <p:grpSpPr>
            <a:xfrm rot="0">
              <a:off x="583541" y="527970"/>
              <a:ext cx="6628968" cy="914218"/>
              <a:chOff x="0" y="0"/>
              <a:chExt cx="1406991" cy="194042"/>
            </a:xfrm>
          </p:grpSpPr>
          <p:sp>
            <p:nvSpPr>
              <p:cNvPr name="Freeform 55" id="55"/>
              <p:cNvSpPr/>
              <p:nvPr/>
            </p:nvSpPr>
            <p:spPr>
              <a:xfrm flipH="false" flipV="false" rot="0">
                <a:off x="0" y="0"/>
                <a:ext cx="1406991" cy="194042"/>
              </a:xfrm>
              <a:custGeom>
                <a:avLst/>
                <a:gdLst/>
                <a:ahLst/>
                <a:cxnLst/>
                <a:rect r="r" b="b" t="t" l="l"/>
                <a:pathLst>
                  <a:path h="194042" w="1406991">
                    <a:moveTo>
                      <a:pt x="97021" y="0"/>
                    </a:moveTo>
                    <a:lnTo>
                      <a:pt x="1309970" y="0"/>
                    </a:lnTo>
                    <a:cubicBezTo>
                      <a:pt x="1335702" y="0"/>
                      <a:pt x="1360380" y="10222"/>
                      <a:pt x="1378574" y="28417"/>
                    </a:cubicBezTo>
                    <a:cubicBezTo>
                      <a:pt x="1396769" y="46612"/>
                      <a:pt x="1406991" y="71289"/>
                      <a:pt x="1406991" y="97021"/>
                    </a:cubicBezTo>
                    <a:lnTo>
                      <a:pt x="1406991" y="97021"/>
                    </a:lnTo>
                    <a:cubicBezTo>
                      <a:pt x="1406991" y="150604"/>
                      <a:pt x="1363553" y="194042"/>
                      <a:pt x="1309970" y="194042"/>
                    </a:cubicBezTo>
                    <a:lnTo>
                      <a:pt x="97021" y="194042"/>
                    </a:lnTo>
                    <a:cubicBezTo>
                      <a:pt x="43438" y="194042"/>
                      <a:pt x="0" y="150604"/>
                      <a:pt x="0" y="97021"/>
                    </a:cubicBezTo>
                    <a:lnTo>
                      <a:pt x="0" y="97021"/>
                    </a:lnTo>
                    <a:cubicBezTo>
                      <a:pt x="0" y="43438"/>
                      <a:pt x="43438" y="0"/>
                      <a:pt x="97021" y="0"/>
                    </a:cubicBezTo>
                    <a:close/>
                  </a:path>
                </a:pathLst>
              </a:custGeom>
              <a:solidFill>
                <a:srgbClr val="FFFFFF"/>
              </a:solidFill>
              <a:ln w="38100" cap="rnd">
                <a:solidFill>
                  <a:srgbClr val="000000"/>
                </a:solidFill>
                <a:prstDash val="solid"/>
                <a:round/>
              </a:ln>
            </p:spPr>
          </p:sp>
          <p:sp>
            <p:nvSpPr>
              <p:cNvPr name="TextBox 56" id="56"/>
              <p:cNvSpPr txBox="true"/>
              <p:nvPr/>
            </p:nvSpPr>
            <p:spPr>
              <a:xfrm>
                <a:off x="0" y="19050"/>
                <a:ext cx="1406991" cy="174992"/>
              </a:xfrm>
              <a:prstGeom prst="rect">
                <a:avLst/>
              </a:prstGeom>
            </p:spPr>
            <p:txBody>
              <a:bodyPr anchor="ctr" rtlCol="false" tIns="50800" lIns="50800" bIns="50800" rIns="50800"/>
              <a:lstStyle/>
              <a:p>
                <a:pPr algn="ctr">
                  <a:lnSpc>
                    <a:spcPts val="2694"/>
                  </a:lnSpc>
                </a:pPr>
              </a:p>
            </p:txBody>
          </p:sp>
        </p:grpSp>
        <p:sp>
          <p:nvSpPr>
            <p:cNvPr name="Freeform 57" id="57"/>
            <p:cNvSpPr/>
            <p:nvPr/>
          </p:nvSpPr>
          <p:spPr>
            <a:xfrm flipH="false" flipV="false" rot="-6011362">
              <a:off x="113998" y="85652"/>
              <a:ext cx="1223374" cy="1254743"/>
            </a:xfrm>
            <a:custGeom>
              <a:avLst/>
              <a:gdLst/>
              <a:ahLst/>
              <a:cxnLst/>
              <a:rect r="r" b="b" t="t" l="l"/>
              <a:pathLst>
                <a:path h="1254743" w="1223374">
                  <a:moveTo>
                    <a:pt x="0" y="0"/>
                  </a:moveTo>
                  <a:lnTo>
                    <a:pt x="1223375" y="0"/>
                  </a:lnTo>
                  <a:lnTo>
                    <a:pt x="1223375" y="1254743"/>
                  </a:lnTo>
                  <a:lnTo>
                    <a:pt x="0" y="12547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8" id="58"/>
            <p:cNvSpPr txBox="true"/>
            <p:nvPr/>
          </p:nvSpPr>
          <p:spPr>
            <a:xfrm rot="0">
              <a:off x="1076839" y="649021"/>
              <a:ext cx="6128560" cy="590761"/>
            </a:xfrm>
            <a:prstGeom prst="rect">
              <a:avLst/>
            </a:prstGeom>
          </p:spPr>
          <p:txBody>
            <a:bodyPr anchor="t" rtlCol="false" tIns="0" lIns="0" bIns="0" rIns="0">
              <a:spAutoFit/>
            </a:bodyPr>
            <a:lstStyle/>
            <a:p>
              <a:pPr algn="l">
                <a:lnSpc>
                  <a:spcPts val="3640"/>
                </a:lnSpc>
              </a:pPr>
              <a:r>
                <a:rPr lang="en-US" sz="2800">
                  <a:solidFill>
                    <a:srgbClr val="000000"/>
                  </a:solidFill>
                  <a:latin typeface="ไอติม"/>
                  <a:ea typeface="ไอติม"/>
                  <a:cs typeface="ไอติม"/>
                  <a:sym typeface="ไอติม"/>
                </a:rPr>
                <a:t> </a:t>
              </a:r>
              <a:r>
                <a:rPr lang="en-US" sz="2800">
                  <a:solidFill>
                    <a:srgbClr val="000000"/>
                  </a:solidFill>
                  <a:latin typeface="ไอติม"/>
                  <a:ea typeface="ไอติม"/>
                  <a:cs typeface="ไอติม"/>
                  <a:sym typeface="ไอติม"/>
                </a:rPr>
                <a:t>จุดสำคัญ (3 รูปแบบ Variants)</a:t>
              </a:r>
            </a:p>
          </p:txBody>
        </p:sp>
        <p:sp>
          <p:nvSpPr>
            <p:cNvPr name="TextBox 59" id="59"/>
            <p:cNvSpPr txBox="true"/>
            <p:nvPr/>
          </p:nvSpPr>
          <p:spPr>
            <a:xfrm rot="0">
              <a:off x="725686" y="1581888"/>
              <a:ext cx="11545512" cy="2329180"/>
            </a:xfrm>
            <a:prstGeom prst="rect">
              <a:avLst/>
            </a:prstGeom>
          </p:spPr>
          <p:txBody>
            <a:bodyPr anchor="t" rtlCol="false" tIns="0" lIns="0" bIns="0" rIns="0">
              <a:spAutoFit/>
            </a:bodyPr>
            <a:lstStyle/>
            <a:p>
              <a:pPr algn="l" marL="582935" indent="-291467" lvl="1">
                <a:lnSpc>
                  <a:spcPts val="3510"/>
                </a:lnSpc>
                <a:buFont typeface="Arial"/>
                <a:buChar char="•"/>
              </a:pPr>
              <a:r>
                <a:rPr lang="en-US" sz="2700">
                  <a:solidFill>
                    <a:srgbClr val="000000"/>
                  </a:solidFill>
                  <a:latin typeface="ไอติม"/>
                  <a:ea typeface="ไอติม"/>
                  <a:cs typeface="ไอติม"/>
                  <a:sym typeface="ไอติม"/>
                </a:rPr>
                <a:t>Unit Variant: แบบไม่มีข้อมูลภายใน</a:t>
              </a:r>
            </a:p>
            <a:p>
              <a:pPr algn="l" marL="582935" indent="-291467" lvl="1">
                <a:lnSpc>
                  <a:spcPts val="3510"/>
                </a:lnSpc>
                <a:buFont typeface="Arial"/>
                <a:buChar char="•"/>
              </a:pPr>
              <a:r>
                <a:rPr lang="en-US" sz="2700">
                  <a:solidFill>
                    <a:srgbClr val="000000"/>
                  </a:solidFill>
                  <a:latin typeface="ไอติม"/>
                  <a:ea typeface="ไอติม"/>
                  <a:cs typeface="ไอติม"/>
                  <a:sym typeface="ไอติม"/>
                </a:rPr>
                <a:t>Tuple Variant: แบบเก็บข้อมูลเรียงตามลำดับ</a:t>
              </a:r>
            </a:p>
            <a:p>
              <a:pPr algn="l" marL="582935" indent="-291467" lvl="1">
                <a:lnSpc>
                  <a:spcPts val="3510"/>
                </a:lnSpc>
                <a:buFont typeface="Arial"/>
                <a:buChar char="•"/>
              </a:pPr>
              <a:r>
                <a:rPr lang="en-US" sz="2700">
                  <a:solidFill>
                    <a:srgbClr val="000000"/>
                  </a:solidFill>
                  <a:latin typeface="ไอติม"/>
                  <a:ea typeface="ไอติม"/>
                  <a:cs typeface="ไอติม"/>
                  <a:sym typeface="ไอติม"/>
                </a:rPr>
                <a:t>Struct Variant: แบบเก็บข้อมูลเป็นฟิลด์ระบุชื่อชัดเจน</a:t>
              </a:r>
            </a:p>
            <a:p>
              <a:pPr algn="l">
                <a:lnSpc>
                  <a:spcPts val="3510"/>
                </a:lnSpc>
              </a:pP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0616834" cy="1249168"/>
            <a:chOff x="0" y="0"/>
            <a:chExt cx="3004549" cy="353513"/>
          </a:xfrm>
        </p:grpSpPr>
        <p:sp>
          <p:nvSpPr>
            <p:cNvPr name="Freeform 15" id="15"/>
            <p:cNvSpPr/>
            <p:nvPr/>
          </p:nvSpPr>
          <p:spPr>
            <a:xfrm flipH="false" flipV="false" rot="0">
              <a:off x="0" y="0"/>
              <a:ext cx="3004549" cy="353513"/>
            </a:xfrm>
            <a:custGeom>
              <a:avLst/>
              <a:gdLst/>
              <a:ahLst/>
              <a:cxnLst/>
              <a:rect r="r" b="b" t="t" l="l"/>
              <a:pathLst>
                <a:path h="353513" w="3004549">
                  <a:moveTo>
                    <a:pt x="72921" y="0"/>
                  </a:moveTo>
                  <a:lnTo>
                    <a:pt x="2931628" y="0"/>
                  </a:lnTo>
                  <a:cubicBezTo>
                    <a:pt x="2971901" y="0"/>
                    <a:pt x="3004549" y="32648"/>
                    <a:pt x="3004549" y="72921"/>
                  </a:cubicBezTo>
                  <a:lnTo>
                    <a:pt x="3004549" y="280592"/>
                  </a:lnTo>
                  <a:cubicBezTo>
                    <a:pt x="3004549" y="320865"/>
                    <a:pt x="2971901" y="353513"/>
                    <a:pt x="2931628" y="353513"/>
                  </a:cubicBezTo>
                  <a:lnTo>
                    <a:pt x="72921" y="353513"/>
                  </a:lnTo>
                  <a:cubicBezTo>
                    <a:pt x="32648" y="353513"/>
                    <a:pt x="0" y="320865"/>
                    <a:pt x="0" y="280592"/>
                  </a:cubicBezTo>
                  <a:lnTo>
                    <a:pt x="0" y="72921"/>
                  </a:lnTo>
                  <a:cubicBezTo>
                    <a:pt x="0" y="32648"/>
                    <a:pt x="32648" y="0"/>
                    <a:pt x="72921" y="0"/>
                  </a:cubicBezTo>
                  <a:close/>
                </a:path>
              </a:pathLst>
            </a:custGeom>
            <a:solidFill>
              <a:srgbClr val="FFE88B"/>
            </a:solidFill>
            <a:ln w="38100" cap="rnd">
              <a:solidFill>
                <a:srgbClr val="000000"/>
              </a:solidFill>
              <a:prstDash val="solid"/>
              <a:round/>
            </a:ln>
          </p:spPr>
        </p:sp>
        <p:sp>
          <p:nvSpPr>
            <p:cNvPr name="TextBox 16" id="16"/>
            <p:cNvSpPr txBox="true"/>
            <p:nvPr/>
          </p:nvSpPr>
          <p:spPr>
            <a:xfrm>
              <a:off x="0" y="19050"/>
              <a:ext cx="3004549" cy="334463"/>
            </a:xfrm>
            <a:prstGeom prst="rect">
              <a:avLst/>
            </a:prstGeom>
          </p:spPr>
          <p:txBody>
            <a:bodyPr anchor="ctr" rtlCol="false" tIns="50800" lIns="50800" bIns="50800" rIns="50800"/>
            <a:lstStyle/>
            <a:p>
              <a:pPr algn="ctr">
                <a:lnSpc>
                  <a:spcPts val="2694"/>
                </a:lnSpc>
              </a:pPr>
            </a:p>
          </p:txBody>
        </p:sp>
      </p:grpSp>
      <p:grpSp>
        <p:nvGrpSpPr>
          <p:cNvPr name="Group 17" id="17"/>
          <p:cNvGrpSpPr/>
          <p:nvPr/>
        </p:nvGrpSpPr>
        <p:grpSpPr>
          <a:xfrm rot="0">
            <a:off x="568929" y="1639294"/>
            <a:ext cx="16906229" cy="1459607"/>
            <a:chOff x="0" y="0"/>
            <a:chExt cx="22541639" cy="1946142"/>
          </a:xfrm>
        </p:grpSpPr>
        <p:grpSp>
          <p:nvGrpSpPr>
            <p:cNvPr name="Group 18" id="18"/>
            <p:cNvGrpSpPr/>
            <p:nvPr/>
          </p:nvGrpSpPr>
          <p:grpSpPr>
            <a:xfrm rot="0">
              <a:off x="23073" y="771417"/>
              <a:ext cx="22409440" cy="1174725"/>
              <a:chOff x="0" y="0"/>
              <a:chExt cx="4426556" cy="232045"/>
            </a:xfrm>
          </p:grpSpPr>
          <p:sp>
            <p:nvSpPr>
              <p:cNvPr name="Freeform 19" id="19"/>
              <p:cNvSpPr/>
              <p:nvPr/>
            </p:nvSpPr>
            <p:spPr>
              <a:xfrm flipH="false" flipV="false" rot="0">
                <a:off x="0" y="0"/>
                <a:ext cx="4426556" cy="232045"/>
              </a:xfrm>
              <a:custGeom>
                <a:avLst/>
                <a:gdLst/>
                <a:ahLst/>
                <a:cxnLst/>
                <a:rect r="r" b="b" t="t" l="l"/>
                <a:pathLst>
                  <a:path h="232045" w="4426556">
                    <a:moveTo>
                      <a:pt x="0" y="0"/>
                    </a:moveTo>
                    <a:lnTo>
                      <a:pt x="4426556" y="0"/>
                    </a:lnTo>
                    <a:lnTo>
                      <a:pt x="4426556" y="232045"/>
                    </a:lnTo>
                    <a:lnTo>
                      <a:pt x="0" y="232045"/>
                    </a:lnTo>
                    <a:close/>
                  </a:path>
                </a:pathLst>
              </a:custGeom>
              <a:solidFill>
                <a:srgbClr val="FFFFFF"/>
              </a:solidFill>
              <a:ln w="38100" cap="sq">
                <a:solidFill>
                  <a:srgbClr val="000000"/>
                </a:solidFill>
                <a:prstDash val="solid"/>
                <a:miter/>
              </a:ln>
            </p:spPr>
          </p:sp>
          <p:sp>
            <p:nvSpPr>
              <p:cNvPr name="TextBox 20" id="20"/>
              <p:cNvSpPr txBox="true"/>
              <p:nvPr/>
            </p:nvSpPr>
            <p:spPr>
              <a:xfrm>
                <a:off x="0" y="28575"/>
                <a:ext cx="4426556" cy="203470"/>
              </a:xfrm>
              <a:prstGeom prst="rect">
                <a:avLst/>
              </a:prstGeom>
            </p:spPr>
            <p:txBody>
              <a:bodyPr anchor="ctr" rtlCol="false" tIns="50800" lIns="50800" bIns="50800" rIns="50800"/>
              <a:lstStyle/>
              <a:p>
                <a:pPr algn="l">
                  <a:lnSpc>
                    <a:spcPts val="4399"/>
                  </a:lnSpc>
                </a:pPr>
              </a:p>
            </p:txBody>
          </p:sp>
        </p:grpSp>
        <p:grpSp>
          <p:nvGrpSpPr>
            <p:cNvPr name="Group 21" id="21"/>
            <p:cNvGrpSpPr/>
            <p:nvPr/>
          </p:nvGrpSpPr>
          <p:grpSpPr>
            <a:xfrm rot="0">
              <a:off x="0" y="0"/>
              <a:ext cx="3352287" cy="1032794"/>
              <a:chOff x="0" y="0"/>
              <a:chExt cx="711519" cy="219209"/>
            </a:xfrm>
          </p:grpSpPr>
          <p:sp>
            <p:nvSpPr>
              <p:cNvPr name="Freeform 22" id="22"/>
              <p:cNvSpPr/>
              <p:nvPr/>
            </p:nvSpPr>
            <p:spPr>
              <a:xfrm flipH="false" flipV="false" rot="0">
                <a:off x="0" y="0"/>
                <a:ext cx="711519" cy="219209"/>
              </a:xfrm>
              <a:custGeom>
                <a:avLst/>
                <a:gdLst/>
                <a:ahLst/>
                <a:cxnLst/>
                <a:rect r="r" b="b" t="t" l="l"/>
                <a:pathLst>
                  <a:path h="219209" w="711519">
                    <a:moveTo>
                      <a:pt x="109605" y="0"/>
                    </a:moveTo>
                    <a:lnTo>
                      <a:pt x="601915" y="0"/>
                    </a:lnTo>
                    <a:cubicBezTo>
                      <a:pt x="662448" y="0"/>
                      <a:pt x="711519" y="49072"/>
                      <a:pt x="711519" y="109605"/>
                    </a:cubicBezTo>
                    <a:lnTo>
                      <a:pt x="711519" y="109605"/>
                    </a:lnTo>
                    <a:cubicBezTo>
                      <a:pt x="711519" y="170138"/>
                      <a:pt x="662448" y="219209"/>
                      <a:pt x="601915" y="219209"/>
                    </a:cubicBezTo>
                    <a:lnTo>
                      <a:pt x="109605" y="219209"/>
                    </a:lnTo>
                    <a:cubicBezTo>
                      <a:pt x="49072" y="219209"/>
                      <a:pt x="0" y="170138"/>
                      <a:pt x="0" y="109605"/>
                    </a:cubicBezTo>
                    <a:lnTo>
                      <a:pt x="0" y="109605"/>
                    </a:lnTo>
                    <a:cubicBezTo>
                      <a:pt x="0" y="49072"/>
                      <a:pt x="49072" y="0"/>
                      <a:pt x="109605" y="0"/>
                    </a:cubicBezTo>
                    <a:close/>
                  </a:path>
                </a:pathLst>
              </a:custGeom>
              <a:solidFill>
                <a:srgbClr val="FFD9E1"/>
              </a:solidFill>
              <a:ln w="38100" cap="rnd">
                <a:solidFill>
                  <a:srgbClr val="000000"/>
                </a:solidFill>
                <a:prstDash val="solid"/>
                <a:round/>
              </a:ln>
            </p:spPr>
          </p:sp>
          <p:sp>
            <p:nvSpPr>
              <p:cNvPr name="TextBox 23" id="23"/>
              <p:cNvSpPr txBox="true"/>
              <p:nvPr/>
            </p:nvSpPr>
            <p:spPr>
              <a:xfrm>
                <a:off x="0" y="19050"/>
                <a:ext cx="711519" cy="200159"/>
              </a:xfrm>
              <a:prstGeom prst="rect">
                <a:avLst/>
              </a:prstGeom>
            </p:spPr>
            <p:txBody>
              <a:bodyPr anchor="ctr" rtlCol="false" tIns="50800" lIns="50800" bIns="50800" rIns="50800"/>
              <a:lstStyle/>
              <a:p>
                <a:pPr algn="ctr">
                  <a:lnSpc>
                    <a:spcPts val="2694"/>
                  </a:lnSpc>
                </a:pPr>
              </a:p>
            </p:txBody>
          </p:sp>
        </p:grpSp>
        <p:sp>
          <p:nvSpPr>
            <p:cNvPr name="TextBox 24" id="24"/>
            <p:cNvSpPr txBox="true"/>
            <p:nvPr/>
          </p:nvSpPr>
          <p:spPr>
            <a:xfrm rot="0">
              <a:off x="455621" y="229627"/>
              <a:ext cx="3095314" cy="630690"/>
            </a:xfrm>
            <a:prstGeom prst="rect">
              <a:avLst/>
            </a:prstGeom>
          </p:spPr>
          <p:txBody>
            <a:bodyPr anchor="t" rtlCol="false" tIns="0" lIns="0" bIns="0" rIns="0">
              <a:spAutoFit/>
            </a:bodyPr>
            <a:lstStyle/>
            <a:p>
              <a:pPr algn="l" marL="0" indent="0" lvl="0">
                <a:lnSpc>
                  <a:spcPts val="3435"/>
                </a:lnSpc>
                <a:spcBef>
                  <a:spcPct val="0"/>
                </a:spcBef>
              </a:pPr>
              <a:r>
                <a:rPr lang="en-US" sz="3435">
                  <a:solidFill>
                    <a:srgbClr val="000000"/>
                  </a:solidFill>
                  <a:latin typeface="ไอติม"/>
                  <a:ea typeface="ไอติม"/>
                  <a:cs typeface="ไอติม"/>
                  <a:sym typeface="ไอติม"/>
                </a:rPr>
                <a:t>ความหมาย</a:t>
              </a:r>
            </a:p>
          </p:txBody>
        </p:sp>
        <p:sp>
          <p:nvSpPr>
            <p:cNvPr name="TextBox 25" id="25"/>
            <p:cNvSpPr txBox="true"/>
            <p:nvPr/>
          </p:nvSpPr>
          <p:spPr>
            <a:xfrm rot="0">
              <a:off x="264255" y="1165740"/>
              <a:ext cx="22277383" cy="576580"/>
            </a:xfrm>
            <a:prstGeom prst="rect">
              <a:avLst/>
            </a:prstGeom>
          </p:spPr>
          <p:txBody>
            <a:bodyPr anchor="t" rtlCol="false" tIns="0" lIns="0" bIns="0" rIns="0">
              <a:spAutoFit/>
            </a:bodyPr>
            <a:lstStyle/>
            <a:p>
              <a:pPr algn="l" marL="0" indent="0" lvl="0">
                <a:lnSpc>
                  <a:spcPts val="3510"/>
                </a:lnSpc>
              </a:pPr>
              <a:r>
                <a:rPr lang="en-US" sz="2700">
                  <a:solidFill>
                    <a:srgbClr val="000000"/>
                  </a:solidFill>
                  <a:latin typeface="ไอติม"/>
                  <a:ea typeface="ไอติม"/>
                  <a:cs typeface="ไอติม"/>
                  <a:sym typeface="ไอติม"/>
                </a:rPr>
                <a:t>คำสั่งควบคุมทิศทางโปรแกรม </a:t>
              </a:r>
              <a:r>
                <a:rPr lang="en-US" sz="2700" strike="noStrike" u="none">
                  <a:solidFill>
                    <a:srgbClr val="000000"/>
                  </a:solidFill>
                  <a:latin typeface="ไอติม"/>
                  <a:ea typeface="ไอติม"/>
                  <a:cs typeface="ไอติม"/>
                  <a:sym typeface="ไอติม"/>
                </a:rPr>
                <a:t>คล้าย switch/case แต่มีความสามารถพิเศษในการแกะข้อมูลที่ซ่อนอยู่ใน Enum ออกมาใช้งาน</a:t>
              </a:r>
            </a:p>
          </p:txBody>
        </p:sp>
      </p:grpSp>
      <p:grpSp>
        <p:nvGrpSpPr>
          <p:cNvPr name="Group 26" id="26"/>
          <p:cNvGrpSpPr/>
          <p:nvPr/>
        </p:nvGrpSpPr>
        <p:grpSpPr>
          <a:xfrm rot="0">
            <a:off x="616464" y="3211477"/>
            <a:ext cx="8422872" cy="2055946"/>
            <a:chOff x="0" y="0"/>
            <a:chExt cx="11230496" cy="2741261"/>
          </a:xfrm>
        </p:grpSpPr>
        <p:grpSp>
          <p:nvGrpSpPr>
            <p:cNvPr name="Group 27" id="27"/>
            <p:cNvGrpSpPr/>
            <p:nvPr/>
          </p:nvGrpSpPr>
          <p:grpSpPr>
            <a:xfrm rot="0">
              <a:off x="0" y="509933"/>
              <a:ext cx="11230496" cy="1875952"/>
              <a:chOff x="0" y="0"/>
              <a:chExt cx="2218370" cy="370558"/>
            </a:xfrm>
          </p:grpSpPr>
          <p:sp>
            <p:nvSpPr>
              <p:cNvPr name="Freeform 28" id="28"/>
              <p:cNvSpPr/>
              <p:nvPr/>
            </p:nvSpPr>
            <p:spPr>
              <a:xfrm flipH="false" flipV="false" rot="0">
                <a:off x="0" y="0"/>
                <a:ext cx="2218370" cy="370558"/>
              </a:xfrm>
              <a:custGeom>
                <a:avLst/>
                <a:gdLst/>
                <a:ahLst/>
                <a:cxnLst/>
                <a:rect r="r" b="b" t="t" l="l"/>
                <a:pathLst>
                  <a:path h="370558" w="2218370">
                    <a:moveTo>
                      <a:pt x="0" y="0"/>
                    </a:moveTo>
                    <a:lnTo>
                      <a:pt x="2218370" y="0"/>
                    </a:lnTo>
                    <a:lnTo>
                      <a:pt x="2218370" y="370558"/>
                    </a:lnTo>
                    <a:lnTo>
                      <a:pt x="0" y="370558"/>
                    </a:lnTo>
                    <a:close/>
                  </a:path>
                </a:pathLst>
              </a:custGeom>
              <a:solidFill>
                <a:srgbClr val="FFFFFF"/>
              </a:solidFill>
              <a:ln w="38100" cap="sq">
                <a:solidFill>
                  <a:srgbClr val="000000"/>
                </a:solidFill>
                <a:prstDash val="solid"/>
                <a:miter/>
              </a:ln>
            </p:spPr>
          </p:sp>
          <p:sp>
            <p:nvSpPr>
              <p:cNvPr name="TextBox 29" id="29"/>
              <p:cNvSpPr txBox="true"/>
              <p:nvPr/>
            </p:nvSpPr>
            <p:spPr>
              <a:xfrm>
                <a:off x="0" y="28575"/>
                <a:ext cx="2218370" cy="341983"/>
              </a:xfrm>
              <a:prstGeom prst="rect">
                <a:avLst/>
              </a:prstGeom>
            </p:spPr>
            <p:txBody>
              <a:bodyPr anchor="ctr" rtlCol="false" tIns="50800" lIns="50800" bIns="50800" rIns="50800"/>
              <a:lstStyle/>
              <a:p>
                <a:pPr algn="l">
                  <a:lnSpc>
                    <a:spcPts val="4399"/>
                  </a:lnSpc>
                </a:pPr>
              </a:p>
            </p:txBody>
          </p:sp>
        </p:grpSp>
        <p:sp>
          <p:nvSpPr>
            <p:cNvPr name="TextBox 30" id="30"/>
            <p:cNvSpPr txBox="true"/>
            <p:nvPr/>
          </p:nvSpPr>
          <p:spPr>
            <a:xfrm rot="0">
              <a:off x="250867" y="996281"/>
              <a:ext cx="10735433" cy="1744980"/>
            </a:xfrm>
            <a:prstGeom prst="rect">
              <a:avLst/>
            </a:prstGeom>
          </p:spPr>
          <p:txBody>
            <a:bodyPr anchor="t" rtlCol="false" tIns="0" lIns="0" bIns="0" rIns="0">
              <a:spAutoFit/>
            </a:bodyPr>
            <a:lstStyle/>
            <a:p>
              <a:pPr algn="l" marL="0" indent="0" lvl="0">
                <a:lnSpc>
                  <a:spcPts val="3510"/>
                </a:lnSpc>
              </a:pPr>
              <a:r>
                <a:rPr lang="en-US" sz="2700">
                  <a:solidFill>
                    <a:srgbClr val="000000"/>
                  </a:solidFill>
                  <a:latin typeface="ไอติม"/>
                  <a:ea typeface="ไอติม"/>
                  <a:cs typeface="ไอติม"/>
                  <a:sym typeface="ไอติม"/>
                </a:rPr>
                <a:t>เพื่อต</a:t>
              </a:r>
              <a:r>
                <a:rPr lang="en-US" sz="2700" strike="noStrike" u="none">
                  <a:solidFill>
                    <a:srgbClr val="000000"/>
                  </a:solidFill>
                  <a:latin typeface="ไอติม"/>
                  <a:ea typeface="ไอติม"/>
                  <a:cs typeface="ไอติม"/>
                  <a:sym typeface="ไอติม"/>
                </a:rPr>
                <a:t>รวจสอบเงื่อนไขและเข้าถึงข้อมูลภายใน Enum </a:t>
              </a:r>
            </a:p>
            <a:p>
              <a:pPr algn="l">
                <a:lnSpc>
                  <a:spcPts val="3510"/>
                </a:lnSpc>
              </a:pPr>
              <a:r>
                <a:rPr lang="en-US" sz="2700" strike="noStrike" u="none">
                  <a:solidFill>
                    <a:srgbClr val="000000"/>
                  </a:solidFill>
                  <a:latin typeface="ไอติม"/>
                  <a:ea typeface="ไอติม"/>
                  <a:cs typeface="ไอติม"/>
                  <a:sym typeface="ไอติม"/>
                </a:rPr>
                <a:t>ได้อย่างสะดวก พร้อมทั้งยกระดับความปลอดภัยในระดับภาษา</a:t>
              </a:r>
            </a:p>
            <a:p>
              <a:pPr algn="l" marL="0" indent="0" lvl="0">
                <a:lnSpc>
                  <a:spcPts val="3510"/>
                </a:lnSpc>
              </a:pPr>
            </a:p>
          </p:txBody>
        </p:sp>
        <p:grpSp>
          <p:nvGrpSpPr>
            <p:cNvPr name="Group 31" id="31"/>
            <p:cNvGrpSpPr/>
            <p:nvPr/>
          </p:nvGrpSpPr>
          <p:grpSpPr>
            <a:xfrm rot="0">
              <a:off x="0" y="0"/>
              <a:ext cx="4168833" cy="891444"/>
              <a:chOff x="0" y="0"/>
              <a:chExt cx="884830" cy="189208"/>
            </a:xfrm>
          </p:grpSpPr>
          <p:sp>
            <p:nvSpPr>
              <p:cNvPr name="Freeform 32" id="32"/>
              <p:cNvSpPr/>
              <p:nvPr/>
            </p:nvSpPr>
            <p:spPr>
              <a:xfrm flipH="false" flipV="false" rot="0">
                <a:off x="0" y="0"/>
                <a:ext cx="884830" cy="189208"/>
              </a:xfrm>
              <a:custGeom>
                <a:avLst/>
                <a:gdLst/>
                <a:ahLst/>
                <a:cxnLst/>
                <a:rect r="r" b="b" t="t" l="l"/>
                <a:pathLst>
                  <a:path h="189208" w="884830">
                    <a:moveTo>
                      <a:pt x="94604" y="0"/>
                    </a:moveTo>
                    <a:lnTo>
                      <a:pt x="790226" y="0"/>
                    </a:lnTo>
                    <a:cubicBezTo>
                      <a:pt x="815317" y="0"/>
                      <a:pt x="839380" y="9967"/>
                      <a:pt x="857122" y="27709"/>
                    </a:cubicBezTo>
                    <a:cubicBezTo>
                      <a:pt x="874863" y="45451"/>
                      <a:pt x="884830" y="69513"/>
                      <a:pt x="884830" y="94604"/>
                    </a:cubicBezTo>
                    <a:lnTo>
                      <a:pt x="884830" y="94604"/>
                    </a:lnTo>
                    <a:cubicBezTo>
                      <a:pt x="884830" y="146852"/>
                      <a:pt x="842475" y="189208"/>
                      <a:pt x="790226" y="189208"/>
                    </a:cubicBezTo>
                    <a:lnTo>
                      <a:pt x="94604" y="189208"/>
                    </a:lnTo>
                    <a:cubicBezTo>
                      <a:pt x="42356" y="189208"/>
                      <a:pt x="0" y="146852"/>
                      <a:pt x="0" y="94604"/>
                    </a:cubicBezTo>
                    <a:lnTo>
                      <a:pt x="0" y="94604"/>
                    </a:lnTo>
                    <a:cubicBezTo>
                      <a:pt x="0" y="42356"/>
                      <a:pt x="42356" y="0"/>
                      <a:pt x="94604" y="0"/>
                    </a:cubicBezTo>
                    <a:close/>
                  </a:path>
                </a:pathLst>
              </a:custGeom>
              <a:solidFill>
                <a:srgbClr val="D1EAFF"/>
              </a:solidFill>
              <a:ln w="38100" cap="rnd">
                <a:solidFill>
                  <a:srgbClr val="000000"/>
                </a:solidFill>
                <a:prstDash val="solid"/>
                <a:round/>
              </a:ln>
            </p:spPr>
          </p:sp>
          <p:sp>
            <p:nvSpPr>
              <p:cNvPr name="TextBox 33" id="33"/>
              <p:cNvSpPr txBox="true"/>
              <p:nvPr/>
            </p:nvSpPr>
            <p:spPr>
              <a:xfrm>
                <a:off x="0" y="19050"/>
                <a:ext cx="884830" cy="170158"/>
              </a:xfrm>
              <a:prstGeom prst="rect">
                <a:avLst/>
              </a:prstGeom>
            </p:spPr>
            <p:txBody>
              <a:bodyPr anchor="ctr" rtlCol="false" tIns="50800" lIns="50800" bIns="50800" rIns="50800"/>
              <a:lstStyle/>
              <a:p>
                <a:pPr algn="ctr">
                  <a:lnSpc>
                    <a:spcPts val="2694"/>
                  </a:lnSpc>
                </a:pPr>
              </a:p>
            </p:txBody>
          </p:sp>
        </p:grpSp>
        <p:sp>
          <p:nvSpPr>
            <p:cNvPr name="TextBox 34" id="34"/>
            <p:cNvSpPr txBox="true"/>
            <p:nvPr/>
          </p:nvSpPr>
          <p:spPr>
            <a:xfrm rot="0">
              <a:off x="250867" y="187950"/>
              <a:ext cx="4539014" cy="563169"/>
            </a:xfrm>
            <a:prstGeom prst="rect">
              <a:avLst/>
            </a:prstGeom>
          </p:spPr>
          <p:txBody>
            <a:bodyPr anchor="t" rtlCol="false" tIns="0" lIns="0" bIns="0" rIns="0">
              <a:spAutoFit/>
            </a:bodyPr>
            <a:lstStyle/>
            <a:p>
              <a:pPr algn="l" marL="0" indent="0" lvl="0">
                <a:lnSpc>
                  <a:spcPts val="3035"/>
                </a:lnSpc>
                <a:spcBef>
                  <a:spcPct val="0"/>
                </a:spcBef>
              </a:pPr>
              <a:r>
                <a:rPr lang="en-US" sz="3035">
                  <a:solidFill>
                    <a:srgbClr val="000000"/>
                  </a:solidFill>
                  <a:latin typeface="ไอติม"/>
                  <a:ea typeface="ไอติม"/>
                  <a:cs typeface="ไอติม"/>
                  <a:sym typeface="ไอติม"/>
                </a:rPr>
                <a:t>เหตุผลที่ออกแบบ</a:t>
              </a:r>
            </a:p>
          </p:txBody>
        </p:sp>
      </p:grpSp>
      <p:grpSp>
        <p:nvGrpSpPr>
          <p:cNvPr name="Group 35" id="35"/>
          <p:cNvGrpSpPr/>
          <p:nvPr/>
        </p:nvGrpSpPr>
        <p:grpSpPr>
          <a:xfrm rot="0">
            <a:off x="9684606" y="3360488"/>
            <a:ext cx="6596078" cy="2485979"/>
            <a:chOff x="0" y="0"/>
            <a:chExt cx="8794771" cy="3314638"/>
          </a:xfrm>
        </p:grpSpPr>
        <p:grpSp>
          <p:nvGrpSpPr>
            <p:cNvPr name="Group 36" id="36"/>
            <p:cNvGrpSpPr/>
            <p:nvPr/>
          </p:nvGrpSpPr>
          <p:grpSpPr>
            <a:xfrm rot="0">
              <a:off x="0" y="466985"/>
              <a:ext cx="8794771" cy="2502882"/>
              <a:chOff x="0" y="0"/>
              <a:chExt cx="1737239" cy="494397"/>
            </a:xfrm>
          </p:grpSpPr>
          <p:sp>
            <p:nvSpPr>
              <p:cNvPr name="Freeform 37" id="37"/>
              <p:cNvSpPr/>
              <p:nvPr/>
            </p:nvSpPr>
            <p:spPr>
              <a:xfrm flipH="false" flipV="false" rot="0">
                <a:off x="0" y="0"/>
                <a:ext cx="1737239" cy="494397"/>
              </a:xfrm>
              <a:custGeom>
                <a:avLst/>
                <a:gdLst/>
                <a:ahLst/>
                <a:cxnLst/>
                <a:rect r="r" b="b" t="t" l="l"/>
                <a:pathLst>
                  <a:path h="494397" w="1737239">
                    <a:moveTo>
                      <a:pt x="0" y="0"/>
                    </a:moveTo>
                    <a:lnTo>
                      <a:pt x="1737239" y="0"/>
                    </a:lnTo>
                    <a:lnTo>
                      <a:pt x="1737239" y="494397"/>
                    </a:lnTo>
                    <a:lnTo>
                      <a:pt x="0" y="494397"/>
                    </a:lnTo>
                    <a:close/>
                  </a:path>
                </a:pathLst>
              </a:custGeom>
              <a:solidFill>
                <a:srgbClr val="FFFFFF"/>
              </a:solidFill>
              <a:ln w="38100" cap="sq">
                <a:solidFill>
                  <a:srgbClr val="000000"/>
                </a:solidFill>
                <a:prstDash val="solid"/>
                <a:miter/>
              </a:ln>
            </p:spPr>
          </p:sp>
          <p:sp>
            <p:nvSpPr>
              <p:cNvPr name="TextBox 38" id="38"/>
              <p:cNvSpPr txBox="true"/>
              <p:nvPr/>
            </p:nvSpPr>
            <p:spPr>
              <a:xfrm>
                <a:off x="0" y="28575"/>
                <a:ext cx="1737239" cy="465822"/>
              </a:xfrm>
              <a:prstGeom prst="rect">
                <a:avLst/>
              </a:prstGeom>
            </p:spPr>
            <p:txBody>
              <a:bodyPr anchor="ctr" rtlCol="false" tIns="50800" lIns="50800" bIns="50800" rIns="50800"/>
              <a:lstStyle/>
              <a:p>
                <a:pPr algn="l">
                  <a:lnSpc>
                    <a:spcPts val="4399"/>
                  </a:lnSpc>
                </a:pPr>
              </a:p>
            </p:txBody>
          </p:sp>
        </p:grpSp>
        <p:grpSp>
          <p:nvGrpSpPr>
            <p:cNvPr name="Group 39" id="39"/>
            <p:cNvGrpSpPr/>
            <p:nvPr/>
          </p:nvGrpSpPr>
          <p:grpSpPr>
            <a:xfrm rot="0">
              <a:off x="0" y="0"/>
              <a:ext cx="3616474" cy="910086"/>
              <a:chOff x="0" y="0"/>
              <a:chExt cx="767593" cy="193165"/>
            </a:xfrm>
          </p:grpSpPr>
          <p:sp>
            <p:nvSpPr>
              <p:cNvPr name="Freeform 40" id="40"/>
              <p:cNvSpPr/>
              <p:nvPr/>
            </p:nvSpPr>
            <p:spPr>
              <a:xfrm flipH="false" flipV="false" rot="0">
                <a:off x="0" y="0"/>
                <a:ext cx="767593" cy="193165"/>
              </a:xfrm>
              <a:custGeom>
                <a:avLst/>
                <a:gdLst/>
                <a:ahLst/>
                <a:cxnLst/>
                <a:rect r="r" b="b" t="t" l="l"/>
                <a:pathLst>
                  <a:path h="193165" w="767593">
                    <a:moveTo>
                      <a:pt x="96582" y="0"/>
                    </a:moveTo>
                    <a:lnTo>
                      <a:pt x="671010" y="0"/>
                    </a:lnTo>
                    <a:cubicBezTo>
                      <a:pt x="696625" y="0"/>
                      <a:pt x="721192" y="10176"/>
                      <a:pt x="739304" y="28288"/>
                    </a:cubicBezTo>
                    <a:cubicBezTo>
                      <a:pt x="757417" y="46401"/>
                      <a:pt x="767593" y="70967"/>
                      <a:pt x="767593" y="96582"/>
                    </a:cubicBezTo>
                    <a:lnTo>
                      <a:pt x="767593" y="96582"/>
                    </a:lnTo>
                    <a:cubicBezTo>
                      <a:pt x="767593" y="122198"/>
                      <a:pt x="757417" y="146764"/>
                      <a:pt x="739304" y="164876"/>
                    </a:cubicBezTo>
                    <a:cubicBezTo>
                      <a:pt x="721192" y="182989"/>
                      <a:pt x="696625" y="193165"/>
                      <a:pt x="671010" y="193165"/>
                    </a:cubicBezTo>
                    <a:lnTo>
                      <a:pt x="96582" y="193165"/>
                    </a:lnTo>
                    <a:cubicBezTo>
                      <a:pt x="70967" y="193165"/>
                      <a:pt x="46401" y="182989"/>
                      <a:pt x="28288" y="164876"/>
                    </a:cubicBezTo>
                    <a:cubicBezTo>
                      <a:pt x="10176" y="146764"/>
                      <a:pt x="0" y="122198"/>
                      <a:pt x="0" y="96582"/>
                    </a:cubicBezTo>
                    <a:lnTo>
                      <a:pt x="0" y="96582"/>
                    </a:lnTo>
                    <a:cubicBezTo>
                      <a:pt x="0" y="70967"/>
                      <a:pt x="10176" y="46401"/>
                      <a:pt x="28288" y="28288"/>
                    </a:cubicBezTo>
                    <a:cubicBezTo>
                      <a:pt x="46401" y="10176"/>
                      <a:pt x="70967" y="0"/>
                      <a:pt x="96582" y="0"/>
                    </a:cubicBezTo>
                    <a:close/>
                  </a:path>
                </a:pathLst>
              </a:custGeom>
              <a:solidFill>
                <a:srgbClr val="FED7AE"/>
              </a:solidFill>
              <a:ln w="38100" cap="rnd">
                <a:solidFill>
                  <a:srgbClr val="000000"/>
                </a:solidFill>
                <a:prstDash val="solid"/>
                <a:round/>
              </a:ln>
            </p:spPr>
          </p:sp>
          <p:sp>
            <p:nvSpPr>
              <p:cNvPr name="TextBox 41" id="41"/>
              <p:cNvSpPr txBox="true"/>
              <p:nvPr/>
            </p:nvSpPr>
            <p:spPr>
              <a:xfrm>
                <a:off x="0" y="19050"/>
                <a:ext cx="767593" cy="174115"/>
              </a:xfrm>
              <a:prstGeom prst="rect">
                <a:avLst/>
              </a:prstGeom>
            </p:spPr>
            <p:txBody>
              <a:bodyPr anchor="ctr" rtlCol="false" tIns="50800" lIns="50800" bIns="50800" rIns="50800"/>
              <a:lstStyle/>
              <a:p>
                <a:pPr algn="ctr">
                  <a:lnSpc>
                    <a:spcPts val="2694"/>
                  </a:lnSpc>
                </a:pPr>
              </a:p>
            </p:txBody>
          </p:sp>
        </p:grpSp>
        <p:sp>
          <p:nvSpPr>
            <p:cNvPr name="TextBox 42" id="42"/>
            <p:cNvSpPr txBox="true"/>
            <p:nvPr/>
          </p:nvSpPr>
          <p:spPr>
            <a:xfrm rot="0">
              <a:off x="423492" y="201170"/>
              <a:ext cx="3125111" cy="579256"/>
            </a:xfrm>
            <a:prstGeom prst="rect">
              <a:avLst/>
            </a:prstGeom>
          </p:spPr>
          <p:txBody>
            <a:bodyPr anchor="t" rtlCol="false" tIns="0" lIns="0" bIns="0" rIns="0">
              <a:spAutoFit/>
            </a:bodyPr>
            <a:lstStyle/>
            <a:p>
              <a:pPr algn="l" marL="0" indent="0" lvl="0">
                <a:lnSpc>
                  <a:spcPts val="3135"/>
                </a:lnSpc>
                <a:spcBef>
                  <a:spcPct val="0"/>
                </a:spcBef>
              </a:pPr>
              <a:r>
                <a:rPr lang="en-US" sz="3135">
                  <a:solidFill>
                    <a:srgbClr val="000000"/>
                  </a:solidFill>
                  <a:latin typeface="ไอติม"/>
                  <a:ea typeface="ไอติม"/>
                  <a:cs typeface="ไอติม"/>
                  <a:sym typeface="ไอติม"/>
                </a:rPr>
                <a:t>ปัญหาที่แก้ไข</a:t>
              </a:r>
            </a:p>
          </p:txBody>
        </p:sp>
        <p:sp>
          <p:nvSpPr>
            <p:cNvPr name="TextBox 43" id="43"/>
            <p:cNvSpPr txBox="true"/>
            <p:nvPr/>
          </p:nvSpPr>
          <p:spPr>
            <a:xfrm rot="0">
              <a:off x="280660" y="1032237"/>
              <a:ext cx="7825571" cy="2282401"/>
            </a:xfrm>
            <a:prstGeom prst="rect">
              <a:avLst/>
            </a:prstGeom>
          </p:spPr>
          <p:txBody>
            <a:bodyPr anchor="t" rtlCol="false" tIns="0" lIns="0" bIns="0" rIns="0">
              <a:spAutoFit/>
            </a:bodyPr>
            <a:lstStyle/>
            <a:p>
              <a:pPr algn="l" marL="0" indent="0" lvl="0">
                <a:lnSpc>
                  <a:spcPts val="3380"/>
                </a:lnSpc>
              </a:pPr>
              <a:r>
                <a:rPr lang="en-US" sz="2600">
                  <a:solidFill>
                    <a:srgbClr val="000000"/>
                  </a:solidFill>
                  <a:latin typeface="ไอติม"/>
                  <a:ea typeface="ไอติม"/>
                  <a:cs typeface="ไอติม"/>
                  <a:sym typeface="ไอติม"/>
                </a:rPr>
                <a:t>ตัดปัญหากา</a:t>
              </a:r>
              <a:r>
                <a:rPr lang="en-US" sz="2600" strike="noStrike" u="none">
                  <a:solidFill>
                    <a:srgbClr val="000000"/>
                  </a:solidFill>
                  <a:latin typeface="ไอติม"/>
                  <a:ea typeface="ไอติม"/>
                  <a:cs typeface="ไอติม"/>
                  <a:sym typeface="ไอติม"/>
                </a:rPr>
                <a:t>รลืมจัดการบางกรณีของข้อมูล </a:t>
              </a:r>
            </a:p>
            <a:p>
              <a:pPr algn="l" marL="0" indent="0" lvl="0">
                <a:lnSpc>
                  <a:spcPts val="3380"/>
                </a:lnSpc>
              </a:pPr>
              <a:r>
                <a:rPr lang="en-US" sz="2600" strike="noStrike" u="none">
                  <a:solidFill>
                    <a:srgbClr val="000000"/>
                  </a:solidFill>
                  <a:latin typeface="ไอติม"/>
                  <a:ea typeface="ไอติม"/>
                  <a:cs typeface="ไอติม"/>
                  <a:sym typeface="ไอติม"/>
                </a:rPr>
                <a:t>(Uncovered Cases) ซึ่งมักทำให้โปรแกรมพัง </a:t>
              </a:r>
            </a:p>
            <a:p>
              <a:pPr algn="l">
                <a:lnSpc>
                  <a:spcPts val="3380"/>
                </a:lnSpc>
              </a:pPr>
              <a:r>
                <a:rPr lang="en-US" sz="2600" strike="noStrike" u="none">
                  <a:solidFill>
                    <a:srgbClr val="000000"/>
                  </a:solidFill>
                  <a:latin typeface="ไอติม"/>
                  <a:ea typeface="ไอติม"/>
                  <a:cs typeface="ไอติม"/>
                  <a:sym typeface="ไอติม"/>
                </a:rPr>
                <a:t>โดยบังคับให้เขียนครอบคลุมทุกกรณี</a:t>
              </a:r>
            </a:p>
            <a:p>
              <a:pPr algn="l" marL="0" indent="0" lvl="0">
                <a:lnSpc>
                  <a:spcPts val="3510"/>
                </a:lnSpc>
              </a:pPr>
            </a:p>
          </p:txBody>
        </p:sp>
      </p:grpSp>
      <p:sp>
        <p:nvSpPr>
          <p:cNvPr name="Freeform 44" id="44"/>
          <p:cNvSpPr/>
          <p:nvPr/>
        </p:nvSpPr>
        <p:spPr>
          <a:xfrm flipH="false" flipV="false" rot="1400785">
            <a:off x="11597574" y="646241"/>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sp>
        <p:nvSpPr>
          <p:cNvPr name="Freeform 45" id="45"/>
          <p:cNvSpPr/>
          <p:nvPr/>
        </p:nvSpPr>
        <p:spPr>
          <a:xfrm flipH="false" flipV="false" rot="0">
            <a:off x="1215614" y="5143500"/>
            <a:ext cx="4870590" cy="4732149"/>
          </a:xfrm>
          <a:custGeom>
            <a:avLst/>
            <a:gdLst/>
            <a:ahLst/>
            <a:cxnLst/>
            <a:rect r="r" b="b" t="t" l="l"/>
            <a:pathLst>
              <a:path h="4732149" w="4870590">
                <a:moveTo>
                  <a:pt x="0" y="0"/>
                </a:moveTo>
                <a:lnTo>
                  <a:pt x="4870590" y="0"/>
                </a:lnTo>
                <a:lnTo>
                  <a:pt x="4870590" y="4732149"/>
                </a:lnTo>
                <a:lnTo>
                  <a:pt x="0" y="4732149"/>
                </a:lnTo>
                <a:lnTo>
                  <a:pt x="0" y="0"/>
                </a:lnTo>
                <a:close/>
              </a:path>
            </a:pathLst>
          </a:custGeom>
          <a:blipFill>
            <a:blip r:embed="rId3"/>
            <a:stretch>
              <a:fillRect l="0" t="0" r="0" b="0"/>
            </a:stretch>
          </a:blipFill>
        </p:spPr>
      </p:sp>
      <p:sp>
        <p:nvSpPr>
          <p:cNvPr name="Freeform 46" id="46"/>
          <p:cNvSpPr/>
          <p:nvPr/>
        </p:nvSpPr>
        <p:spPr>
          <a:xfrm flipH="false" flipV="false" rot="0">
            <a:off x="6323588" y="8630464"/>
            <a:ext cx="4535158" cy="707047"/>
          </a:xfrm>
          <a:custGeom>
            <a:avLst/>
            <a:gdLst/>
            <a:ahLst/>
            <a:cxnLst/>
            <a:rect r="r" b="b" t="t" l="l"/>
            <a:pathLst>
              <a:path h="707047" w="4535158">
                <a:moveTo>
                  <a:pt x="0" y="0"/>
                </a:moveTo>
                <a:lnTo>
                  <a:pt x="4535157" y="0"/>
                </a:lnTo>
                <a:lnTo>
                  <a:pt x="4535157" y="707047"/>
                </a:lnTo>
                <a:lnTo>
                  <a:pt x="0" y="707047"/>
                </a:lnTo>
                <a:lnTo>
                  <a:pt x="0" y="0"/>
                </a:lnTo>
                <a:close/>
              </a:path>
            </a:pathLst>
          </a:custGeom>
          <a:blipFill>
            <a:blip r:embed="rId4"/>
            <a:stretch>
              <a:fillRect l="0" t="0" r="0" b="-52417"/>
            </a:stretch>
          </a:blipFill>
        </p:spPr>
      </p:sp>
      <p:grpSp>
        <p:nvGrpSpPr>
          <p:cNvPr name="Group 47" id="47"/>
          <p:cNvGrpSpPr/>
          <p:nvPr/>
        </p:nvGrpSpPr>
        <p:grpSpPr>
          <a:xfrm rot="0">
            <a:off x="10110963" y="5618518"/>
            <a:ext cx="7148337" cy="3311879"/>
            <a:chOff x="0" y="0"/>
            <a:chExt cx="9531116" cy="4415839"/>
          </a:xfrm>
        </p:grpSpPr>
        <p:grpSp>
          <p:nvGrpSpPr>
            <p:cNvPr name="Group 48" id="48"/>
            <p:cNvGrpSpPr/>
            <p:nvPr/>
          </p:nvGrpSpPr>
          <p:grpSpPr>
            <a:xfrm rot="0">
              <a:off x="537114" y="1137124"/>
              <a:ext cx="8704304" cy="3278715"/>
              <a:chOff x="0" y="0"/>
              <a:chExt cx="2110225" cy="794874"/>
            </a:xfrm>
          </p:grpSpPr>
          <p:sp>
            <p:nvSpPr>
              <p:cNvPr name="Freeform 49" id="49"/>
              <p:cNvSpPr/>
              <p:nvPr/>
            </p:nvSpPr>
            <p:spPr>
              <a:xfrm flipH="false" flipV="false" rot="0">
                <a:off x="0" y="0"/>
                <a:ext cx="2110225" cy="794874"/>
              </a:xfrm>
              <a:custGeom>
                <a:avLst/>
                <a:gdLst/>
                <a:ahLst/>
                <a:cxnLst/>
                <a:rect r="r" b="b" t="t" l="l"/>
                <a:pathLst>
                  <a:path h="794874" w="2110225">
                    <a:moveTo>
                      <a:pt x="47347" y="0"/>
                    </a:moveTo>
                    <a:lnTo>
                      <a:pt x="2062878" y="0"/>
                    </a:lnTo>
                    <a:cubicBezTo>
                      <a:pt x="2075435" y="0"/>
                      <a:pt x="2087478" y="4988"/>
                      <a:pt x="2096357" y="13868"/>
                    </a:cubicBezTo>
                    <a:cubicBezTo>
                      <a:pt x="2105237" y="22747"/>
                      <a:pt x="2110225" y="34790"/>
                      <a:pt x="2110225" y="47347"/>
                    </a:cubicBezTo>
                    <a:lnTo>
                      <a:pt x="2110225" y="747527"/>
                    </a:lnTo>
                    <a:cubicBezTo>
                      <a:pt x="2110225" y="760085"/>
                      <a:pt x="2105237" y="772127"/>
                      <a:pt x="2096357" y="781007"/>
                    </a:cubicBezTo>
                    <a:cubicBezTo>
                      <a:pt x="2087478" y="789886"/>
                      <a:pt x="2075435" y="794874"/>
                      <a:pt x="2062878" y="794874"/>
                    </a:cubicBezTo>
                    <a:lnTo>
                      <a:pt x="47347" y="794874"/>
                    </a:lnTo>
                    <a:cubicBezTo>
                      <a:pt x="34790" y="794874"/>
                      <a:pt x="22747" y="789886"/>
                      <a:pt x="13868" y="781007"/>
                    </a:cubicBezTo>
                    <a:cubicBezTo>
                      <a:pt x="4988" y="772127"/>
                      <a:pt x="0" y="760085"/>
                      <a:pt x="0" y="747527"/>
                    </a:cubicBezTo>
                    <a:lnTo>
                      <a:pt x="0" y="47347"/>
                    </a:lnTo>
                    <a:cubicBezTo>
                      <a:pt x="0" y="34790"/>
                      <a:pt x="4988" y="22747"/>
                      <a:pt x="13868" y="13868"/>
                    </a:cubicBezTo>
                    <a:cubicBezTo>
                      <a:pt x="22747" y="4988"/>
                      <a:pt x="34790" y="0"/>
                      <a:pt x="47347" y="0"/>
                    </a:cubicBezTo>
                    <a:close/>
                  </a:path>
                </a:pathLst>
              </a:custGeom>
              <a:solidFill>
                <a:srgbClr val="FFD167"/>
              </a:solidFill>
              <a:ln w="38100" cap="rnd">
                <a:solidFill>
                  <a:srgbClr val="000000"/>
                </a:solidFill>
                <a:prstDash val="solid"/>
                <a:round/>
              </a:ln>
            </p:spPr>
          </p:sp>
          <p:sp>
            <p:nvSpPr>
              <p:cNvPr name="TextBox 50" id="50"/>
              <p:cNvSpPr txBox="true"/>
              <p:nvPr/>
            </p:nvSpPr>
            <p:spPr>
              <a:xfrm>
                <a:off x="0" y="19050"/>
                <a:ext cx="2110225" cy="775824"/>
              </a:xfrm>
              <a:prstGeom prst="rect">
                <a:avLst/>
              </a:prstGeom>
            </p:spPr>
            <p:txBody>
              <a:bodyPr anchor="ctr" rtlCol="false" tIns="50800" lIns="50800" bIns="50800" rIns="50800"/>
              <a:lstStyle/>
              <a:p>
                <a:pPr algn="ctr">
                  <a:lnSpc>
                    <a:spcPts val="2694"/>
                  </a:lnSpc>
                </a:pPr>
              </a:p>
            </p:txBody>
          </p:sp>
        </p:grpSp>
        <p:sp>
          <p:nvSpPr>
            <p:cNvPr name="Freeform 51" id="51"/>
            <p:cNvSpPr/>
            <p:nvPr/>
          </p:nvSpPr>
          <p:spPr>
            <a:xfrm flipH="false" flipV="false" rot="-4495024">
              <a:off x="185688" y="153278"/>
              <a:ext cx="1482392" cy="1520402"/>
            </a:xfrm>
            <a:custGeom>
              <a:avLst/>
              <a:gdLst/>
              <a:ahLst/>
              <a:cxnLst/>
              <a:rect r="r" b="b" t="t" l="l"/>
              <a:pathLst>
                <a:path h="1520402" w="1482392">
                  <a:moveTo>
                    <a:pt x="0" y="0"/>
                  </a:moveTo>
                  <a:lnTo>
                    <a:pt x="1482392" y="0"/>
                  </a:lnTo>
                  <a:lnTo>
                    <a:pt x="1482392" y="1520402"/>
                  </a:lnTo>
                  <a:lnTo>
                    <a:pt x="0" y="15204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2" id="52"/>
            <p:cNvGrpSpPr/>
            <p:nvPr/>
          </p:nvGrpSpPr>
          <p:grpSpPr>
            <a:xfrm rot="0">
              <a:off x="598374" y="1137124"/>
              <a:ext cx="3061234" cy="744886"/>
              <a:chOff x="0" y="0"/>
              <a:chExt cx="797447" cy="194042"/>
            </a:xfrm>
          </p:grpSpPr>
          <p:sp>
            <p:nvSpPr>
              <p:cNvPr name="Freeform 53" id="53"/>
              <p:cNvSpPr/>
              <p:nvPr/>
            </p:nvSpPr>
            <p:spPr>
              <a:xfrm flipH="false" flipV="false" rot="0">
                <a:off x="0" y="0"/>
                <a:ext cx="797447" cy="194042"/>
              </a:xfrm>
              <a:custGeom>
                <a:avLst/>
                <a:gdLst/>
                <a:ahLst/>
                <a:cxnLst/>
                <a:rect r="r" b="b" t="t" l="l"/>
                <a:pathLst>
                  <a:path h="194042" w="797447">
                    <a:moveTo>
                      <a:pt x="97021" y="0"/>
                    </a:moveTo>
                    <a:lnTo>
                      <a:pt x="700426" y="0"/>
                    </a:lnTo>
                    <a:cubicBezTo>
                      <a:pt x="754009" y="0"/>
                      <a:pt x="797447" y="43438"/>
                      <a:pt x="797447" y="97021"/>
                    </a:cubicBezTo>
                    <a:lnTo>
                      <a:pt x="797447" y="97021"/>
                    </a:lnTo>
                    <a:cubicBezTo>
                      <a:pt x="797447" y="122752"/>
                      <a:pt x="787225" y="147430"/>
                      <a:pt x="769030" y="165625"/>
                    </a:cubicBezTo>
                    <a:cubicBezTo>
                      <a:pt x="750835" y="183820"/>
                      <a:pt x="726157" y="194042"/>
                      <a:pt x="700426" y="194042"/>
                    </a:cubicBezTo>
                    <a:lnTo>
                      <a:pt x="97021" y="194042"/>
                    </a:lnTo>
                    <a:cubicBezTo>
                      <a:pt x="43438" y="194042"/>
                      <a:pt x="0" y="150604"/>
                      <a:pt x="0" y="97021"/>
                    </a:cubicBezTo>
                    <a:lnTo>
                      <a:pt x="0" y="97021"/>
                    </a:lnTo>
                    <a:cubicBezTo>
                      <a:pt x="0" y="43438"/>
                      <a:pt x="43438" y="0"/>
                      <a:pt x="97021" y="0"/>
                    </a:cubicBezTo>
                    <a:close/>
                  </a:path>
                </a:pathLst>
              </a:custGeom>
              <a:solidFill>
                <a:srgbClr val="FFFFFF"/>
              </a:solidFill>
              <a:ln w="38100" cap="rnd">
                <a:solidFill>
                  <a:srgbClr val="000000"/>
                </a:solidFill>
                <a:prstDash val="solid"/>
                <a:round/>
              </a:ln>
            </p:spPr>
          </p:sp>
          <p:sp>
            <p:nvSpPr>
              <p:cNvPr name="TextBox 54" id="54"/>
              <p:cNvSpPr txBox="true"/>
              <p:nvPr/>
            </p:nvSpPr>
            <p:spPr>
              <a:xfrm>
                <a:off x="0" y="19050"/>
                <a:ext cx="797447" cy="174992"/>
              </a:xfrm>
              <a:prstGeom prst="rect">
                <a:avLst/>
              </a:prstGeom>
            </p:spPr>
            <p:txBody>
              <a:bodyPr anchor="ctr" rtlCol="false" tIns="50800" lIns="50800" bIns="50800" rIns="50800"/>
              <a:lstStyle/>
              <a:p>
                <a:pPr algn="ctr">
                  <a:lnSpc>
                    <a:spcPts val="2694"/>
                  </a:lnSpc>
                </a:pPr>
              </a:p>
            </p:txBody>
          </p:sp>
        </p:grpSp>
        <p:sp>
          <p:nvSpPr>
            <p:cNvPr name="TextBox 55" id="55"/>
            <p:cNvSpPr txBox="true"/>
            <p:nvPr/>
          </p:nvSpPr>
          <p:spPr>
            <a:xfrm rot="0">
              <a:off x="1182417" y="1182115"/>
              <a:ext cx="2288401" cy="534233"/>
            </a:xfrm>
            <a:prstGeom prst="rect">
              <a:avLst/>
            </a:prstGeom>
          </p:spPr>
          <p:txBody>
            <a:bodyPr anchor="t" rtlCol="false" tIns="0" lIns="0" bIns="0" rIns="0">
              <a:spAutoFit/>
            </a:bodyPr>
            <a:lstStyle/>
            <a:p>
              <a:pPr algn="l">
                <a:lnSpc>
                  <a:spcPts val="3283"/>
                </a:lnSpc>
              </a:pPr>
              <a:r>
                <a:rPr lang="en-US" sz="2525">
                  <a:solidFill>
                    <a:srgbClr val="000000"/>
                  </a:solidFill>
                  <a:latin typeface="ไอติม"/>
                  <a:ea typeface="ไอติม"/>
                  <a:cs typeface="ไอติม"/>
                  <a:sym typeface="ไอติม"/>
                </a:rPr>
                <a:t>จุดสำคัญ</a:t>
              </a:r>
            </a:p>
          </p:txBody>
        </p:sp>
        <p:sp>
          <p:nvSpPr>
            <p:cNvPr name="TextBox 56" id="56"/>
            <p:cNvSpPr txBox="true"/>
            <p:nvPr/>
          </p:nvSpPr>
          <p:spPr>
            <a:xfrm rot="0">
              <a:off x="598374" y="1480992"/>
              <a:ext cx="8932741" cy="2473392"/>
            </a:xfrm>
            <a:prstGeom prst="rect">
              <a:avLst/>
            </a:prstGeom>
          </p:spPr>
          <p:txBody>
            <a:bodyPr anchor="t" rtlCol="false" tIns="0" lIns="0" bIns="0" rIns="0">
              <a:spAutoFit/>
            </a:bodyPr>
            <a:lstStyle/>
            <a:p>
              <a:pPr algn="l">
                <a:lnSpc>
                  <a:spcPts val="2965"/>
                </a:lnSpc>
              </a:pPr>
            </a:p>
            <a:p>
              <a:pPr algn="l" marL="492554" indent="-246277" lvl="1">
                <a:lnSpc>
                  <a:spcPts val="2965"/>
                </a:lnSpc>
                <a:buFont typeface="Arial"/>
                <a:buChar char="•"/>
              </a:pPr>
              <a:r>
                <a:rPr lang="en-US" sz="2281">
                  <a:solidFill>
                    <a:srgbClr val="000000"/>
                  </a:solidFill>
                  <a:latin typeface="ไอติม"/>
                  <a:ea typeface="ไอติม"/>
                  <a:cs typeface="ไอติม"/>
                  <a:sym typeface="ไอติม"/>
                </a:rPr>
                <a:t>Exhaustiveness: ต้องครอบคลุมทุก Variant เสมอ </a:t>
              </a:r>
            </a:p>
            <a:p>
              <a:pPr algn="l">
                <a:lnSpc>
                  <a:spcPts val="2965"/>
                </a:lnSpc>
              </a:pPr>
              <a:r>
                <a:rPr lang="en-US" sz="2281">
                  <a:solidFill>
                    <a:srgbClr val="000000"/>
                  </a:solidFill>
                  <a:latin typeface="ไอติม"/>
                  <a:ea typeface="ไอติม"/>
                  <a:cs typeface="ไอติม"/>
                  <a:sym typeface="ไอติม"/>
                </a:rPr>
                <a:t>       </a:t>
              </a:r>
              <a:r>
                <a:rPr lang="en-US" sz="2281">
                  <a:solidFill>
                    <a:srgbClr val="000000"/>
                  </a:solidFill>
                  <a:latin typeface="ไอติม"/>
                  <a:ea typeface="ไอติม"/>
                  <a:cs typeface="ไอติม"/>
                  <a:sym typeface="ไอติม"/>
                </a:rPr>
                <a:t>หาก</a:t>
              </a:r>
              <a:r>
                <a:rPr lang="en-US" sz="2281" strike="noStrike" u="none">
                  <a:solidFill>
                    <a:srgbClr val="000000"/>
                  </a:solidFill>
                  <a:latin typeface="ไอติม"/>
                  <a:ea typeface="ไอติม"/>
                  <a:cs typeface="ไอติม"/>
                  <a:sym typeface="ไอติม"/>
                </a:rPr>
                <a:t>ไม่ครบ Compiler จะแจ้ง Error ทันที</a:t>
              </a:r>
            </a:p>
            <a:p>
              <a:pPr algn="l" marL="492554" indent="-246277" lvl="1">
                <a:lnSpc>
                  <a:spcPts val="2965"/>
                </a:lnSpc>
                <a:buFont typeface="Arial"/>
                <a:buChar char="•"/>
              </a:pPr>
              <a:r>
                <a:rPr lang="en-US" sz="2281" strike="noStrike" u="none">
                  <a:solidFill>
                    <a:srgbClr val="000000"/>
                  </a:solidFill>
                  <a:latin typeface="ไอติม"/>
                  <a:ea typeface="ไอติม"/>
                  <a:cs typeface="ไอติม"/>
                  <a:sym typeface="ไอติม"/>
                </a:rPr>
                <a:t>D</a:t>
              </a:r>
              <a:r>
                <a:rPr lang="en-US" sz="2281" strike="noStrike" u="none">
                  <a:solidFill>
                    <a:srgbClr val="000000"/>
                  </a:solidFill>
                  <a:latin typeface="ไอติม"/>
                  <a:ea typeface="ไอติม"/>
                  <a:cs typeface="ไอติม"/>
                  <a:sym typeface="ไอติม"/>
                </a:rPr>
                <a:t>estructuring: ดึงข้อมูลที่ซ่อนอยู่ใน Variant </a:t>
              </a:r>
            </a:p>
            <a:p>
              <a:pPr algn="l">
                <a:lnSpc>
                  <a:spcPts val="2965"/>
                </a:lnSpc>
              </a:pPr>
              <a:r>
                <a:rPr lang="en-US" sz="2281" strike="noStrike" u="none">
                  <a:solidFill>
                    <a:srgbClr val="000000"/>
                  </a:solidFill>
                  <a:latin typeface="ไอติม"/>
                  <a:ea typeface="ไอติม"/>
                  <a:cs typeface="ไอติม"/>
                  <a:sym typeface="ไอติม"/>
                </a:rPr>
                <a:t>        </a:t>
              </a:r>
              <a:r>
                <a:rPr lang="en-US" sz="2281" strike="noStrike" u="none">
                  <a:solidFill>
                    <a:srgbClr val="000000"/>
                  </a:solidFill>
                  <a:latin typeface="ไอติม"/>
                  <a:ea typeface="ไอติม"/>
                  <a:cs typeface="ไอติม"/>
                  <a:sym typeface="ไอติม"/>
                </a:rPr>
                <a:t>ออกมาเก็บในตัวแปรเพื่อนำไปใช้งานต่อได้ทันที</a:t>
              </a:r>
            </a:p>
          </p:txBody>
        </p:sp>
      </p:grpSp>
      <p:sp>
        <p:nvSpPr>
          <p:cNvPr name="Freeform 57" id="57"/>
          <p:cNvSpPr/>
          <p:nvPr/>
        </p:nvSpPr>
        <p:spPr>
          <a:xfrm flipH="false" flipV="false" rot="2864751">
            <a:off x="6676997" y="6686371"/>
            <a:ext cx="2283831" cy="1176173"/>
          </a:xfrm>
          <a:custGeom>
            <a:avLst/>
            <a:gdLst/>
            <a:ahLst/>
            <a:cxnLst/>
            <a:rect r="r" b="b" t="t" l="l"/>
            <a:pathLst>
              <a:path h="1176173" w="2283831">
                <a:moveTo>
                  <a:pt x="0" y="0"/>
                </a:moveTo>
                <a:lnTo>
                  <a:pt x="2283831" y="0"/>
                </a:lnTo>
                <a:lnTo>
                  <a:pt x="2283831" y="1176173"/>
                </a:lnTo>
                <a:lnTo>
                  <a:pt x="0" y="11761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8" id="58"/>
          <p:cNvSpPr txBox="true"/>
          <p:nvPr/>
        </p:nvSpPr>
        <p:spPr>
          <a:xfrm rot="0">
            <a:off x="808609" y="691040"/>
            <a:ext cx="9783304" cy="57684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PATT</a:t>
            </a:r>
            <a:r>
              <a:rPr lang="en-US" sz="4335">
                <a:solidFill>
                  <a:srgbClr val="000000"/>
                </a:solidFill>
                <a:latin typeface="ไอติม"/>
                <a:ea typeface="ไอติม"/>
                <a:cs typeface="ไอติม"/>
                <a:sym typeface="ไอติม"/>
              </a:rPr>
              <a:t>ERN MATCHING (MATCH) คืออะไร</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2168583" cy="1260003"/>
            <a:chOff x="0" y="0"/>
            <a:chExt cx="16224777" cy="1680004"/>
          </a:xfrm>
        </p:grpSpPr>
        <p:grpSp>
          <p:nvGrpSpPr>
            <p:cNvPr name="Group 15" id="15"/>
            <p:cNvGrpSpPr/>
            <p:nvPr/>
          </p:nvGrpSpPr>
          <p:grpSpPr>
            <a:xfrm rot="0">
              <a:off x="0" y="0"/>
              <a:ext cx="16224777" cy="1680004"/>
              <a:chOff x="0" y="0"/>
              <a:chExt cx="3443691" cy="356579"/>
            </a:xfrm>
          </p:grpSpPr>
          <p:sp>
            <p:nvSpPr>
              <p:cNvPr name="Freeform 16" id="16"/>
              <p:cNvSpPr/>
              <p:nvPr/>
            </p:nvSpPr>
            <p:spPr>
              <a:xfrm flipH="false" flipV="false" rot="0">
                <a:off x="0" y="0"/>
                <a:ext cx="3443691" cy="356579"/>
              </a:xfrm>
              <a:custGeom>
                <a:avLst/>
                <a:gdLst/>
                <a:ahLst/>
                <a:cxnLst/>
                <a:rect r="r" b="b" t="t" l="l"/>
                <a:pathLst>
                  <a:path h="356579" w="3443691">
                    <a:moveTo>
                      <a:pt x="63622" y="0"/>
                    </a:moveTo>
                    <a:lnTo>
                      <a:pt x="3380069" y="0"/>
                    </a:lnTo>
                    <a:cubicBezTo>
                      <a:pt x="3396943" y="0"/>
                      <a:pt x="3413125" y="6703"/>
                      <a:pt x="3425057" y="18635"/>
                    </a:cubicBezTo>
                    <a:cubicBezTo>
                      <a:pt x="3436988" y="30566"/>
                      <a:pt x="3443691" y="46749"/>
                      <a:pt x="3443691" y="63622"/>
                    </a:cubicBezTo>
                    <a:lnTo>
                      <a:pt x="3443691" y="292957"/>
                    </a:lnTo>
                    <a:cubicBezTo>
                      <a:pt x="3443691" y="328094"/>
                      <a:pt x="3415207" y="356579"/>
                      <a:pt x="3380069" y="356579"/>
                    </a:cubicBezTo>
                    <a:lnTo>
                      <a:pt x="63622" y="356579"/>
                    </a:lnTo>
                    <a:cubicBezTo>
                      <a:pt x="46749" y="356579"/>
                      <a:pt x="30566" y="349876"/>
                      <a:pt x="18635" y="337944"/>
                    </a:cubicBezTo>
                    <a:cubicBezTo>
                      <a:pt x="6703" y="326013"/>
                      <a:pt x="0" y="309830"/>
                      <a:pt x="0" y="292957"/>
                    </a:cubicBezTo>
                    <a:lnTo>
                      <a:pt x="0" y="63622"/>
                    </a:lnTo>
                    <a:cubicBezTo>
                      <a:pt x="0" y="28485"/>
                      <a:pt x="28485" y="0"/>
                      <a:pt x="63622" y="0"/>
                    </a:cubicBezTo>
                    <a:close/>
                  </a:path>
                </a:pathLst>
              </a:custGeom>
              <a:solidFill>
                <a:srgbClr val="FFE88B"/>
              </a:solidFill>
              <a:ln w="38100" cap="rnd">
                <a:solidFill>
                  <a:srgbClr val="000000"/>
                </a:solidFill>
                <a:prstDash val="solid"/>
                <a:round/>
              </a:ln>
            </p:spPr>
          </p:sp>
          <p:sp>
            <p:nvSpPr>
              <p:cNvPr name="TextBox 17" id="17"/>
              <p:cNvSpPr txBox="true"/>
              <p:nvPr/>
            </p:nvSpPr>
            <p:spPr>
              <a:xfrm>
                <a:off x="0" y="19050"/>
                <a:ext cx="3443691" cy="337529"/>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755597" y="473619"/>
              <a:ext cx="14733772" cy="79452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CONCISE</a:t>
              </a:r>
              <a:r>
                <a:rPr lang="en-US" sz="4335">
                  <a:solidFill>
                    <a:srgbClr val="000000"/>
                  </a:solidFill>
                  <a:latin typeface="ไอติม"/>
                  <a:ea typeface="ไอติม"/>
                  <a:cs typeface="ไอติม"/>
                  <a:sym typeface="ไอติม"/>
                </a:rPr>
                <a:t> CONTROL FLOW ด้วย IF LET คืออะไร</a:t>
              </a:r>
            </a:p>
          </p:txBody>
        </p:sp>
      </p:grpSp>
      <p:grpSp>
        <p:nvGrpSpPr>
          <p:cNvPr name="Group 19" id="19"/>
          <p:cNvGrpSpPr/>
          <p:nvPr/>
        </p:nvGrpSpPr>
        <p:grpSpPr>
          <a:xfrm rot="0">
            <a:off x="476616" y="1703281"/>
            <a:ext cx="16954470" cy="1511373"/>
            <a:chOff x="0" y="0"/>
            <a:chExt cx="22605959" cy="2015164"/>
          </a:xfrm>
        </p:grpSpPr>
        <p:grpSp>
          <p:nvGrpSpPr>
            <p:cNvPr name="Group 20" id="20"/>
            <p:cNvGrpSpPr/>
            <p:nvPr/>
          </p:nvGrpSpPr>
          <p:grpSpPr>
            <a:xfrm rot="0">
              <a:off x="0" y="613960"/>
              <a:ext cx="21103434" cy="1401204"/>
              <a:chOff x="0" y="0"/>
              <a:chExt cx="4168580" cy="276781"/>
            </a:xfrm>
          </p:grpSpPr>
          <p:sp>
            <p:nvSpPr>
              <p:cNvPr name="Freeform 21" id="21"/>
              <p:cNvSpPr/>
              <p:nvPr/>
            </p:nvSpPr>
            <p:spPr>
              <a:xfrm flipH="false" flipV="false" rot="0">
                <a:off x="0" y="0"/>
                <a:ext cx="4168580" cy="276781"/>
              </a:xfrm>
              <a:custGeom>
                <a:avLst/>
                <a:gdLst/>
                <a:ahLst/>
                <a:cxnLst/>
                <a:rect r="r" b="b" t="t" l="l"/>
                <a:pathLst>
                  <a:path h="276781" w="4168580">
                    <a:moveTo>
                      <a:pt x="0" y="0"/>
                    </a:moveTo>
                    <a:lnTo>
                      <a:pt x="4168580" y="0"/>
                    </a:lnTo>
                    <a:lnTo>
                      <a:pt x="4168580" y="276781"/>
                    </a:lnTo>
                    <a:lnTo>
                      <a:pt x="0" y="276781"/>
                    </a:lnTo>
                    <a:close/>
                  </a:path>
                </a:pathLst>
              </a:custGeom>
              <a:solidFill>
                <a:srgbClr val="FFFFFF"/>
              </a:solidFill>
              <a:ln w="38100" cap="sq">
                <a:solidFill>
                  <a:srgbClr val="000000"/>
                </a:solidFill>
                <a:prstDash val="solid"/>
                <a:miter/>
              </a:ln>
            </p:spPr>
          </p:sp>
          <p:sp>
            <p:nvSpPr>
              <p:cNvPr name="TextBox 22" id="22"/>
              <p:cNvSpPr txBox="true"/>
              <p:nvPr/>
            </p:nvSpPr>
            <p:spPr>
              <a:xfrm>
                <a:off x="0" y="28575"/>
                <a:ext cx="4168580" cy="248206"/>
              </a:xfrm>
              <a:prstGeom prst="rect">
                <a:avLst/>
              </a:prstGeom>
            </p:spPr>
            <p:txBody>
              <a:bodyPr anchor="ctr" rtlCol="false" tIns="50800" lIns="50800" bIns="50800" rIns="50800"/>
              <a:lstStyle/>
              <a:p>
                <a:pPr algn="l">
                  <a:lnSpc>
                    <a:spcPts val="4399"/>
                  </a:lnSpc>
                </a:pPr>
              </a:p>
            </p:txBody>
          </p:sp>
        </p:grpSp>
        <p:sp>
          <p:nvSpPr>
            <p:cNvPr name="TextBox 23" id="23"/>
            <p:cNvSpPr txBox="true"/>
            <p:nvPr/>
          </p:nvSpPr>
          <p:spPr>
            <a:xfrm rot="0">
              <a:off x="328576" y="1127086"/>
              <a:ext cx="22277383" cy="5907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Syn</a:t>
              </a:r>
              <a:r>
                <a:rPr lang="en-US" sz="2800" strike="noStrike" u="none">
                  <a:solidFill>
                    <a:srgbClr val="000000"/>
                  </a:solidFill>
                  <a:latin typeface="ไอติม"/>
                  <a:ea typeface="ไอติม"/>
                  <a:cs typeface="ไอติม"/>
                  <a:sym typeface="ไอติม"/>
                </a:rPr>
                <a:t>tax Sugar ที่ช่วยย่อรูปคำสั่ง match สำหรับกรณีที่เราสนใจจัดการ "เพียงกรณีเดียว" จาก Enum ที่มีหลายกรณี</a:t>
              </a:r>
            </a:p>
          </p:txBody>
        </p:sp>
        <p:grpSp>
          <p:nvGrpSpPr>
            <p:cNvPr name="Group 24" id="24"/>
            <p:cNvGrpSpPr/>
            <p:nvPr/>
          </p:nvGrpSpPr>
          <p:grpSpPr>
            <a:xfrm rot="0">
              <a:off x="0" y="0"/>
              <a:ext cx="3550934" cy="1056164"/>
              <a:chOff x="0" y="0"/>
              <a:chExt cx="753682" cy="224170"/>
            </a:xfrm>
          </p:grpSpPr>
          <p:sp>
            <p:nvSpPr>
              <p:cNvPr name="Freeform 25" id="25"/>
              <p:cNvSpPr/>
              <p:nvPr/>
            </p:nvSpPr>
            <p:spPr>
              <a:xfrm flipH="false" flipV="false" rot="0">
                <a:off x="0" y="0"/>
                <a:ext cx="753682" cy="224170"/>
              </a:xfrm>
              <a:custGeom>
                <a:avLst/>
                <a:gdLst/>
                <a:ahLst/>
                <a:cxnLst/>
                <a:rect r="r" b="b" t="t" l="l"/>
                <a:pathLst>
                  <a:path h="224170" w="753682">
                    <a:moveTo>
                      <a:pt x="112085" y="0"/>
                    </a:moveTo>
                    <a:lnTo>
                      <a:pt x="641597" y="0"/>
                    </a:lnTo>
                    <a:cubicBezTo>
                      <a:pt x="671324" y="0"/>
                      <a:pt x="699833" y="11809"/>
                      <a:pt x="720853" y="32829"/>
                    </a:cubicBezTo>
                    <a:cubicBezTo>
                      <a:pt x="741873" y="53849"/>
                      <a:pt x="753682" y="82358"/>
                      <a:pt x="753682" y="112085"/>
                    </a:cubicBezTo>
                    <a:lnTo>
                      <a:pt x="753682" y="112085"/>
                    </a:lnTo>
                    <a:cubicBezTo>
                      <a:pt x="753682" y="141812"/>
                      <a:pt x="741873" y="170321"/>
                      <a:pt x="720853" y="191341"/>
                    </a:cubicBezTo>
                    <a:cubicBezTo>
                      <a:pt x="699833" y="212361"/>
                      <a:pt x="671324" y="224170"/>
                      <a:pt x="641597" y="224170"/>
                    </a:cubicBezTo>
                    <a:lnTo>
                      <a:pt x="112085" y="224170"/>
                    </a:lnTo>
                    <a:cubicBezTo>
                      <a:pt x="82358" y="224170"/>
                      <a:pt x="53849" y="212361"/>
                      <a:pt x="32829" y="191341"/>
                    </a:cubicBezTo>
                    <a:cubicBezTo>
                      <a:pt x="11809" y="170321"/>
                      <a:pt x="0" y="141812"/>
                      <a:pt x="0" y="112085"/>
                    </a:cubicBezTo>
                    <a:lnTo>
                      <a:pt x="0" y="112085"/>
                    </a:lnTo>
                    <a:cubicBezTo>
                      <a:pt x="0" y="82358"/>
                      <a:pt x="11809" y="53849"/>
                      <a:pt x="32829" y="32829"/>
                    </a:cubicBezTo>
                    <a:cubicBezTo>
                      <a:pt x="53849" y="11809"/>
                      <a:pt x="82358" y="0"/>
                      <a:pt x="112085" y="0"/>
                    </a:cubicBezTo>
                    <a:close/>
                  </a:path>
                </a:pathLst>
              </a:custGeom>
              <a:solidFill>
                <a:srgbClr val="FFD9E1"/>
              </a:solidFill>
              <a:ln w="38100" cap="rnd">
                <a:solidFill>
                  <a:srgbClr val="000000"/>
                </a:solidFill>
                <a:prstDash val="solid"/>
                <a:round/>
              </a:ln>
            </p:spPr>
          </p:sp>
          <p:sp>
            <p:nvSpPr>
              <p:cNvPr name="TextBox 26" id="26"/>
              <p:cNvSpPr txBox="true"/>
              <p:nvPr/>
            </p:nvSpPr>
            <p:spPr>
              <a:xfrm>
                <a:off x="0" y="19050"/>
                <a:ext cx="753682" cy="205120"/>
              </a:xfrm>
              <a:prstGeom prst="rect">
                <a:avLst/>
              </a:prstGeom>
            </p:spPr>
            <p:txBody>
              <a:bodyPr anchor="ctr" rtlCol="false" tIns="50800" lIns="50800" bIns="50800" rIns="50800"/>
              <a:lstStyle/>
              <a:p>
                <a:pPr algn="ctr">
                  <a:lnSpc>
                    <a:spcPts val="2694"/>
                  </a:lnSpc>
                </a:pPr>
              </a:p>
            </p:txBody>
          </p:sp>
        </p:grpSp>
        <p:sp>
          <p:nvSpPr>
            <p:cNvPr name="TextBox 27" id="27"/>
            <p:cNvSpPr txBox="true"/>
            <p:nvPr/>
          </p:nvSpPr>
          <p:spPr>
            <a:xfrm rot="0">
              <a:off x="455621" y="208568"/>
              <a:ext cx="3095314" cy="659477"/>
            </a:xfrm>
            <a:prstGeom prst="rect">
              <a:avLst/>
            </a:prstGeom>
          </p:spPr>
          <p:txBody>
            <a:bodyPr anchor="t" rtlCol="false" tIns="0" lIns="0" bIns="0" rIns="0">
              <a:spAutoFit/>
            </a:bodyPr>
            <a:lstStyle/>
            <a:p>
              <a:pPr algn="l" marL="0" indent="0" lvl="0">
                <a:lnSpc>
                  <a:spcPts val="3535"/>
                </a:lnSpc>
                <a:spcBef>
                  <a:spcPct val="0"/>
                </a:spcBef>
              </a:pPr>
              <a:r>
                <a:rPr lang="en-US" sz="3535">
                  <a:solidFill>
                    <a:srgbClr val="000000"/>
                  </a:solidFill>
                  <a:latin typeface="ไอติม"/>
                  <a:ea typeface="ไอติม"/>
                  <a:cs typeface="ไอติม"/>
                  <a:sym typeface="ไอติม"/>
                </a:rPr>
                <a:t>ความหมาย</a:t>
              </a:r>
            </a:p>
          </p:txBody>
        </p:sp>
      </p:grpSp>
      <p:grpSp>
        <p:nvGrpSpPr>
          <p:cNvPr name="Group 28" id="28"/>
          <p:cNvGrpSpPr/>
          <p:nvPr/>
        </p:nvGrpSpPr>
        <p:grpSpPr>
          <a:xfrm rot="0">
            <a:off x="476616" y="3348004"/>
            <a:ext cx="9932788" cy="1995146"/>
            <a:chOff x="0" y="0"/>
            <a:chExt cx="13243717" cy="2660194"/>
          </a:xfrm>
        </p:grpSpPr>
        <p:grpSp>
          <p:nvGrpSpPr>
            <p:cNvPr name="Group 29" id="29"/>
            <p:cNvGrpSpPr/>
            <p:nvPr/>
          </p:nvGrpSpPr>
          <p:grpSpPr>
            <a:xfrm rot="0">
              <a:off x="0" y="507926"/>
              <a:ext cx="12246904" cy="2152268"/>
              <a:chOff x="0" y="0"/>
              <a:chExt cx="2419142" cy="425139"/>
            </a:xfrm>
          </p:grpSpPr>
          <p:sp>
            <p:nvSpPr>
              <p:cNvPr name="Freeform 30" id="30"/>
              <p:cNvSpPr/>
              <p:nvPr/>
            </p:nvSpPr>
            <p:spPr>
              <a:xfrm flipH="false" flipV="false" rot="0">
                <a:off x="0" y="0"/>
                <a:ext cx="2419141" cy="425139"/>
              </a:xfrm>
              <a:custGeom>
                <a:avLst/>
                <a:gdLst/>
                <a:ahLst/>
                <a:cxnLst/>
                <a:rect r="r" b="b" t="t" l="l"/>
                <a:pathLst>
                  <a:path h="425139" w="2419141">
                    <a:moveTo>
                      <a:pt x="0" y="0"/>
                    </a:moveTo>
                    <a:lnTo>
                      <a:pt x="2419141" y="0"/>
                    </a:lnTo>
                    <a:lnTo>
                      <a:pt x="2419141" y="425139"/>
                    </a:lnTo>
                    <a:lnTo>
                      <a:pt x="0" y="425139"/>
                    </a:lnTo>
                    <a:close/>
                  </a:path>
                </a:pathLst>
              </a:custGeom>
              <a:solidFill>
                <a:srgbClr val="FFFFFF"/>
              </a:solidFill>
              <a:ln w="38100" cap="sq">
                <a:solidFill>
                  <a:srgbClr val="000000"/>
                </a:solidFill>
                <a:prstDash val="solid"/>
                <a:miter/>
              </a:ln>
            </p:spPr>
          </p:sp>
          <p:sp>
            <p:nvSpPr>
              <p:cNvPr name="TextBox 31" id="31"/>
              <p:cNvSpPr txBox="true"/>
              <p:nvPr/>
            </p:nvSpPr>
            <p:spPr>
              <a:xfrm>
                <a:off x="0" y="28575"/>
                <a:ext cx="2419142" cy="396564"/>
              </a:xfrm>
              <a:prstGeom prst="rect">
                <a:avLst/>
              </a:prstGeom>
            </p:spPr>
            <p:txBody>
              <a:bodyPr anchor="ctr" rtlCol="false" tIns="50800" lIns="50800" bIns="50800" rIns="50800"/>
              <a:lstStyle/>
              <a:p>
                <a:pPr algn="l">
                  <a:lnSpc>
                    <a:spcPts val="4399"/>
                  </a:lnSpc>
                </a:pPr>
              </a:p>
            </p:txBody>
          </p:sp>
        </p:grpSp>
        <p:sp>
          <p:nvSpPr>
            <p:cNvPr name="TextBox 32" id="32"/>
            <p:cNvSpPr txBox="true"/>
            <p:nvPr/>
          </p:nvSpPr>
          <p:spPr>
            <a:xfrm rot="0">
              <a:off x="509344" y="1176177"/>
              <a:ext cx="12734374" cy="1249468"/>
            </a:xfrm>
            <a:prstGeom prst="rect">
              <a:avLst/>
            </a:prstGeom>
          </p:spPr>
          <p:txBody>
            <a:bodyPr anchor="t" rtlCol="false" tIns="0" lIns="0" bIns="0" rIns="0">
              <a:spAutoFit/>
            </a:bodyPr>
            <a:lstStyle/>
            <a:p>
              <a:pPr algn="l" marL="0" indent="0" lvl="0">
                <a:lnSpc>
                  <a:spcPts val="3770"/>
                </a:lnSpc>
              </a:pPr>
              <a:r>
                <a:rPr lang="en-US" sz="2900">
                  <a:solidFill>
                    <a:srgbClr val="000000"/>
                  </a:solidFill>
                  <a:latin typeface="ไอติม"/>
                  <a:ea typeface="ไอติม"/>
                  <a:cs typeface="ไอติม"/>
                  <a:sym typeface="ไอติม"/>
                </a:rPr>
                <a:t>เพื่อลดความซ้ำซ</a:t>
              </a:r>
              <a:r>
                <a:rPr lang="en-US" sz="2900" strike="noStrike" u="none">
                  <a:solidFill>
                    <a:srgbClr val="000000"/>
                  </a:solidFill>
                  <a:latin typeface="ไอติม"/>
                  <a:ea typeface="ไอติม"/>
                  <a:cs typeface="ไอติม"/>
                  <a:sym typeface="ไอติม"/>
                </a:rPr>
                <a:t>้อนและความยาวของโค้ด (Boilerplate) เมื่อต้องการตรวจสอบและทำงานกับ Variant เพียงตัวเดียว</a:t>
              </a:r>
            </a:p>
          </p:txBody>
        </p:sp>
        <p:grpSp>
          <p:nvGrpSpPr>
            <p:cNvPr name="Group 33" id="33"/>
            <p:cNvGrpSpPr/>
            <p:nvPr/>
          </p:nvGrpSpPr>
          <p:grpSpPr>
            <a:xfrm rot="0">
              <a:off x="0" y="0"/>
              <a:ext cx="4855279" cy="1015852"/>
              <a:chOff x="0" y="0"/>
              <a:chExt cx="1030528" cy="215613"/>
            </a:xfrm>
          </p:grpSpPr>
          <p:sp>
            <p:nvSpPr>
              <p:cNvPr name="Freeform 34" id="34"/>
              <p:cNvSpPr/>
              <p:nvPr/>
            </p:nvSpPr>
            <p:spPr>
              <a:xfrm flipH="false" flipV="false" rot="0">
                <a:off x="0" y="0"/>
                <a:ext cx="1030528" cy="215613"/>
              </a:xfrm>
              <a:custGeom>
                <a:avLst/>
                <a:gdLst/>
                <a:ahLst/>
                <a:cxnLst/>
                <a:rect r="r" b="b" t="t" l="l"/>
                <a:pathLst>
                  <a:path h="215613" w="1030528">
                    <a:moveTo>
                      <a:pt x="107807" y="0"/>
                    </a:moveTo>
                    <a:lnTo>
                      <a:pt x="922721" y="0"/>
                    </a:lnTo>
                    <a:cubicBezTo>
                      <a:pt x="951313" y="0"/>
                      <a:pt x="978734" y="11358"/>
                      <a:pt x="998952" y="31576"/>
                    </a:cubicBezTo>
                    <a:cubicBezTo>
                      <a:pt x="1019169" y="51794"/>
                      <a:pt x="1030528" y="79215"/>
                      <a:pt x="1030528" y="107807"/>
                    </a:cubicBezTo>
                    <a:lnTo>
                      <a:pt x="1030528" y="107807"/>
                    </a:lnTo>
                    <a:cubicBezTo>
                      <a:pt x="1030528" y="136399"/>
                      <a:pt x="1019169" y="163820"/>
                      <a:pt x="998952" y="184038"/>
                    </a:cubicBezTo>
                    <a:cubicBezTo>
                      <a:pt x="978734" y="204255"/>
                      <a:pt x="951313" y="215613"/>
                      <a:pt x="922721" y="215613"/>
                    </a:cubicBezTo>
                    <a:lnTo>
                      <a:pt x="107807" y="215613"/>
                    </a:lnTo>
                    <a:cubicBezTo>
                      <a:pt x="79215" y="215613"/>
                      <a:pt x="51794" y="204255"/>
                      <a:pt x="31576" y="184038"/>
                    </a:cubicBezTo>
                    <a:cubicBezTo>
                      <a:pt x="11358" y="163820"/>
                      <a:pt x="0" y="136399"/>
                      <a:pt x="0" y="107807"/>
                    </a:cubicBezTo>
                    <a:lnTo>
                      <a:pt x="0" y="107807"/>
                    </a:lnTo>
                    <a:cubicBezTo>
                      <a:pt x="0" y="79215"/>
                      <a:pt x="11358" y="51794"/>
                      <a:pt x="31576" y="31576"/>
                    </a:cubicBezTo>
                    <a:cubicBezTo>
                      <a:pt x="51794" y="11358"/>
                      <a:pt x="79215" y="0"/>
                      <a:pt x="107807" y="0"/>
                    </a:cubicBezTo>
                    <a:close/>
                  </a:path>
                </a:pathLst>
              </a:custGeom>
              <a:solidFill>
                <a:srgbClr val="D1EAFF"/>
              </a:solidFill>
              <a:ln w="38100" cap="rnd">
                <a:solidFill>
                  <a:srgbClr val="000000"/>
                </a:solidFill>
                <a:prstDash val="solid"/>
                <a:round/>
              </a:ln>
            </p:spPr>
          </p:sp>
          <p:sp>
            <p:nvSpPr>
              <p:cNvPr name="TextBox 35" id="35"/>
              <p:cNvSpPr txBox="true"/>
              <p:nvPr/>
            </p:nvSpPr>
            <p:spPr>
              <a:xfrm>
                <a:off x="0" y="19050"/>
                <a:ext cx="1030528" cy="196563"/>
              </a:xfrm>
              <a:prstGeom prst="rect">
                <a:avLst/>
              </a:prstGeom>
            </p:spPr>
            <p:txBody>
              <a:bodyPr anchor="ctr" rtlCol="false" tIns="50800" lIns="50800" bIns="50800" rIns="50800"/>
              <a:lstStyle/>
              <a:p>
                <a:pPr algn="ctr">
                  <a:lnSpc>
                    <a:spcPts val="2694"/>
                  </a:lnSpc>
                </a:pPr>
              </a:p>
            </p:txBody>
          </p:sp>
        </p:grpSp>
        <p:sp>
          <p:nvSpPr>
            <p:cNvPr name="TextBox 36" id="36"/>
            <p:cNvSpPr txBox="true"/>
            <p:nvPr/>
          </p:nvSpPr>
          <p:spPr>
            <a:xfrm rot="0">
              <a:off x="509344" y="188134"/>
              <a:ext cx="3934987" cy="598517"/>
            </a:xfrm>
            <a:prstGeom prst="rect">
              <a:avLst/>
            </a:prstGeom>
          </p:spPr>
          <p:txBody>
            <a:bodyPr anchor="t" rtlCol="false" tIns="0" lIns="0" bIns="0" rIns="0">
              <a:spAutoFit/>
            </a:bodyPr>
            <a:lstStyle/>
            <a:p>
              <a:pPr algn="l" marL="0" indent="0" lvl="0">
                <a:lnSpc>
                  <a:spcPts val="3235"/>
                </a:lnSpc>
                <a:spcBef>
                  <a:spcPct val="0"/>
                </a:spcBef>
              </a:pPr>
              <a:r>
                <a:rPr lang="en-US" sz="3235">
                  <a:solidFill>
                    <a:srgbClr val="000000"/>
                  </a:solidFill>
                  <a:latin typeface="ไอติม"/>
                  <a:ea typeface="ไอติม"/>
                  <a:cs typeface="ไอติม"/>
                  <a:sym typeface="ไอติม"/>
                </a:rPr>
                <a:t>เหตุผลที่ออกแบบ</a:t>
              </a:r>
            </a:p>
          </p:txBody>
        </p:sp>
      </p:grpSp>
      <p:grpSp>
        <p:nvGrpSpPr>
          <p:cNvPr name="Group 37" id="37"/>
          <p:cNvGrpSpPr/>
          <p:nvPr/>
        </p:nvGrpSpPr>
        <p:grpSpPr>
          <a:xfrm rot="0">
            <a:off x="476616" y="5466974"/>
            <a:ext cx="9903044" cy="1775410"/>
            <a:chOff x="0" y="0"/>
            <a:chExt cx="13204058" cy="2367213"/>
          </a:xfrm>
        </p:grpSpPr>
        <p:grpSp>
          <p:nvGrpSpPr>
            <p:cNvPr name="Group 38" id="38"/>
            <p:cNvGrpSpPr/>
            <p:nvPr/>
          </p:nvGrpSpPr>
          <p:grpSpPr>
            <a:xfrm rot="0">
              <a:off x="113644" y="244166"/>
              <a:ext cx="13090414" cy="2123047"/>
              <a:chOff x="0" y="0"/>
              <a:chExt cx="2585761" cy="419367"/>
            </a:xfrm>
          </p:grpSpPr>
          <p:sp>
            <p:nvSpPr>
              <p:cNvPr name="Freeform 39" id="39"/>
              <p:cNvSpPr/>
              <p:nvPr/>
            </p:nvSpPr>
            <p:spPr>
              <a:xfrm flipH="false" flipV="false" rot="0">
                <a:off x="0" y="0"/>
                <a:ext cx="2585761" cy="419367"/>
              </a:xfrm>
              <a:custGeom>
                <a:avLst/>
                <a:gdLst/>
                <a:ahLst/>
                <a:cxnLst/>
                <a:rect r="r" b="b" t="t" l="l"/>
                <a:pathLst>
                  <a:path h="419367" w="2585761">
                    <a:moveTo>
                      <a:pt x="0" y="0"/>
                    </a:moveTo>
                    <a:lnTo>
                      <a:pt x="2585761" y="0"/>
                    </a:lnTo>
                    <a:lnTo>
                      <a:pt x="2585761" y="419367"/>
                    </a:lnTo>
                    <a:lnTo>
                      <a:pt x="0" y="419367"/>
                    </a:lnTo>
                    <a:close/>
                  </a:path>
                </a:pathLst>
              </a:custGeom>
              <a:solidFill>
                <a:srgbClr val="FFFFFF"/>
              </a:solidFill>
              <a:ln w="38100" cap="sq">
                <a:solidFill>
                  <a:srgbClr val="000000"/>
                </a:solidFill>
                <a:prstDash val="solid"/>
                <a:miter/>
              </a:ln>
            </p:spPr>
          </p:sp>
          <p:sp>
            <p:nvSpPr>
              <p:cNvPr name="TextBox 40" id="40"/>
              <p:cNvSpPr txBox="true"/>
              <p:nvPr/>
            </p:nvSpPr>
            <p:spPr>
              <a:xfrm>
                <a:off x="0" y="28575"/>
                <a:ext cx="2585761" cy="390792"/>
              </a:xfrm>
              <a:prstGeom prst="rect">
                <a:avLst/>
              </a:prstGeom>
            </p:spPr>
            <p:txBody>
              <a:bodyPr anchor="ctr" rtlCol="false" tIns="50800" lIns="50800" bIns="50800" rIns="50800"/>
              <a:lstStyle/>
              <a:p>
                <a:pPr algn="l">
                  <a:lnSpc>
                    <a:spcPts val="4399"/>
                  </a:lnSpc>
                </a:pPr>
              </a:p>
            </p:txBody>
          </p:sp>
        </p:grpSp>
        <p:sp>
          <p:nvSpPr>
            <p:cNvPr name="TextBox 41" id="41"/>
            <p:cNvSpPr txBox="true"/>
            <p:nvPr/>
          </p:nvSpPr>
          <p:spPr>
            <a:xfrm rot="0">
              <a:off x="343716" y="994174"/>
              <a:ext cx="12630269" cy="12003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ตัดปัญหา</a:t>
              </a:r>
              <a:r>
                <a:rPr lang="en-US" sz="2800" strike="noStrike" u="none">
                  <a:solidFill>
                    <a:srgbClr val="000000"/>
                  </a:solidFill>
                  <a:latin typeface="ไอติม"/>
                  <a:ea typeface="ไอติม"/>
                  <a:cs typeface="ไอติม"/>
                  <a:sym typeface="ไอติม"/>
                </a:rPr>
                <a:t>โค้ดที่ยาวเกินความจำเป็นจากการเขียน match เต็มรูปแบบ </a:t>
              </a:r>
            </a:p>
            <a:p>
              <a:pPr algn="l" marL="0" indent="0" lvl="0">
                <a:lnSpc>
                  <a:spcPts val="3640"/>
                </a:lnSpc>
              </a:pPr>
              <a:r>
                <a:rPr lang="en-US" sz="2800" strike="noStrike" u="none">
                  <a:solidFill>
                    <a:srgbClr val="000000"/>
                  </a:solidFill>
                  <a:latin typeface="ไอติม"/>
                  <a:ea typeface="ไอติม"/>
                  <a:cs typeface="ไอติม"/>
                  <a:sym typeface="ไอติม"/>
                </a:rPr>
                <a:t>แล้วต้องมาคอยเขียน _ =&gt; () เพื่อดักกรณีอื่น ๆ ที่ไม่ได้ใช้งาน</a:t>
              </a:r>
            </a:p>
          </p:txBody>
        </p:sp>
        <p:grpSp>
          <p:nvGrpSpPr>
            <p:cNvPr name="Group 42" id="42"/>
            <p:cNvGrpSpPr/>
            <p:nvPr/>
          </p:nvGrpSpPr>
          <p:grpSpPr>
            <a:xfrm rot="0">
              <a:off x="0" y="0"/>
              <a:ext cx="4449448" cy="928676"/>
              <a:chOff x="0" y="0"/>
              <a:chExt cx="944390" cy="197111"/>
            </a:xfrm>
          </p:grpSpPr>
          <p:sp>
            <p:nvSpPr>
              <p:cNvPr name="Freeform 43" id="43"/>
              <p:cNvSpPr/>
              <p:nvPr/>
            </p:nvSpPr>
            <p:spPr>
              <a:xfrm flipH="false" flipV="false" rot="0">
                <a:off x="0" y="0"/>
                <a:ext cx="944390" cy="197111"/>
              </a:xfrm>
              <a:custGeom>
                <a:avLst/>
                <a:gdLst/>
                <a:ahLst/>
                <a:cxnLst/>
                <a:rect r="r" b="b" t="t" l="l"/>
                <a:pathLst>
                  <a:path h="197111" w="944390">
                    <a:moveTo>
                      <a:pt x="98555" y="0"/>
                    </a:moveTo>
                    <a:lnTo>
                      <a:pt x="845835" y="0"/>
                    </a:lnTo>
                    <a:cubicBezTo>
                      <a:pt x="871974" y="0"/>
                      <a:pt x="897042" y="10383"/>
                      <a:pt x="915524" y="28866"/>
                    </a:cubicBezTo>
                    <a:cubicBezTo>
                      <a:pt x="934007" y="47349"/>
                      <a:pt x="944390" y="72417"/>
                      <a:pt x="944390" y="98555"/>
                    </a:cubicBezTo>
                    <a:lnTo>
                      <a:pt x="944390" y="98555"/>
                    </a:lnTo>
                    <a:cubicBezTo>
                      <a:pt x="944390" y="124694"/>
                      <a:pt x="934007" y="149762"/>
                      <a:pt x="915524" y="168244"/>
                    </a:cubicBezTo>
                    <a:cubicBezTo>
                      <a:pt x="897042" y="186727"/>
                      <a:pt x="871974" y="197111"/>
                      <a:pt x="845835" y="197111"/>
                    </a:cubicBezTo>
                    <a:lnTo>
                      <a:pt x="98555" y="197111"/>
                    </a:lnTo>
                    <a:cubicBezTo>
                      <a:pt x="72417" y="197111"/>
                      <a:pt x="47349" y="186727"/>
                      <a:pt x="28866" y="168244"/>
                    </a:cubicBezTo>
                    <a:cubicBezTo>
                      <a:pt x="10383" y="149762"/>
                      <a:pt x="0" y="124694"/>
                      <a:pt x="0" y="98555"/>
                    </a:cubicBezTo>
                    <a:lnTo>
                      <a:pt x="0" y="98555"/>
                    </a:lnTo>
                    <a:cubicBezTo>
                      <a:pt x="0" y="72417"/>
                      <a:pt x="10383" y="47349"/>
                      <a:pt x="28866" y="28866"/>
                    </a:cubicBezTo>
                    <a:cubicBezTo>
                      <a:pt x="47349" y="10383"/>
                      <a:pt x="72417" y="0"/>
                      <a:pt x="98555" y="0"/>
                    </a:cubicBezTo>
                    <a:close/>
                  </a:path>
                </a:pathLst>
              </a:custGeom>
              <a:solidFill>
                <a:srgbClr val="FED7AE"/>
              </a:solidFill>
              <a:ln w="38100" cap="rnd">
                <a:solidFill>
                  <a:srgbClr val="000000"/>
                </a:solidFill>
                <a:prstDash val="solid"/>
                <a:round/>
              </a:ln>
            </p:spPr>
          </p:sp>
          <p:sp>
            <p:nvSpPr>
              <p:cNvPr name="TextBox 44" id="44"/>
              <p:cNvSpPr txBox="true"/>
              <p:nvPr/>
            </p:nvSpPr>
            <p:spPr>
              <a:xfrm>
                <a:off x="0" y="19050"/>
                <a:ext cx="944390" cy="178061"/>
              </a:xfrm>
              <a:prstGeom prst="rect">
                <a:avLst/>
              </a:prstGeom>
            </p:spPr>
            <p:txBody>
              <a:bodyPr anchor="ctr" rtlCol="false" tIns="50800" lIns="50800" bIns="50800" rIns="50800"/>
              <a:lstStyle/>
              <a:p>
                <a:pPr algn="ctr">
                  <a:lnSpc>
                    <a:spcPts val="2694"/>
                  </a:lnSpc>
                </a:pPr>
              </a:p>
            </p:txBody>
          </p:sp>
        </p:grpSp>
        <p:sp>
          <p:nvSpPr>
            <p:cNvPr name="TextBox 45" id="45"/>
            <p:cNvSpPr txBox="true"/>
            <p:nvPr/>
          </p:nvSpPr>
          <p:spPr>
            <a:xfrm rot="0">
              <a:off x="490185" y="185611"/>
              <a:ext cx="3352912" cy="614604"/>
            </a:xfrm>
            <a:prstGeom prst="rect">
              <a:avLst/>
            </a:prstGeom>
          </p:spPr>
          <p:txBody>
            <a:bodyPr anchor="t" rtlCol="false" tIns="0" lIns="0" bIns="0" rIns="0">
              <a:spAutoFit/>
            </a:bodyPr>
            <a:lstStyle/>
            <a:p>
              <a:pPr algn="l" marL="0" indent="0" lvl="0">
                <a:lnSpc>
                  <a:spcPts val="3335"/>
                </a:lnSpc>
                <a:spcBef>
                  <a:spcPct val="0"/>
                </a:spcBef>
              </a:pPr>
              <a:r>
                <a:rPr lang="en-US" sz="3335">
                  <a:solidFill>
                    <a:srgbClr val="000000"/>
                  </a:solidFill>
                  <a:latin typeface="ไอติม"/>
                  <a:ea typeface="ไอติม"/>
                  <a:cs typeface="ไอติม"/>
                  <a:sym typeface="ไอติม"/>
                </a:rPr>
                <a:t>ปัญหาที่แก้ไข</a:t>
              </a:r>
            </a:p>
          </p:txBody>
        </p:sp>
      </p:grpSp>
      <p:sp>
        <p:nvSpPr>
          <p:cNvPr name="Freeform 46" id="46"/>
          <p:cNvSpPr/>
          <p:nvPr/>
        </p:nvSpPr>
        <p:spPr>
          <a:xfrm flipH="false" flipV="false" rot="1728031">
            <a:off x="12607347" y="664684"/>
            <a:ext cx="1033987" cy="1082709"/>
          </a:xfrm>
          <a:custGeom>
            <a:avLst/>
            <a:gdLst/>
            <a:ahLst/>
            <a:cxnLst/>
            <a:rect r="r" b="b" t="t" l="l"/>
            <a:pathLst>
              <a:path h="1082709" w="1033987">
                <a:moveTo>
                  <a:pt x="0" y="0"/>
                </a:moveTo>
                <a:lnTo>
                  <a:pt x="1033987" y="0"/>
                </a:lnTo>
                <a:lnTo>
                  <a:pt x="1033987" y="1082709"/>
                </a:lnTo>
                <a:lnTo>
                  <a:pt x="0" y="1082709"/>
                </a:lnTo>
                <a:lnTo>
                  <a:pt x="0" y="0"/>
                </a:lnTo>
                <a:close/>
              </a:path>
            </a:pathLst>
          </a:custGeom>
          <a:blipFill>
            <a:blip r:embed="rId2"/>
            <a:stretch>
              <a:fillRect l="0" t="0" r="0" b="0"/>
            </a:stretch>
          </a:blipFill>
        </p:spPr>
      </p:sp>
      <p:grpSp>
        <p:nvGrpSpPr>
          <p:cNvPr name="Group 47" id="47"/>
          <p:cNvGrpSpPr/>
          <p:nvPr/>
        </p:nvGrpSpPr>
        <p:grpSpPr>
          <a:xfrm rot="0">
            <a:off x="757080" y="7114799"/>
            <a:ext cx="9875001" cy="2555942"/>
            <a:chOff x="0" y="0"/>
            <a:chExt cx="13166668" cy="3407922"/>
          </a:xfrm>
        </p:grpSpPr>
        <p:grpSp>
          <p:nvGrpSpPr>
            <p:cNvPr name="Group 48" id="48"/>
            <p:cNvGrpSpPr/>
            <p:nvPr/>
          </p:nvGrpSpPr>
          <p:grpSpPr>
            <a:xfrm rot="0">
              <a:off x="574803" y="667450"/>
              <a:ext cx="12104313" cy="2740473"/>
              <a:chOff x="0" y="0"/>
              <a:chExt cx="2427322" cy="549557"/>
            </a:xfrm>
          </p:grpSpPr>
          <p:sp>
            <p:nvSpPr>
              <p:cNvPr name="Freeform 49" id="49"/>
              <p:cNvSpPr/>
              <p:nvPr/>
            </p:nvSpPr>
            <p:spPr>
              <a:xfrm flipH="false" flipV="false" rot="0">
                <a:off x="0" y="0"/>
                <a:ext cx="2427322" cy="549557"/>
              </a:xfrm>
              <a:custGeom>
                <a:avLst/>
                <a:gdLst/>
                <a:ahLst/>
                <a:cxnLst/>
                <a:rect r="r" b="b" t="t" l="l"/>
                <a:pathLst>
                  <a:path h="549557" w="2427322">
                    <a:moveTo>
                      <a:pt x="41161" y="0"/>
                    </a:moveTo>
                    <a:lnTo>
                      <a:pt x="2386161" y="0"/>
                    </a:lnTo>
                    <a:cubicBezTo>
                      <a:pt x="2408894" y="0"/>
                      <a:pt x="2427322" y="18429"/>
                      <a:pt x="2427322" y="41161"/>
                    </a:cubicBezTo>
                    <a:lnTo>
                      <a:pt x="2427322" y="508396"/>
                    </a:lnTo>
                    <a:cubicBezTo>
                      <a:pt x="2427322" y="531128"/>
                      <a:pt x="2408894" y="549557"/>
                      <a:pt x="2386161" y="549557"/>
                    </a:cubicBezTo>
                    <a:lnTo>
                      <a:pt x="41161" y="549557"/>
                    </a:lnTo>
                    <a:cubicBezTo>
                      <a:pt x="18429" y="549557"/>
                      <a:pt x="0" y="531128"/>
                      <a:pt x="0" y="508396"/>
                    </a:cubicBezTo>
                    <a:lnTo>
                      <a:pt x="0" y="41161"/>
                    </a:lnTo>
                    <a:cubicBezTo>
                      <a:pt x="0" y="18429"/>
                      <a:pt x="18429" y="0"/>
                      <a:pt x="41161" y="0"/>
                    </a:cubicBezTo>
                    <a:close/>
                  </a:path>
                </a:pathLst>
              </a:custGeom>
              <a:solidFill>
                <a:srgbClr val="FFD167"/>
              </a:solidFill>
              <a:ln w="38100" cap="rnd">
                <a:solidFill>
                  <a:srgbClr val="000000"/>
                </a:solidFill>
                <a:prstDash val="solid"/>
                <a:round/>
              </a:ln>
            </p:spPr>
          </p:sp>
          <p:sp>
            <p:nvSpPr>
              <p:cNvPr name="TextBox 50" id="50"/>
              <p:cNvSpPr txBox="true"/>
              <p:nvPr/>
            </p:nvSpPr>
            <p:spPr>
              <a:xfrm>
                <a:off x="0" y="19050"/>
                <a:ext cx="2427322" cy="530507"/>
              </a:xfrm>
              <a:prstGeom prst="rect">
                <a:avLst/>
              </a:prstGeom>
            </p:spPr>
            <p:txBody>
              <a:bodyPr anchor="ctr" rtlCol="false" tIns="50800" lIns="50800" bIns="50800" rIns="50800"/>
              <a:lstStyle/>
              <a:p>
                <a:pPr algn="ctr">
                  <a:lnSpc>
                    <a:spcPts val="2694"/>
                  </a:lnSpc>
                </a:pPr>
              </a:p>
            </p:txBody>
          </p:sp>
        </p:grpSp>
        <p:grpSp>
          <p:nvGrpSpPr>
            <p:cNvPr name="Group 51" id="51"/>
            <p:cNvGrpSpPr/>
            <p:nvPr/>
          </p:nvGrpSpPr>
          <p:grpSpPr>
            <a:xfrm rot="0">
              <a:off x="574803" y="520064"/>
              <a:ext cx="3468691" cy="835507"/>
              <a:chOff x="0" y="0"/>
              <a:chExt cx="747418" cy="180031"/>
            </a:xfrm>
          </p:grpSpPr>
          <p:sp>
            <p:nvSpPr>
              <p:cNvPr name="Freeform 52" id="52"/>
              <p:cNvSpPr/>
              <p:nvPr/>
            </p:nvSpPr>
            <p:spPr>
              <a:xfrm flipH="false" flipV="false" rot="0">
                <a:off x="0" y="0"/>
                <a:ext cx="747418" cy="180031"/>
              </a:xfrm>
              <a:custGeom>
                <a:avLst/>
                <a:gdLst/>
                <a:ahLst/>
                <a:cxnLst/>
                <a:rect r="r" b="b" t="t" l="l"/>
                <a:pathLst>
                  <a:path h="180031" w="747418">
                    <a:moveTo>
                      <a:pt x="90016" y="0"/>
                    </a:moveTo>
                    <a:lnTo>
                      <a:pt x="657402" y="0"/>
                    </a:lnTo>
                    <a:cubicBezTo>
                      <a:pt x="681276" y="0"/>
                      <a:pt x="704172" y="9484"/>
                      <a:pt x="721053" y="26365"/>
                    </a:cubicBezTo>
                    <a:cubicBezTo>
                      <a:pt x="737934" y="43246"/>
                      <a:pt x="747418" y="66142"/>
                      <a:pt x="747418" y="90016"/>
                    </a:cubicBezTo>
                    <a:lnTo>
                      <a:pt x="747418" y="90016"/>
                    </a:lnTo>
                    <a:cubicBezTo>
                      <a:pt x="747418" y="139730"/>
                      <a:pt x="707116" y="180031"/>
                      <a:pt x="657402" y="180031"/>
                    </a:cubicBezTo>
                    <a:lnTo>
                      <a:pt x="90016" y="180031"/>
                    </a:lnTo>
                    <a:cubicBezTo>
                      <a:pt x="66142" y="180031"/>
                      <a:pt x="43246" y="170548"/>
                      <a:pt x="26365" y="153666"/>
                    </a:cubicBezTo>
                    <a:cubicBezTo>
                      <a:pt x="9484" y="136785"/>
                      <a:pt x="0" y="113889"/>
                      <a:pt x="0" y="90016"/>
                    </a:cubicBezTo>
                    <a:lnTo>
                      <a:pt x="0" y="90016"/>
                    </a:lnTo>
                    <a:cubicBezTo>
                      <a:pt x="0" y="66142"/>
                      <a:pt x="9484" y="43246"/>
                      <a:pt x="26365" y="26365"/>
                    </a:cubicBezTo>
                    <a:cubicBezTo>
                      <a:pt x="43246" y="9484"/>
                      <a:pt x="66142" y="0"/>
                      <a:pt x="90016" y="0"/>
                    </a:cubicBezTo>
                    <a:close/>
                  </a:path>
                </a:pathLst>
              </a:custGeom>
              <a:solidFill>
                <a:srgbClr val="FFFFFF"/>
              </a:solidFill>
              <a:ln w="38100" cap="rnd">
                <a:solidFill>
                  <a:srgbClr val="000000"/>
                </a:solidFill>
                <a:prstDash val="solid"/>
                <a:round/>
              </a:ln>
            </p:spPr>
          </p:sp>
          <p:sp>
            <p:nvSpPr>
              <p:cNvPr name="TextBox 53" id="53"/>
              <p:cNvSpPr txBox="true"/>
              <p:nvPr/>
            </p:nvSpPr>
            <p:spPr>
              <a:xfrm>
                <a:off x="0" y="19050"/>
                <a:ext cx="747418" cy="160981"/>
              </a:xfrm>
              <a:prstGeom prst="rect">
                <a:avLst/>
              </a:prstGeom>
            </p:spPr>
            <p:txBody>
              <a:bodyPr anchor="ctr" rtlCol="false" tIns="50800" lIns="50800" bIns="50800" rIns="50800"/>
              <a:lstStyle/>
              <a:p>
                <a:pPr algn="ctr">
                  <a:lnSpc>
                    <a:spcPts val="2694"/>
                  </a:lnSpc>
                </a:pPr>
              </a:p>
            </p:txBody>
          </p:sp>
        </p:grpSp>
        <p:sp>
          <p:nvSpPr>
            <p:cNvPr name="Freeform 54" id="54"/>
            <p:cNvSpPr/>
            <p:nvPr/>
          </p:nvSpPr>
          <p:spPr>
            <a:xfrm flipH="false" flipV="false" rot="-6011362">
              <a:off x="112291" y="84369"/>
              <a:ext cx="1205056" cy="1235954"/>
            </a:xfrm>
            <a:custGeom>
              <a:avLst/>
              <a:gdLst/>
              <a:ahLst/>
              <a:cxnLst/>
              <a:rect r="r" b="b" t="t" l="l"/>
              <a:pathLst>
                <a:path h="1235954" w="1205056">
                  <a:moveTo>
                    <a:pt x="0" y="0"/>
                  </a:moveTo>
                  <a:lnTo>
                    <a:pt x="1205056" y="0"/>
                  </a:lnTo>
                  <a:lnTo>
                    <a:pt x="1205056" y="1235955"/>
                  </a:lnTo>
                  <a:lnTo>
                    <a:pt x="0" y="12359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5" id="55"/>
            <p:cNvSpPr txBox="true"/>
            <p:nvPr/>
          </p:nvSpPr>
          <p:spPr>
            <a:xfrm rot="0">
              <a:off x="1060714" y="541270"/>
              <a:ext cx="2982780" cy="679948"/>
            </a:xfrm>
            <a:prstGeom prst="rect">
              <a:avLst/>
            </a:prstGeom>
          </p:spPr>
          <p:txBody>
            <a:bodyPr anchor="t" rtlCol="false" tIns="0" lIns="0" bIns="0" rIns="0">
              <a:spAutoFit/>
            </a:bodyPr>
            <a:lstStyle/>
            <a:p>
              <a:pPr algn="l">
                <a:lnSpc>
                  <a:spcPts val="4105"/>
                </a:lnSpc>
              </a:pPr>
              <a:r>
                <a:rPr lang="en-US" sz="3158">
                  <a:solidFill>
                    <a:srgbClr val="000000"/>
                  </a:solidFill>
                  <a:latin typeface="ไอติม"/>
                  <a:ea typeface="ไอติม"/>
                  <a:cs typeface="ไอติม"/>
                  <a:sym typeface="ไอติม"/>
                </a:rPr>
                <a:t> </a:t>
              </a:r>
              <a:r>
                <a:rPr lang="en-US" sz="3158">
                  <a:solidFill>
                    <a:srgbClr val="000000"/>
                  </a:solidFill>
                  <a:latin typeface="ไอติม"/>
                  <a:ea typeface="ไอติม"/>
                  <a:cs typeface="ไอติม"/>
                  <a:sym typeface="ไอติม"/>
                </a:rPr>
                <a:t>จุดสำคัญ</a:t>
              </a:r>
            </a:p>
          </p:txBody>
        </p:sp>
        <p:sp>
          <p:nvSpPr>
            <p:cNvPr name="TextBox 56" id="56"/>
            <p:cNvSpPr txBox="true"/>
            <p:nvPr/>
          </p:nvSpPr>
          <p:spPr>
            <a:xfrm rot="0">
              <a:off x="574803" y="1534958"/>
              <a:ext cx="12591865" cy="1661633"/>
            </a:xfrm>
            <a:prstGeom prst="rect">
              <a:avLst/>
            </a:prstGeom>
          </p:spPr>
          <p:txBody>
            <a:bodyPr anchor="t" rtlCol="false" tIns="0" lIns="0" bIns="0" rIns="0">
              <a:spAutoFit/>
            </a:bodyPr>
            <a:lstStyle/>
            <a:p>
              <a:pPr algn="l" marL="552616" indent="-276308" lvl="1">
                <a:lnSpc>
                  <a:spcPts val="3327"/>
                </a:lnSpc>
                <a:buFont typeface="Arial"/>
                <a:buChar char="•"/>
              </a:pPr>
              <a:r>
                <a:rPr lang="en-US" sz="2559">
                  <a:solidFill>
                    <a:srgbClr val="000000"/>
                  </a:solidFill>
                  <a:latin typeface="ไอติม"/>
                  <a:ea typeface="ไอติม"/>
                  <a:cs typeface="ไอติม"/>
                  <a:sym typeface="ไอติม"/>
                </a:rPr>
                <a:t>เป็นทางเลือกที่กระชับกว่า</a:t>
              </a:r>
              <a:r>
                <a:rPr lang="en-US" sz="2559">
                  <a:solidFill>
                    <a:srgbClr val="000000"/>
                  </a:solidFill>
                  <a:latin typeface="ไอติม"/>
                  <a:ea typeface="ไอติม"/>
                  <a:cs typeface="ไอติม"/>
                  <a:sym typeface="ไอติม"/>
                </a:rPr>
                <a:t> match สำหรับดักแค่ 1 กรณี</a:t>
              </a:r>
            </a:p>
            <a:p>
              <a:pPr algn="l" marL="552616" indent="-276308" lvl="1">
                <a:lnSpc>
                  <a:spcPts val="3327"/>
                </a:lnSpc>
                <a:buFont typeface="Arial"/>
                <a:buChar char="•"/>
              </a:pPr>
              <a:r>
                <a:rPr lang="en-US" sz="2559">
                  <a:solidFill>
                    <a:srgbClr val="000000"/>
                  </a:solidFill>
                  <a:latin typeface="ไอติม"/>
                  <a:ea typeface="ไอติม"/>
                  <a:cs typeface="ไอติม"/>
                  <a:sym typeface="ไอติม"/>
                </a:rPr>
                <a:t>ยังคงความสามารถในการแกะข้อมูลข้างใน (เช่น ดึงค่าจาก Some) </a:t>
              </a:r>
            </a:p>
            <a:p>
              <a:pPr algn="l">
                <a:lnSpc>
                  <a:spcPts val="3327"/>
                </a:lnSpc>
              </a:pPr>
              <a:r>
                <a:rPr lang="en-US" sz="2559">
                  <a:solidFill>
                    <a:srgbClr val="000000"/>
                  </a:solidFill>
                  <a:latin typeface="ไอติม"/>
                  <a:ea typeface="ไอติม"/>
                  <a:cs typeface="ไอติม"/>
                  <a:sym typeface="ไอติม"/>
                </a:rPr>
                <a:t>        </a:t>
              </a:r>
              <a:r>
                <a:rPr lang="en-US" sz="2559">
                  <a:solidFill>
                    <a:srgbClr val="000000"/>
                  </a:solidFill>
                  <a:latin typeface="ไอติม"/>
                  <a:ea typeface="ไอติม"/>
                  <a:cs typeface="ไอติม"/>
                  <a:sym typeface="ไอติม"/>
                </a:rPr>
                <a:t>ออกมาใช้งานต่อได้ทันทีเหมือนเดิม</a:t>
              </a:r>
            </a:p>
          </p:txBody>
        </p:sp>
      </p:grpSp>
      <p:sp>
        <p:nvSpPr>
          <p:cNvPr name="Freeform 57" id="57"/>
          <p:cNvSpPr/>
          <p:nvPr/>
        </p:nvSpPr>
        <p:spPr>
          <a:xfrm flipH="false" flipV="false" rot="0">
            <a:off x="11068051" y="3895141"/>
            <a:ext cx="6049233" cy="3347243"/>
          </a:xfrm>
          <a:custGeom>
            <a:avLst/>
            <a:gdLst/>
            <a:ahLst/>
            <a:cxnLst/>
            <a:rect r="r" b="b" t="t" l="l"/>
            <a:pathLst>
              <a:path h="3347243" w="6049233">
                <a:moveTo>
                  <a:pt x="0" y="0"/>
                </a:moveTo>
                <a:lnTo>
                  <a:pt x="6049233" y="0"/>
                </a:lnTo>
                <a:lnTo>
                  <a:pt x="6049233" y="3347243"/>
                </a:lnTo>
                <a:lnTo>
                  <a:pt x="0" y="3347243"/>
                </a:lnTo>
                <a:lnTo>
                  <a:pt x="0" y="0"/>
                </a:lnTo>
                <a:close/>
              </a:path>
            </a:pathLst>
          </a:custGeom>
          <a:blipFill>
            <a:blip r:embed="rId5"/>
            <a:stretch>
              <a:fillRect l="0" t="0" r="0" b="0"/>
            </a:stretch>
          </a:blipFill>
        </p:spPr>
      </p:sp>
      <p:sp>
        <p:nvSpPr>
          <p:cNvPr name="Freeform 58" id="58"/>
          <p:cNvSpPr/>
          <p:nvPr/>
        </p:nvSpPr>
        <p:spPr>
          <a:xfrm flipH="false" flipV="false" rot="0">
            <a:off x="11068051" y="7721620"/>
            <a:ext cx="6049233" cy="1088239"/>
          </a:xfrm>
          <a:custGeom>
            <a:avLst/>
            <a:gdLst/>
            <a:ahLst/>
            <a:cxnLst/>
            <a:rect r="r" b="b" t="t" l="l"/>
            <a:pathLst>
              <a:path h="1088239" w="6049233">
                <a:moveTo>
                  <a:pt x="0" y="0"/>
                </a:moveTo>
                <a:lnTo>
                  <a:pt x="6049233" y="0"/>
                </a:lnTo>
                <a:lnTo>
                  <a:pt x="6049233" y="1088240"/>
                </a:lnTo>
                <a:lnTo>
                  <a:pt x="0" y="1088240"/>
                </a:lnTo>
                <a:lnTo>
                  <a:pt x="0" y="0"/>
                </a:lnTo>
                <a:close/>
              </a:path>
            </a:pathLst>
          </a:custGeom>
          <a:blipFill>
            <a:blip r:embed="rId6"/>
            <a:stretch>
              <a:fillRect l="0" t="0" r="0" b="-20654"/>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9667649" cy="1249168"/>
            <a:chOff x="0" y="0"/>
            <a:chExt cx="12890199" cy="1665557"/>
          </a:xfrm>
        </p:grpSpPr>
        <p:grpSp>
          <p:nvGrpSpPr>
            <p:cNvPr name="Group 15" id="15"/>
            <p:cNvGrpSpPr/>
            <p:nvPr/>
          </p:nvGrpSpPr>
          <p:grpSpPr>
            <a:xfrm rot="0">
              <a:off x="0" y="0"/>
              <a:ext cx="12890199" cy="1665557"/>
              <a:chOff x="0" y="0"/>
              <a:chExt cx="2735931" cy="353513"/>
            </a:xfrm>
          </p:grpSpPr>
          <p:sp>
            <p:nvSpPr>
              <p:cNvPr name="Freeform 16" id="16"/>
              <p:cNvSpPr/>
              <p:nvPr/>
            </p:nvSpPr>
            <p:spPr>
              <a:xfrm flipH="false" flipV="false" rot="0">
                <a:off x="0" y="0"/>
                <a:ext cx="2735931" cy="353513"/>
              </a:xfrm>
              <a:custGeom>
                <a:avLst/>
                <a:gdLst/>
                <a:ahLst/>
                <a:cxnLst/>
                <a:rect r="r" b="b" t="t" l="l"/>
                <a:pathLst>
                  <a:path h="353513" w="2735931">
                    <a:moveTo>
                      <a:pt x="80081" y="0"/>
                    </a:moveTo>
                    <a:lnTo>
                      <a:pt x="2655850" y="0"/>
                    </a:lnTo>
                    <a:cubicBezTo>
                      <a:pt x="2700077" y="0"/>
                      <a:pt x="2735931" y="35853"/>
                      <a:pt x="2735931" y="80081"/>
                    </a:cubicBezTo>
                    <a:lnTo>
                      <a:pt x="2735931" y="273432"/>
                    </a:lnTo>
                    <a:cubicBezTo>
                      <a:pt x="2735931" y="294671"/>
                      <a:pt x="2727494" y="315040"/>
                      <a:pt x="2712476" y="330058"/>
                    </a:cubicBezTo>
                    <a:cubicBezTo>
                      <a:pt x="2697458" y="345076"/>
                      <a:pt x="2677089" y="353513"/>
                      <a:pt x="2655850" y="353513"/>
                    </a:cubicBezTo>
                    <a:lnTo>
                      <a:pt x="80081" y="353513"/>
                    </a:lnTo>
                    <a:cubicBezTo>
                      <a:pt x="58842" y="353513"/>
                      <a:pt x="38473" y="345076"/>
                      <a:pt x="23455" y="330058"/>
                    </a:cubicBezTo>
                    <a:cubicBezTo>
                      <a:pt x="8437" y="315040"/>
                      <a:pt x="0" y="294671"/>
                      <a:pt x="0" y="273432"/>
                    </a:cubicBezTo>
                    <a:lnTo>
                      <a:pt x="0" y="80081"/>
                    </a:lnTo>
                    <a:cubicBezTo>
                      <a:pt x="0" y="58842"/>
                      <a:pt x="8437" y="38473"/>
                      <a:pt x="23455" y="23455"/>
                    </a:cubicBezTo>
                    <a:cubicBezTo>
                      <a:pt x="38473" y="8437"/>
                      <a:pt x="58842" y="0"/>
                      <a:pt x="80081" y="0"/>
                    </a:cubicBezTo>
                    <a:close/>
                  </a:path>
                </a:pathLst>
              </a:custGeom>
              <a:solidFill>
                <a:srgbClr val="FFE88B"/>
              </a:solidFill>
              <a:ln w="38100" cap="rnd">
                <a:solidFill>
                  <a:srgbClr val="000000"/>
                </a:solidFill>
                <a:prstDash val="solid"/>
                <a:round/>
              </a:ln>
            </p:spPr>
          </p:sp>
          <p:sp>
            <p:nvSpPr>
              <p:cNvPr name="TextBox 17" id="17"/>
              <p:cNvSpPr txBox="true"/>
              <p:nvPr/>
            </p:nvSpPr>
            <p:spPr>
              <a:xfrm>
                <a:off x="0" y="19050"/>
                <a:ext cx="2735931" cy="334463"/>
              </a:xfrm>
              <a:prstGeom prst="rect">
                <a:avLst/>
              </a:prstGeom>
            </p:spPr>
            <p:txBody>
              <a:bodyPr anchor="ctr" rtlCol="false" tIns="50800" lIns="50800" bIns="50800" rIns="50800"/>
              <a:lstStyle/>
              <a:p>
                <a:pPr algn="ctr">
                  <a:lnSpc>
                    <a:spcPts val="2694"/>
                  </a:lnSpc>
                </a:pPr>
              </a:p>
            </p:txBody>
          </p:sp>
        </p:grpSp>
        <p:sp>
          <p:nvSpPr>
            <p:cNvPr name="TextBox 18" id="18"/>
            <p:cNvSpPr txBox="true"/>
            <p:nvPr/>
          </p:nvSpPr>
          <p:spPr>
            <a:xfrm rot="0">
              <a:off x="679684" y="438150"/>
              <a:ext cx="11697450" cy="79452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การแทนที่</a:t>
              </a:r>
              <a:r>
                <a:rPr lang="en-US" sz="4335">
                  <a:solidFill>
                    <a:srgbClr val="000000"/>
                  </a:solidFill>
                  <a:latin typeface="ไอติม"/>
                  <a:ea typeface="ไอติม"/>
                  <a:cs typeface="ไอติม"/>
                  <a:sym typeface="ไอติม"/>
                </a:rPr>
                <a:t> NULL ด้วย OPTION คืออะไร</a:t>
              </a:r>
            </a:p>
          </p:txBody>
        </p:sp>
      </p:grpSp>
      <p:grpSp>
        <p:nvGrpSpPr>
          <p:cNvPr name="Group 19" id="19"/>
          <p:cNvGrpSpPr/>
          <p:nvPr/>
        </p:nvGrpSpPr>
        <p:grpSpPr>
          <a:xfrm rot="0">
            <a:off x="476616" y="2094590"/>
            <a:ext cx="10075327" cy="1824510"/>
            <a:chOff x="0" y="0"/>
            <a:chExt cx="13433770" cy="2432681"/>
          </a:xfrm>
        </p:grpSpPr>
        <p:grpSp>
          <p:nvGrpSpPr>
            <p:cNvPr name="Group 20" id="20"/>
            <p:cNvGrpSpPr/>
            <p:nvPr/>
          </p:nvGrpSpPr>
          <p:grpSpPr>
            <a:xfrm rot="0">
              <a:off x="0" y="613960"/>
              <a:ext cx="13192857" cy="1818721"/>
              <a:chOff x="0" y="0"/>
              <a:chExt cx="2605996" cy="359254"/>
            </a:xfrm>
          </p:grpSpPr>
          <p:sp>
            <p:nvSpPr>
              <p:cNvPr name="Freeform 21" id="21"/>
              <p:cNvSpPr/>
              <p:nvPr/>
            </p:nvSpPr>
            <p:spPr>
              <a:xfrm flipH="false" flipV="false" rot="0">
                <a:off x="0" y="0"/>
                <a:ext cx="2605996" cy="359254"/>
              </a:xfrm>
              <a:custGeom>
                <a:avLst/>
                <a:gdLst/>
                <a:ahLst/>
                <a:cxnLst/>
                <a:rect r="r" b="b" t="t" l="l"/>
                <a:pathLst>
                  <a:path h="359254" w="2605996">
                    <a:moveTo>
                      <a:pt x="0" y="0"/>
                    </a:moveTo>
                    <a:lnTo>
                      <a:pt x="2605996" y="0"/>
                    </a:lnTo>
                    <a:lnTo>
                      <a:pt x="2605996" y="359254"/>
                    </a:lnTo>
                    <a:lnTo>
                      <a:pt x="0" y="359254"/>
                    </a:lnTo>
                    <a:close/>
                  </a:path>
                </a:pathLst>
              </a:custGeom>
              <a:solidFill>
                <a:srgbClr val="FFFFFF"/>
              </a:solidFill>
              <a:ln w="38100" cap="sq">
                <a:solidFill>
                  <a:srgbClr val="000000"/>
                </a:solidFill>
                <a:prstDash val="solid"/>
                <a:miter/>
              </a:ln>
            </p:spPr>
          </p:sp>
          <p:sp>
            <p:nvSpPr>
              <p:cNvPr name="TextBox 22" id="22"/>
              <p:cNvSpPr txBox="true"/>
              <p:nvPr/>
            </p:nvSpPr>
            <p:spPr>
              <a:xfrm>
                <a:off x="0" y="28575"/>
                <a:ext cx="2605996" cy="330679"/>
              </a:xfrm>
              <a:prstGeom prst="rect">
                <a:avLst/>
              </a:prstGeom>
            </p:spPr>
            <p:txBody>
              <a:bodyPr anchor="ctr" rtlCol="false" tIns="50800" lIns="50800" bIns="50800" rIns="50800"/>
              <a:lstStyle/>
              <a:p>
                <a:pPr algn="l">
                  <a:lnSpc>
                    <a:spcPts val="4399"/>
                  </a:lnSpc>
                </a:pPr>
              </a:p>
            </p:txBody>
          </p:sp>
        </p:grpSp>
        <p:sp>
          <p:nvSpPr>
            <p:cNvPr name="TextBox 23" id="23"/>
            <p:cNvSpPr txBox="true"/>
            <p:nvPr/>
          </p:nvSpPr>
          <p:spPr>
            <a:xfrm rot="0">
              <a:off x="455621" y="1027589"/>
              <a:ext cx="12978149" cy="12003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En</a:t>
              </a:r>
              <a:r>
                <a:rPr lang="en-US" sz="2800" strike="noStrike" u="none">
                  <a:solidFill>
                    <a:srgbClr val="000000"/>
                  </a:solidFill>
                  <a:latin typeface="ไอติม"/>
                  <a:ea typeface="ไอติม"/>
                  <a:cs typeface="ไอติม"/>
                  <a:sym typeface="ไอติม"/>
                </a:rPr>
                <a:t>um พิเศษใน Standard Library (Option&lt;T&gt;) ที่ใช้สื่อว่าข้อมูลนั้น </a:t>
              </a:r>
            </a:p>
            <a:p>
              <a:pPr algn="l" marL="0" indent="0" lvl="0">
                <a:lnSpc>
                  <a:spcPts val="3640"/>
                </a:lnSpc>
              </a:pPr>
              <a:r>
                <a:rPr lang="en-US" sz="2800" strike="noStrike" u="none">
                  <a:solidFill>
                    <a:srgbClr val="000000"/>
                  </a:solidFill>
                  <a:latin typeface="ไอติม"/>
                  <a:ea typeface="ไอติม"/>
                  <a:cs typeface="ไอติม"/>
                  <a:sym typeface="ไอติม"/>
                </a:rPr>
                <a:t>"มีค่า (Some)" หรือ "ไม่มีค่า (None)" แทนการใช้ Null แบบเดิม</a:t>
              </a:r>
            </a:p>
          </p:txBody>
        </p:sp>
        <p:grpSp>
          <p:nvGrpSpPr>
            <p:cNvPr name="Group 24" id="24"/>
            <p:cNvGrpSpPr/>
            <p:nvPr/>
          </p:nvGrpSpPr>
          <p:grpSpPr>
            <a:xfrm rot="0">
              <a:off x="0" y="0"/>
              <a:ext cx="3550934" cy="1056164"/>
              <a:chOff x="0" y="0"/>
              <a:chExt cx="753682" cy="224170"/>
            </a:xfrm>
          </p:grpSpPr>
          <p:sp>
            <p:nvSpPr>
              <p:cNvPr name="Freeform 25" id="25"/>
              <p:cNvSpPr/>
              <p:nvPr/>
            </p:nvSpPr>
            <p:spPr>
              <a:xfrm flipH="false" flipV="false" rot="0">
                <a:off x="0" y="0"/>
                <a:ext cx="753682" cy="224170"/>
              </a:xfrm>
              <a:custGeom>
                <a:avLst/>
                <a:gdLst/>
                <a:ahLst/>
                <a:cxnLst/>
                <a:rect r="r" b="b" t="t" l="l"/>
                <a:pathLst>
                  <a:path h="224170" w="753682">
                    <a:moveTo>
                      <a:pt x="112085" y="0"/>
                    </a:moveTo>
                    <a:lnTo>
                      <a:pt x="641597" y="0"/>
                    </a:lnTo>
                    <a:cubicBezTo>
                      <a:pt x="671324" y="0"/>
                      <a:pt x="699833" y="11809"/>
                      <a:pt x="720853" y="32829"/>
                    </a:cubicBezTo>
                    <a:cubicBezTo>
                      <a:pt x="741873" y="53849"/>
                      <a:pt x="753682" y="82358"/>
                      <a:pt x="753682" y="112085"/>
                    </a:cubicBezTo>
                    <a:lnTo>
                      <a:pt x="753682" y="112085"/>
                    </a:lnTo>
                    <a:cubicBezTo>
                      <a:pt x="753682" y="141812"/>
                      <a:pt x="741873" y="170321"/>
                      <a:pt x="720853" y="191341"/>
                    </a:cubicBezTo>
                    <a:cubicBezTo>
                      <a:pt x="699833" y="212361"/>
                      <a:pt x="671324" y="224170"/>
                      <a:pt x="641597" y="224170"/>
                    </a:cubicBezTo>
                    <a:lnTo>
                      <a:pt x="112085" y="224170"/>
                    </a:lnTo>
                    <a:cubicBezTo>
                      <a:pt x="82358" y="224170"/>
                      <a:pt x="53849" y="212361"/>
                      <a:pt x="32829" y="191341"/>
                    </a:cubicBezTo>
                    <a:cubicBezTo>
                      <a:pt x="11809" y="170321"/>
                      <a:pt x="0" y="141812"/>
                      <a:pt x="0" y="112085"/>
                    </a:cubicBezTo>
                    <a:lnTo>
                      <a:pt x="0" y="112085"/>
                    </a:lnTo>
                    <a:cubicBezTo>
                      <a:pt x="0" y="82358"/>
                      <a:pt x="11809" y="53849"/>
                      <a:pt x="32829" y="32829"/>
                    </a:cubicBezTo>
                    <a:cubicBezTo>
                      <a:pt x="53849" y="11809"/>
                      <a:pt x="82358" y="0"/>
                      <a:pt x="112085" y="0"/>
                    </a:cubicBezTo>
                    <a:close/>
                  </a:path>
                </a:pathLst>
              </a:custGeom>
              <a:solidFill>
                <a:srgbClr val="FFD9E1"/>
              </a:solidFill>
              <a:ln w="38100" cap="rnd">
                <a:solidFill>
                  <a:srgbClr val="000000"/>
                </a:solidFill>
                <a:prstDash val="solid"/>
                <a:round/>
              </a:ln>
            </p:spPr>
          </p:sp>
          <p:sp>
            <p:nvSpPr>
              <p:cNvPr name="TextBox 26" id="26"/>
              <p:cNvSpPr txBox="true"/>
              <p:nvPr/>
            </p:nvSpPr>
            <p:spPr>
              <a:xfrm>
                <a:off x="0" y="19050"/>
                <a:ext cx="753682" cy="205120"/>
              </a:xfrm>
              <a:prstGeom prst="rect">
                <a:avLst/>
              </a:prstGeom>
            </p:spPr>
            <p:txBody>
              <a:bodyPr anchor="ctr" rtlCol="false" tIns="50800" lIns="50800" bIns="50800" rIns="50800"/>
              <a:lstStyle/>
              <a:p>
                <a:pPr algn="ctr">
                  <a:lnSpc>
                    <a:spcPts val="2694"/>
                  </a:lnSpc>
                </a:pPr>
              </a:p>
            </p:txBody>
          </p:sp>
        </p:grpSp>
        <p:sp>
          <p:nvSpPr>
            <p:cNvPr name="TextBox 27" id="27"/>
            <p:cNvSpPr txBox="true"/>
            <p:nvPr/>
          </p:nvSpPr>
          <p:spPr>
            <a:xfrm rot="0">
              <a:off x="455621" y="208568"/>
              <a:ext cx="3095314" cy="659477"/>
            </a:xfrm>
            <a:prstGeom prst="rect">
              <a:avLst/>
            </a:prstGeom>
          </p:spPr>
          <p:txBody>
            <a:bodyPr anchor="t" rtlCol="false" tIns="0" lIns="0" bIns="0" rIns="0">
              <a:spAutoFit/>
            </a:bodyPr>
            <a:lstStyle/>
            <a:p>
              <a:pPr algn="l" marL="0" indent="0" lvl="0">
                <a:lnSpc>
                  <a:spcPts val="3535"/>
                </a:lnSpc>
                <a:spcBef>
                  <a:spcPct val="0"/>
                </a:spcBef>
              </a:pPr>
              <a:r>
                <a:rPr lang="en-US" sz="3535">
                  <a:solidFill>
                    <a:srgbClr val="000000"/>
                  </a:solidFill>
                  <a:latin typeface="ไอติม"/>
                  <a:ea typeface="ไอติม"/>
                  <a:cs typeface="ไอติม"/>
                  <a:sym typeface="ไอติม"/>
                </a:rPr>
                <a:t>ความหมาย</a:t>
              </a:r>
            </a:p>
          </p:txBody>
        </p:sp>
      </p:grpSp>
      <p:grpSp>
        <p:nvGrpSpPr>
          <p:cNvPr name="Group 28" id="28"/>
          <p:cNvGrpSpPr/>
          <p:nvPr/>
        </p:nvGrpSpPr>
        <p:grpSpPr>
          <a:xfrm rot="0">
            <a:off x="419127" y="4553026"/>
            <a:ext cx="9932788" cy="2304114"/>
            <a:chOff x="0" y="0"/>
            <a:chExt cx="13243717" cy="3072151"/>
          </a:xfrm>
        </p:grpSpPr>
        <p:grpSp>
          <p:nvGrpSpPr>
            <p:cNvPr name="Group 29" id="29"/>
            <p:cNvGrpSpPr/>
            <p:nvPr/>
          </p:nvGrpSpPr>
          <p:grpSpPr>
            <a:xfrm rot="0">
              <a:off x="0" y="507926"/>
              <a:ext cx="13243717" cy="2152268"/>
              <a:chOff x="0" y="0"/>
              <a:chExt cx="2616043" cy="425139"/>
            </a:xfrm>
          </p:grpSpPr>
          <p:sp>
            <p:nvSpPr>
              <p:cNvPr name="Freeform 30" id="30"/>
              <p:cNvSpPr/>
              <p:nvPr/>
            </p:nvSpPr>
            <p:spPr>
              <a:xfrm flipH="false" flipV="false" rot="0">
                <a:off x="0" y="0"/>
                <a:ext cx="2616043" cy="425139"/>
              </a:xfrm>
              <a:custGeom>
                <a:avLst/>
                <a:gdLst/>
                <a:ahLst/>
                <a:cxnLst/>
                <a:rect r="r" b="b" t="t" l="l"/>
                <a:pathLst>
                  <a:path h="425139" w="2616043">
                    <a:moveTo>
                      <a:pt x="0" y="0"/>
                    </a:moveTo>
                    <a:lnTo>
                      <a:pt x="2616043" y="0"/>
                    </a:lnTo>
                    <a:lnTo>
                      <a:pt x="2616043" y="425139"/>
                    </a:lnTo>
                    <a:lnTo>
                      <a:pt x="0" y="425139"/>
                    </a:lnTo>
                    <a:close/>
                  </a:path>
                </a:pathLst>
              </a:custGeom>
              <a:solidFill>
                <a:srgbClr val="FFFFFF"/>
              </a:solidFill>
              <a:ln w="38100" cap="sq">
                <a:solidFill>
                  <a:srgbClr val="000000"/>
                </a:solidFill>
                <a:prstDash val="solid"/>
                <a:miter/>
              </a:ln>
            </p:spPr>
          </p:sp>
          <p:sp>
            <p:nvSpPr>
              <p:cNvPr name="TextBox 31" id="31"/>
              <p:cNvSpPr txBox="true"/>
              <p:nvPr/>
            </p:nvSpPr>
            <p:spPr>
              <a:xfrm>
                <a:off x="0" y="28575"/>
                <a:ext cx="2616043" cy="396564"/>
              </a:xfrm>
              <a:prstGeom prst="rect">
                <a:avLst/>
              </a:prstGeom>
            </p:spPr>
            <p:txBody>
              <a:bodyPr anchor="ctr" rtlCol="false" tIns="50800" lIns="50800" bIns="50800" rIns="50800"/>
              <a:lstStyle/>
              <a:p>
                <a:pPr algn="l">
                  <a:lnSpc>
                    <a:spcPts val="4399"/>
                  </a:lnSpc>
                </a:pPr>
              </a:p>
            </p:txBody>
          </p:sp>
        </p:grpSp>
        <p:sp>
          <p:nvSpPr>
            <p:cNvPr name="TextBox 32" id="32"/>
            <p:cNvSpPr txBox="true"/>
            <p:nvPr/>
          </p:nvSpPr>
          <p:spPr>
            <a:xfrm rot="0">
              <a:off x="339784" y="1187683"/>
              <a:ext cx="12734374" cy="1884468"/>
            </a:xfrm>
            <a:prstGeom prst="rect">
              <a:avLst/>
            </a:prstGeom>
          </p:spPr>
          <p:txBody>
            <a:bodyPr anchor="t" rtlCol="false" tIns="0" lIns="0" bIns="0" rIns="0">
              <a:spAutoFit/>
            </a:bodyPr>
            <a:lstStyle/>
            <a:p>
              <a:pPr algn="l">
                <a:lnSpc>
                  <a:spcPts val="3770"/>
                </a:lnSpc>
              </a:pPr>
              <a:r>
                <a:rPr lang="en-US" sz="2900">
                  <a:solidFill>
                    <a:srgbClr val="000000"/>
                  </a:solidFill>
                  <a:latin typeface="ไอติม"/>
                  <a:ea typeface="ไอติม"/>
                  <a:cs typeface="ไอติม"/>
                  <a:sym typeface="ไอติม"/>
                </a:rPr>
                <a:t>เพื่อส</a:t>
              </a:r>
              <a:r>
                <a:rPr lang="en-US" sz="2900" strike="noStrike" u="none">
                  <a:solidFill>
                    <a:srgbClr val="000000"/>
                  </a:solidFill>
                  <a:latin typeface="ไอติม"/>
                  <a:ea typeface="ไอติม"/>
                  <a:cs typeface="ไอติม"/>
                  <a:sym typeface="ไอติม"/>
                </a:rPr>
                <a:t>ร้างความปลอดภัยจากค่า Null (Null-safety) และป้องกัน Runtime Error จากการเข้าถึงข้อมูลว่างเปล่า</a:t>
              </a:r>
            </a:p>
            <a:p>
              <a:pPr algn="l" marL="0" indent="0" lvl="0">
                <a:lnSpc>
                  <a:spcPts val="3770"/>
                </a:lnSpc>
              </a:pPr>
            </a:p>
          </p:txBody>
        </p:sp>
        <p:grpSp>
          <p:nvGrpSpPr>
            <p:cNvPr name="Group 33" id="33"/>
            <p:cNvGrpSpPr/>
            <p:nvPr/>
          </p:nvGrpSpPr>
          <p:grpSpPr>
            <a:xfrm rot="0">
              <a:off x="0" y="0"/>
              <a:ext cx="4789873" cy="1015852"/>
              <a:chOff x="0" y="0"/>
              <a:chExt cx="1016645" cy="215613"/>
            </a:xfrm>
          </p:grpSpPr>
          <p:sp>
            <p:nvSpPr>
              <p:cNvPr name="Freeform 34" id="34"/>
              <p:cNvSpPr/>
              <p:nvPr/>
            </p:nvSpPr>
            <p:spPr>
              <a:xfrm flipH="false" flipV="false" rot="0">
                <a:off x="0" y="0"/>
                <a:ext cx="1016645" cy="215613"/>
              </a:xfrm>
              <a:custGeom>
                <a:avLst/>
                <a:gdLst/>
                <a:ahLst/>
                <a:cxnLst/>
                <a:rect r="r" b="b" t="t" l="l"/>
                <a:pathLst>
                  <a:path h="215613" w="1016645">
                    <a:moveTo>
                      <a:pt x="107807" y="0"/>
                    </a:moveTo>
                    <a:lnTo>
                      <a:pt x="908839" y="0"/>
                    </a:lnTo>
                    <a:cubicBezTo>
                      <a:pt x="937431" y="0"/>
                      <a:pt x="964852" y="11358"/>
                      <a:pt x="985069" y="31576"/>
                    </a:cubicBezTo>
                    <a:cubicBezTo>
                      <a:pt x="1005287" y="51794"/>
                      <a:pt x="1016645" y="79215"/>
                      <a:pt x="1016645" y="107807"/>
                    </a:cubicBezTo>
                    <a:lnTo>
                      <a:pt x="1016645" y="107807"/>
                    </a:lnTo>
                    <a:cubicBezTo>
                      <a:pt x="1016645" y="136399"/>
                      <a:pt x="1005287" y="163820"/>
                      <a:pt x="985069" y="184038"/>
                    </a:cubicBezTo>
                    <a:cubicBezTo>
                      <a:pt x="964852" y="204255"/>
                      <a:pt x="937431" y="215613"/>
                      <a:pt x="908839" y="215613"/>
                    </a:cubicBezTo>
                    <a:lnTo>
                      <a:pt x="107807" y="215613"/>
                    </a:lnTo>
                    <a:cubicBezTo>
                      <a:pt x="79215" y="215613"/>
                      <a:pt x="51794" y="204255"/>
                      <a:pt x="31576" y="184038"/>
                    </a:cubicBezTo>
                    <a:cubicBezTo>
                      <a:pt x="11358" y="163820"/>
                      <a:pt x="0" y="136399"/>
                      <a:pt x="0" y="107807"/>
                    </a:cubicBezTo>
                    <a:lnTo>
                      <a:pt x="0" y="107807"/>
                    </a:lnTo>
                    <a:cubicBezTo>
                      <a:pt x="0" y="79215"/>
                      <a:pt x="11358" y="51794"/>
                      <a:pt x="31576" y="31576"/>
                    </a:cubicBezTo>
                    <a:cubicBezTo>
                      <a:pt x="51794" y="11358"/>
                      <a:pt x="79215" y="0"/>
                      <a:pt x="107807" y="0"/>
                    </a:cubicBezTo>
                    <a:close/>
                  </a:path>
                </a:pathLst>
              </a:custGeom>
              <a:solidFill>
                <a:srgbClr val="D1EAFF"/>
              </a:solidFill>
              <a:ln w="38100" cap="rnd">
                <a:solidFill>
                  <a:srgbClr val="000000"/>
                </a:solidFill>
                <a:prstDash val="solid"/>
                <a:round/>
              </a:ln>
            </p:spPr>
          </p:sp>
          <p:sp>
            <p:nvSpPr>
              <p:cNvPr name="TextBox 35" id="35"/>
              <p:cNvSpPr txBox="true"/>
              <p:nvPr/>
            </p:nvSpPr>
            <p:spPr>
              <a:xfrm>
                <a:off x="0" y="19050"/>
                <a:ext cx="1016645" cy="196563"/>
              </a:xfrm>
              <a:prstGeom prst="rect">
                <a:avLst/>
              </a:prstGeom>
            </p:spPr>
            <p:txBody>
              <a:bodyPr anchor="ctr" rtlCol="false" tIns="50800" lIns="50800" bIns="50800" rIns="50800"/>
              <a:lstStyle/>
              <a:p>
                <a:pPr algn="ctr">
                  <a:lnSpc>
                    <a:spcPts val="2694"/>
                  </a:lnSpc>
                </a:pPr>
              </a:p>
            </p:txBody>
          </p:sp>
        </p:grpSp>
        <p:sp>
          <p:nvSpPr>
            <p:cNvPr name="TextBox 36" id="36"/>
            <p:cNvSpPr txBox="true"/>
            <p:nvPr/>
          </p:nvSpPr>
          <p:spPr>
            <a:xfrm rot="0">
              <a:off x="339784" y="211316"/>
              <a:ext cx="4087962" cy="598517"/>
            </a:xfrm>
            <a:prstGeom prst="rect">
              <a:avLst/>
            </a:prstGeom>
          </p:spPr>
          <p:txBody>
            <a:bodyPr anchor="t" rtlCol="false" tIns="0" lIns="0" bIns="0" rIns="0">
              <a:spAutoFit/>
            </a:bodyPr>
            <a:lstStyle/>
            <a:p>
              <a:pPr algn="l" marL="0" indent="0" lvl="0">
                <a:lnSpc>
                  <a:spcPts val="3235"/>
                </a:lnSpc>
                <a:spcBef>
                  <a:spcPct val="0"/>
                </a:spcBef>
              </a:pPr>
              <a:r>
                <a:rPr lang="en-US" sz="3235">
                  <a:solidFill>
                    <a:srgbClr val="000000"/>
                  </a:solidFill>
                  <a:latin typeface="ไอติม"/>
                  <a:ea typeface="ไอติม"/>
                  <a:cs typeface="ไอติม"/>
                  <a:sym typeface="ไอติม"/>
                </a:rPr>
                <a:t>เหตุผลที่ออกแบบ</a:t>
              </a:r>
            </a:p>
          </p:txBody>
        </p:sp>
      </p:grpSp>
      <p:grpSp>
        <p:nvGrpSpPr>
          <p:cNvPr name="Group 37" id="37"/>
          <p:cNvGrpSpPr/>
          <p:nvPr/>
        </p:nvGrpSpPr>
        <p:grpSpPr>
          <a:xfrm rot="0">
            <a:off x="476616" y="7225753"/>
            <a:ext cx="9817811" cy="2032547"/>
            <a:chOff x="0" y="0"/>
            <a:chExt cx="13090414" cy="2710062"/>
          </a:xfrm>
        </p:grpSpPr>
        <p:grpSp>
          <p:nvGrpSpPr>
            <p:cNvPr name="Group 38" id="38"/>
            <p:cNvGrpSpPr/>
            <p:nvPr/>
          </p:nvGrpSpPr>
          <p:grpSpPr>
            <a:xfrm rot="0">
              <a:off x="0" y="464338"/>
              <a:ext cx="13090414" cy="2095378"/>
              <a:chOff x="0" y="0"/>
              <a:chExt cx="2585761" cy="413902"/>
            </a:xfrm>
          </p:grpSpPr>
          <p:sp>
            <p:nvSpPr>
              <p:cNvPr name="Freeform 39" id="39"/>
              <p:cNvSpPr/>
              <p:nvPr/>
            </p:nvSpPr>
            <p:spPr>
              <a:xfrm flipH="false" flipV="false" rot="0">
                <a:off x="0" y="0"/>
                <a:ext cx="2585761" cy="413902"/>
              </a:xfrm>
              <a:custGeom>
                <a:avLst/>
                <a:gdLst/>
                <a:ahLst/>
                <a:cxnLst/>
                <a:rect r="r" b="b" t="t" l="l"/>
                <a:pathLst>
                  <a:path h="413902" w="2585761">
                    <a:moveTo>
                      <a:pt x="0" y="0"/>
                    </a:moveTo>
                    <a:lnTo>
                      <a:pt x="2585761" y="0"/>
                    </a:lnTo>
                    <a:lnTo>
                      <a:pt x="2585761" y="413902"/>
                    </a:lnTo>
                    <a:lnTo>
                      <a:pt x="0" y="413902"/>
                    </a:lnTo>
                    <a:close/>
                  </a:path>
                </a:pathLst>
              </a:custGeom>
              <a:solidFill>
                <a:srgbClr val="FFFFFF"/>
              </a:solidFill>
              <a:ln w="38100" cap="sq">
                <a:solidFill>
                  <a:srgbClr val="000000"/>
                </a:solidFill>
                <a:prstDash val="solid"/>
                <a:miter/>
              </a:ln>
            </p:spPr>
          </p:sp>
          <p:sp>
            <p:nvSpPr>
              <p:cNvPr name="TextBox 40" id="40"/>
              <p:cNvSpPr txBox="true"/>
              <p:nvPr/>
            </p:nvSpPr>
            <p:spPr>
              <a:xfrm>
                <a:off x="0" y="28575"/>
                <a:ext cx="2585761" cy="385327"/>
              </a:xfrm>
              <a:prstGeom prst="rect">
                <a:avLst/>
              </a:prstGeom>
            </p:spPr>
            <p:txBody>
              <a:bodyPr anchor="ctr" rtlCol="false" tIns="50800" lIns="50800" bIns="50800" rIns="50800"/>
              <a:lstStyle/>
              <a:p>
                <a:pPr algn="l">
                  <a:lnSpc>
                    <a:spcPts val="4399"/>
                  </a:lnSpc>
                </a:pPr>
              </a:p>
            </p:txBody>
          </p:sp>
        </p:grpSp>
        <p:sp>
          <p:nvSpPr>
            <p:cNvPr name="TextBox 41" id="41"/>
            <p:cNvSpPr txBox="true"/>
            <p:nvPr/>
          </p:nvSpPr>
          <p:spPr>
            <a:xfrm rot="0">
              <a:off x="490185" y="900101"/>
              <a:ext cx="12600229" cy="1809961"/>
            </a:xfrm>
            <a:prstGeom prst="rect">
              <a:avLst/>
            </a:prstGeom>
          </p:spPr>
          <p:txBody>
            <a:bodyPr anchor="t" rtlCol="false" tIns="0" lIns="0" bIns="0" rIns="0">
              <a:spAutoFit/>
            </a:bodyPr>
            <a:lstStyle/>
            <a:p>
              <a:pPr algn="l" marL="0" indent="0" lvl="0">
                <a:lnSpc>
                  <a:spcPts val="3640"/>
                </a:lnSpc>
              </a:pPr>
              <a:r>
                <a:rPr lang="en-US" sz="2800">
                  <a:solidFill>
                    <a:srgbClr val="000000"/>
                  </a:solidFill>
                  <a:latin typeface="ไอติม"/>
                  <a:ea typeface="ไอติม"/>
                  <a:cs typeface="ไอติม"/>
                  <a:sym typeface="ไอติม"/>
                </a:rPr>
                <a:t>ตัดปัญหา</a:t>
              </a:r>
              <a:r>
                <a:rPr lang="en-US" sz="2800" strike="noStrike" u="none">
                  <a:solidFill>
                    <a:srgbClr val="000000"/>
                  </a:solidFill>
                  <a:latin typeface="ไอติม"/>
                  <a:ea typeface="ไอติม"/>
                  <a:cs typeface="ไอติม"/>
                  <a:sym typeface="ไอติม"/>
                </a:rPr>
                <a:t> Null Pointer Exception โดยภาษาไม่อนุญาตให้นำค่าใน </a:t>
              </a:r>
            </a:p>
            <a:p>
              <a:pPr algn="l">
                <a:lnSpc>
                  <a:spcPts val="3640"/>
                </a:lnSpc>
              </a:pPr>
              <a:r>
                <a:rPr lang="en-US" sz="2800" strike="noStrike" u="none">
                  <a:solidFill>
                    <a:srgbClr val="000000"/>
                  </a:solidFill>
                  <a:latin typeface="ไอติม"/>
                  <a:ea typeface="ไอติม"/>
                  <a:cs typeface="ไอติม"/>
                  <a:sym typeface="ไอติม"/>
                </a:rPr>
                <a:t>Option&lt;T&gt; ไปใช้งานตรง ๆ ทันที</a:t>
              </a:r>
            </a:p>
            <a:p>
              <a:pPr algn="l" marL="0" indent="0" lvl="0">
                <a:lnSpc>
                  <a:spcPts val="3640"/>
                </a:lnSpc>
              </a:pPr>
            </a:p>
          </p:txBody>
        </p:sp>
        <p:grpSp>
          <p:nvGrpSpPr>
            <p:cNvPr name="Group 42" id="42"/>
            <p:cNvGrpSpPr/>
            <p:nvPr/>
          </p:nvGrpSpPr>
          <p:grpSpPr>
            <a:xfrm rot="0">
              <a:off x="0" y="0"/>
              <a:ext cx="4449448" cy="928676"/>
              <a:chOff x="0" y="0"/>
              <a:chExt cx="944390" cy="197111"/>
            </a:xfrm>
          </p:grpSpPr>
          <p:sp>
            <p:nvSpPr>
              <p:cNvPr name="Freeform 43" id="43"/>
              <p:cNvSpPr/>
              <p:nvPr/>
            </p:nvSpPr>
            <p:spPr>
              <a:xfrm flipH="false" flipV="false" rot="0">
                <a:off x="0" y="0"/>
                <a:ext cx="944390" cy="197111"/>
              </a:xfrm>
              <a:custGeom>
                <a:avLst/>
                <a:gdLst/>
                <a:ahLst/>
                <a:cxnLst/>
                <a:rect r="r" b="b" t="t" l="l"/>
                <a:pathLst>
                  <a:path h="197111" w="944390">
                    <a:moveTo>
                      <a:pt x="98555" y="0"/>
                    </a:moveTo>
                    <a:lnTo>
                      <a:pt x="845835" y="0"/>
                    </a:lnTo>
                    <a:cubicBezTo>
                      <a:pt x="871974" y="0"/>
                      <a:pt x="897042" y="10383"/>
                      <a:pt x="915524" y="28866"/>
                    </a:cubicBezTo>
                    <a:cubicBezTo>
                      <a:pt x="934007" y="47349"/>
                      <a:pt x="944390" y="72417"/>
                      <a:pt x="944390" y="98555"/>
                    </a:cubicBezTo>
                    <a:lnTo>
                      <a:pt x="944390" y="98555"/>
                    </a:lnTo>
                    <a:cubicBezTo>
                      <a:pt x="944390" y="124694"/>
                      <a:pt x="934007" y="149762"/>
                      <a:pt x="915524" y="168244"/>
                    </a:cubicBezTo>
                    <a:cubicBezTo>
                      <a:pt x="897042" y="186727"/>
                      <a:pt x="871974" y="197111"/>
                      <a:pt x="845835" y="197111"/>
                    </a:cubicBezTo>
                    <a:lnTo>
                      <a:pt x="98555" y="197111"/>
                    </a:lnTo>
                    <a:cubicBezTo>
                      <a:pt x="72417" y="197111"/>
                      <a:pt x="47349" y="186727"/>
                      <a:pt x="28866" y="168244"/>
                    </a:cubicBezTo>
                    <a:cubicBezTo>
                      <a:pt x="10383" y="149762"/>
                      <a:pt x="0" y="124694"/>
                      <a:pt x="0" y="98555"/>
                    </a:cubicBezTo>
                    <a:lnTo>
                      <a:pt x="0" y="98555"/>
                    </a:lnTo>
                    <a:cubicBezTo>
                      <a:pt x="0" y="72417"/>
                      <a:pt x="10383" y="47349"/>
                      <a:pt x="28866" y="28866"/>
                    </a:cubicBezTo>
                    <a:cubicBezTo>
                      <a:pt x="47349" y="10383"/>
                      <a:pt x="72417" y="0"/>
                      <a:pt x="98555" y="0"/>
                    </a:cubicBezTo>
                    <a:close/>
                  </a:path>
                </a:pathLst>
              </a:custGeom>
              <a:solidFill>
                <a:srgbClr val="FED7AE"/>
              </a:solidFill>
              <a:ln w="38100" cap="rnd">
                <a:solidFill>
                  <a:srgbClr val="000000"/>
                </a:solidFill>
                <a:prstDash val="solid"/>
                <a:round/>
              </a:ln>
            </p:spPr>
          </p:sp>
          <p:sp>
            <p:nvSpPr>
              <p:cNvPr name="TextBox 44" id="44"/>
              <p:cNvSpPr txBox="true"/>
              <p:nvPr/>
            </p:nvSpPr>
            <p:spPr>
              <a:xfrm>
                <a:off x="0" y="19050"/>
                <a:ext cx="944390" cy="178061"/>
              </a:xfrm>
              <a:prstGeom prst="rect">
                <a:avLst/>
              </a:prstGeom>
            </p:spPr>
            <p:txBody>
              <a:bodyPr anchor="ctr" rtlCol="false" tIns="50800" lIns="50800" bIns="50800" rIns="50800"/>
              <a:lstStyle/>
              <a:p>
                <a:pPr algn="ctr">
                  <a:lnSpc>
                    <a:spcPts val="2694"/>
                  </a:lnSpc>
                </a:pPr>
              </a:p>
            </p:txBody>
          </p:sp>
        </p:grpSp>
        <p:sp>
          <p:nvSpPr>
            <p:cNvPr name="TextBox 45" id="45"/>
            <p:cNvSpPr txBox="true"/>
            <p:nvPr/>
          </p:nvSpPr>
          <p:spPr>
            <a:xfrm rot="0">
              <a:off x="490185" y="185611"/>
              <a:ext cx="3352912" cy="614604"/>
            </a:xfrm>
            <a:prstGeom prst="rect">
              <a:avLst/>
            </a:prstGeom>
          </p:spPr>
          <p:txBody>
            <a:bodyPr anchor="t" rtlCol="false" tIns="0" lIns="0" bIns="0" rIns="0">
              <a:spAutoFit/>
            </a:bodyPr>
            <a:lstStyle/>
            <a:p>
              <a:pPr algn="l" marL="0" indent="0" lvl="0">
                <a:lnSpc>
                  <a:spcPts val="3335"/>
                </a:lnSpc>
                <a:spcBef>
                  <a:spcPct val="0"/>
                </a:spcBef>
              </a:pPr>
              <a:r>
                <a:rPr lang="en-US" sz="3335">
                  <a:solidFill>
                    <a:srgbClr val="000000"/>
                  </a:solidFill>
                  <a:latin typeface="ไอติม"/>
                  <a:ea typeface="ไอติม"/>
                  <a:cs typeface="ไอติม"/>
                  <a:sym typeface="ไอติม"/>
                </a:rPr>
                <a:t>ปัญหาที่แก้ไข</a:t>
              </a:r>
            </a:p>
          </p:txBody>
        </p:sp>
      </p:grpSp>
      <p:sp>
        <p:nvSpPr>
          <p:cNvPr name="Freeform 46" id="46"/>
          <p:cNvSpPr/>
          <p:nvPr/>
        </p:nvSpPr>
        <p:spPr>
          <a:xfrm flipH="false" flipV="false" rot="1400785">
            <a:off x="10318639" y="666947"/>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grpSp>
        <p:nvGrpSpPr>
          <p:cNvPr name="Group 47" id="47"/>
          <p:cNvGrpSpPr/>
          <p:nvPr/>
        </p:nvGrpSpPr>
        <p:grpSpPr>
          <a:xfrm rot="0">
            <a:off x="10257580" y="6857139"/>
            <a:ext cx="7475052" cy="2870879"/>
            <a:chOff x="0" y="0"/>
            <a:chExt cx="9966736" cy="3827839"/>
          </a:xfrm>
        </p:grpSpPr>
        <p:grpSp>
          <p:nvGrpSpPr>
            <p:cNvPr name="Group 48" id="48"/>
            <p:cNvGrpSpPr/>
            <p:nvPr/>
          </p:nvGrpSpPr>
          <p:grpSpPr>
            <a:xfrm rot="0">
              <a:off x="583541" y="677596"/>
              <a:ext cx="9181293" cy="2966305"/>
              <a:chOff x="0" y="0"/>
              <a:chExt cx="1813589" cy="585937"/>
            </a:xfrm>
          </p:grpSpPr>
          <p:sp>
            <p:nvSpPr>
              <p:cNvPr name="Freeform 49" id="49"/>
              <p:cNvSpPr/>
              <p:nvPr/>
            </p:nvSpPr>
            <p:spPr>
              <a:xfrm flipH="false" flipV="false" rot="0">
                <a:off x="0" y="0"/>
                <a:ext cx="1813589" cy="585937"/>
              </a:xfrm>
              <a:custGeom>
                <a:avLst/>
                <a:gdLst/>
                <a:ahLst/>
                <a:cxnLst/>
                <a:rect r="r" b="b" t="t" l="l"/>
                <a:pathLst>
                  <a:path h="585937" w="1813589">
                    <a:moveTo>
                      <a:pt x="55091" y="0"/>
                    </a:moveTo>
                    <a:lnTo>
                      <a:pt x="1758498" y="0"/>
                    </a:lnTo>
                    <a:cubicBezTo>
                      <a:pt x="1788924" y="0"/>
                      <a:pt x="1813589" y="24665"/>
                      <a:pt x="1813589" y="55091"/>
                    </a:cubicBezTo>
                    <a:lnTo>
                      <a:pt x="1813589" y="530846"/>
                    </a:lnTo>
                    <a:cubicBezTo>
                      <a:pt x="1813589" y="545457"/>
                      <a:pt x="1807785" y="559470"/>
                      <a:pt x="1797453" y="569801"/>
                    </a:cubicBezTo>
                    <a:cubicBezTo>
                      <a:pt x="1787122" y="580133"/>
                      <a:pt x="1773109" y="585937"/>
                      <a:pt x="1758498" y="585937"/>
                    </a:cubicBezTo>
                    <a:lnTo>
                      <a:pt x="55091" y="585937"/>
                    </a:lnTo>
                    <a:cubicBezTo>
                      <a:pt x="24665" y="585937"/>
                      <a:pt x="0" y="561272"/>
                      <a:pt x="0" y="530846"/>
                    </a:cubicBezTo>
                    <a:lnTo>
                      <a:pt x="0" y="55091"/>
                    </a:lnTo>
                    <a:cubicBezTo>
                      <a:pt x="0" y="24665"/>
                      <a:pt x="24665" y="0"/>
                      <a:pt x="55091" y="0"/>
                    </a:cubicBezTo>
                    <a:close/>
                  </a:path>
                </a:pathLst>
              </a:custGeom>
              <a:solidFill>
                <a:srgbClr val="FFD167"/>
              </a:solidFill>
              <a:ln w="38100" cap="rnd">
                <a:solidFill>
                  <a:srgbClr val="000000"/>
                </a:solidFill>
                <a:prstDash val="solid"/>
                <a:round/>
              </a:ln>
            </p:spPr>
          </p:sp>
          <p:sp>
            <p:nvSpPr>
              <p:cNvPr name="TextBox 50" id="50"/>
              <p:cNvSpPr txBox="true"/>
              <p:nvPr/>
            </p:nvSpPr>
            <p:spPr>
              <a:xfrm>
                <a:off x="0" y="19050"/>
                <a:ext cx="1813589" cy="566887"/>
              </a:xfrm>
              <a:prstGeom prst="rect">
                <a:avLst/>
              </a:prstGeom>
            </p:spPr>
            <p:txBody>
              <a:bodyPr anchor="ctr" rtlCol="false" tIns="50800" lIns="50800" bIns="50800" rIns="50800"/>
              <a:lstStyle/>
              <a:p>
                <a:pPr algn="ctr">
                  <a:lnSpc>
                    <a:spcPts val="2694"/>
                  </a:lnSpc>
                </a:pPr>
              </a:p>
            </p:txBody>
          </p:sp>
        </p:grpSp>
        <p:grpSp>
          <p:nvGrpSpPr>
            <p:cNvPr name="Group 51" id="51"/>
            <p:cNvGrpSpPr/>
            <p:nvPr/>
          </p:nvGrpSpPr>
          <p:grpSpPr>
            <a:xfrm rot="0">
              <a:off x="583541" y="527970"/>
              <a:ext cx="3429552" cy="898077"/>
              <a:chOff x="0" y="0"/>
              <a:chExt cx="727919" cy="190616"/>
            </a:xfrm>
          </p:grpSpPr>
          <p:sp>
            <p:nvSpPr>
              <p:cNvPr name="Freeform 52" id="52"/>
              <p:cNvSpPr/>
              <p:nvPr/>
            </p:nvSpPr>
            <p:spPr>
              <a:xfrm flipH="false" flipV="false" rot="0">
                <a:off x="0" y="0"/>
                <a:ext cx="727919" cy="190616"/>
              </a:xfrm>
              <a:custGeom>
                <a:avLst/>
                <a:gdLst/>
                <a:ahLst/>
                <a:cxnLst/>
                <a:rect r="r" b="b" t="t" l="l"/>
                <a:pathLst>
                  <a:path h="190616" w="727919">
                    <a:moveTo>
                      <a:pt x="95308" y="0"/>
                    </a:moveTo>
                    <a:lnTo>
                      <a:pt x="632611" y="0"/>
                    </a:lnTo>
                    <a:cubicBezTo>
                      <a:pt x="657888" y="0"/>
                      <a:pt x="682130" y="10041"/>
                      <a:pt x="700004" y="27915"/>
                    </a:cubicBezTo>
                    <a:cubicBezTo>
                      <a:pt x="717877" y="45789"/>
                      <a:pt x="727919" y="70031"/>
                      <a:pt x="727919" y="95308"/>
                    </a:cubicBezTo>
                    <a:lnTo>
                      <a:pt x="727919" y="95308"/>
                    </a:lnTo>
                    <a:cubicBezTo>
                      <a:pt x="727919" y="120585"/>
                      <a:pt x="717877" y="144827"/>
                      <a:pt x="700004" y="162701"/>
                    </a:cubicBezTo>
                    <a:cubicBezTo>
                      <a:pt x="682130" y="180574"/>
                      <a:pt x="657888" y="190616"/>
                      <a:pt x="632611" y="190616"/>
                    </a:cubicBezTo>
                    <a:lnTo>
                      <a:pt x="95308" y="190616"/>
                    </a:lnTo>
                    <a:cubicBezTo>
                      <a:pt x="70031" y="190616"/>
                      <a:pt x="45789" y="180574"/>
                      <a:pt x="27915" y="162701"/>
                    </a:cubicBezTo>
                    <a:cubicBezTo>
                      <a:pt x="10041" y="144827"/>
                      <a:pt x="0" y="120585"/>
                      <a:pt x="0" y="95308"/>
                    </a:cubicBezTo>
                    <a:lnTo>
                      <a:pt x="0" y="95308"/>
                    </a:lnTo>
                    <a:cubicBezTo>
                      <a:pt x="0" y="70031"/>
                      <a:pt x="10041" y="45789"/>
                      <a:pt x="27915" y="27915"/>
                    </a:cubicBezTo>
                    <a:cubicBezTo>
                      <a:pt x="45789" y="10041"/>
                      <a:pt x="70031" y="0"/>
                      <a:pt x="95308" y="0"/>
                    </a:cubicBezTo>
                    <a:close/>
                  </a:path>
                </a:pathLst>
              </a:custGeom>
              <a:solidFill>
                <a:srgbClr val="FFFFFF"/>
              </a:solidFill>
              <a:ln w="38100" cap="rnd">
                <a:solidFill>
                  <a:srgbClr val="000000"/>
                </a:solidFill>
                <a:prstDash val="solid"/>
                <a:round/>
              </a:ln>
            </p:spPr>
          </p:sp>
          <p:sp>
            <p:nvSpPr>
              <p:cNvPr name="TextBox 53" id="53"/>
              <p:cNvSpPr txBox="true"/>
              <p:nvPr/>
            </p:nvSpPr>
            <p:spPr>
              <a:xfrm>
                <a:off x="0" y="19050"/>
                <a:ext cx="727919" cy="171566"/>
              </a:xfrm>
              <a:prstGeom prst="rect">
                <a:avLst/>
              </a:prstGeom>
            </p:spPr>
            <p:txBody>
              <a:bodyPr anchor="ctr" rtlCol="false" tIns="50800" lIns="50800" bIns="50800" rIns="50800"/>
              <a:lstStyle/>
              <a:p>
                <a:pPr algn="ctr">
                  <a:lnSpc>
                    <a:spcPts val="2694"/>
                  </a:lnSpc>
                </a:pPr>
              </a:p>
            </p:txBody>
          </p:sp>
        </p:grpSp>
        <p:sp>
          <p:nvSpPr>
            <p:cNvPr name="Freeform 54" id="54"/>
            <p:cNvSpPr/>
            <p:nvPr/>
          </p:nvSpPr>
          <p:spPr>
            <a:xfrm flipH="false" flipV="false" rot="-6011362">
              <a:off x="113998" y="85652"/>
              <a:ext cx="1223374" cy="1254743"/>
            </a:xfrm>
            <a:custGeom>
              <a:avLst/>
              <a:gdLst/>
              <a:ahLst/>
              <a:cxnLst/>
              <a:rect r="r" b="b" t="t" l="l"/>
              <a:pathLst>
                <a:path h="1254743" w="1223374">
                  <a:moveTo>
                    <a:pt x="0" y="0"/>
                  </a:moveTo>
                  <a:lnTo>
                    <a:pt x="1223375" y="0"/>
                  </a:lnTo>
                  <a:lnTo>
                    <a:pt x="1223375" y="1254743"/>
                  </a:lnTo>
                  <a:lnTo>
                    <a:pt x="0" y="12547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5" id="55"/>
            <p:cNvSpPr txBox="true"/>
            <p:nvPr/>
          </p:nvSpPr>
          <p:spPr>
            <a:xfrm rot="0">
              <a:off x="1308097" y="577526"/>
              <a:ext cx="2168478" cy="672888"/>
            </a:xfrm>
            <a:prstGeom prst="rect">
              <a:avLst/>
            </a:prstGeom>
          </p:spPr>
          <p:txBody>
            <a:bodyPr anchor="t" rtlCol="false" tIns="0" lIns="0" bIns="0" rIns="0">
              <a:spAutoFit/>
            </a:bodyPr>
            <a:lstStyle/>
            <a:p>
              <a:pPr algn="l">
                <a:lnSpc>
                  <a:spcPts val="4160"/>
                </a:lnSpc>
              </a:pPr>
              <a:r>
                <a:rPr lang="en-US" sz="3200">
                  <a:solidFill>
                    <a:srgbClr val="000000"/>
                  </a:solidFill>
                  <a:latin typeface="ไอติม"/>
                  <a:ea typeface="ไอติม"/>
                  <a:cs typeface="ไอติม"/>
                  <a:sym typeface="ไอติม"/>
                </a:rPr>
                <a:t> </a:t>
              </a:r>
              <a:r>
                <a:rPr lang="en-US" sz="3200">
                  <a:solidFill>
                    <a:srgbClr val="000000"/>
                  </a:solidFill>
                  <a:latin typeface="ไอติม"/>
                  <a:ea typeface="ไอติม"/>
                  <a:cs typeface="ไอติม"/>
                  <a:sym typeface="ไอติม"/>
                </a:rPr>
                <a:t>จุดสำคัญ</a:t>
              </a:r>
            </a:p>
          </p:txBody>
        </p:sp>
        <p:sp>
          <p:nvSpPr>
            <p:cNvPr name="TextBox 56" id="56"/>
            <p:cNvSpPr txBox="true"/>
            <p:nvPr/>
          </p:nvSpPr>
          <p:spPr>
            <a:xfrm rot="0">
              <a:off x="1055612" y="1498659"/>
              <a:ext cx="8911125" cy="2329180"/>
            </a:xfrm>
            <a:prstGeom prst="rect">
              <a:avLst/>
            </a:prstGeom>
          </p:spPr>
          <p:txBody>
            <a:bodyPr anchor="t" rtlCol="false" tIns="0" lIns="0" bIns="0" rIns="0">
              <a:spAutoFit/>
            </a:bodyPr>
            <a:lstStyle/>
            <a:p>
              <a:pPr algn="l">
                <a:lnSpc>
                  <a:spcPts val="3510"/>
                </a:lnSpc>
              </a:pPr>
              <a:r>
                <a:rPr lang="en-US" sz="2700">
                  <a:solidFill>
                    <a:srgbClr val="000000"/>
                  </a:solidFill>
                  <a:latin typeface="ไอติม"/>
                  <a:ea typeface="ไอติม"/>
                  <a:cs typeface="ไอติม"/>
                  <a:sym typeface="ไอติม"/>
                </a:rPr>
                <a:t>บังคับจัดการค่าว่าง: ต้องใช้</a:t>
              </a:r>
              <a:r>
                <a:rPr lang="en-US" sz="2700">
                  <a:solidFill>
                    <a:srgbClr val="000000"/>
                  </a:solidFill>
                  <a:latin typeface="ไอติม"/>
                  <a:ea typeface="ไอติม"/>
                  <a:cs typeface="ไอติม"/>
                  <a:sym typeface="ไอติม"/>
                </a:rPr>
                <a:t> match เพื่อแกะค่า</a:t>
              </a:r>
            </a:p>
            <a:p>
              <a:pPr algn="l">
                <a:lnSpc>
                  <a:spcPts val="3510"/>
                </a:lnSpc>
              </a:pPr>
              <a:r>
                <a:rPr lang="en-US" sz="2700">
                  <a:solidFill>
                    <a:srgbClr val="000000"/>
                  </a:solidFill>
                  <a:latin typeface="ไอติม"/>
                  <a:ea typeface="ไอติม"/>
                  <a:cs typeface="ไอติม"/>
                  <a:sym typeface="ไอติม"/>
                </a:rPr>
                <a:t>และบังคับให้จัดการกรณี None เสมอ ทำให้ปลอดภัยขึ้นอย่างมาก</a:t>
              </a:r>
            </a:p>
            <a:p>
              <a:pPr algn="l">
                <a:lnSpc>
                  <a:spcPts val="3510"/>
                </a:lnSpc>
              </a:pPr>
            </a:p>
          </p:txBody>
        </p:sp>
      </p:grpSp>
      <p:sp>
        <p:nvSpPr>
          <p:cNvPr name="Freeform 57" id="57"/>
          <p:cNvSpPr/>
          <p:nvPr/>
        </p:nvSpPr>
        <p:spPr>
          <a:xfrm flipH="false" flipV="false" rot="0">
            <a:off x="11276861" y="2094590"/>
            <a:ext cx="5840423" cy="3317361"/>
          </a:xfrm>
          <a:custGeom>
            <a:avLst/>
            <a:gdLst/>
            <a:ahLst/>
            <a:cxnLst/>
            <a:rect r="r" b="b" t="t" l="l"/>
            <a:pathLst>
              <a:path h="3317361" w="5840423">
                <a:moveTo>
                  <a:pt x="0" y="0"/>
                </a:moveTo>
                <a:lnTo>
                  <a:pt x="5840423" y="0"/>
                </a:lnTo>
                <a:lnTo>
                  <a:pt x="5840423" y="3317361"/>
                </a:lnTo>
                <a:lnTo>
                  <a:pt x="0" y="3317361"/>
                </a:lnTo>
                <a:lnTo>
                  <a:pt x="0" y="0"/>
                </a:lnTo>
                <a:close/>
              </a:path>
            </a:pathLst>
          </a:custGeom>
          <a:blipFill>
            <a:blip r:embed="rId5"/>
            <a:stretch>
              <a:fillRect l="0" t="0" r="0" b="0"/>
            </a:stretch>
          </a:blipFill>
        </p:spPr>
      </p:sp>
      <p:sp>
        <p:nvSpPr>
          <p:cNvPr name="Freeform 58" id="58"/>
          <p:cNvSpPr/>
          <p:nvPr/>
        </p:nvSpPr>
        <p:spPr>
          <a:xfrm flipH="false" flipV="false" rot="0">
            <a:off x="12463797" y="5846466"/>
            <a:ext cx="3466550" cy="974361"/>
          </a:xfrm>
          <a:custGeom>
            <a:avLst/>
            <a:gdLst/>
            <a:ahLst/>
            <a:cxnLst/>
            <a:rect r="r" b="b" t="t" l="l"/>
            <a:pathLst>
              <a:path h="974361" w="3466550">
                <a:moveTo>
                  <a:pt x="0" y="0"/>
                </a:moveTo>
                <a:lnTo>
                  <a:pt x="3466550" y="0"/>
                </a:lnTo>
                <a:lnTo>
                  <a:pt x="3466550" y="974361"/>
                </a:lnTo>
                <a:lnTo>
                  <a:pt x="0" y="974361"/>
                </a:lnTo>
                <a:lnTo>
                  <a:pt x="0" y="0"/>
                </a:lnTo>
                <a:close/>
              </a:path>
            </a:pathLst>
          </a:custGeom>
          <a:blipFill>
            <a:blip r:embed="rId6"/>
            <a:stretch>
              <a:fillRect l="0" t="-19079" r="-1390" b="-52264"/>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7D9A9"/>
        </a:solidFill>
      </p:bgPr>
    </p:bg>
    <p:spTree>
      <p:nvGrpSpPr>
        <p:cNvPr id="1" name=""/>
        <p:cNvGrpSpPr/>
        <p:nvPr/>
      </p:nvGrpSpPr>
      <p:grpSpPr>
        <a:xfrm>
          <a:off x="0" y="0"/>
          <a:ext cx="0" cy="0"/>
          <a:chOff x="0" y="0"/>
          <a:chExt cx="0" cy="0"/>
        </a:xfrm>
      </p:grpSpPr>
      <p:grpSp>
        <p:nvGrpSpPr>
          <p:cNvPr name="Group 2" id="2"/>
          <p:cNvGrpSpPr/>
          <p:nvPr/>
        </p:nvGrpSpPr>
        <p:grpSpPr>
          <a:xfrm rot="0">
            <a:off x="17117284" y="305797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83C7F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7117284" y="5036546"/>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7117284" y="7018337"/>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515942" y="482581"/>
            <a:ext cx="19324665" cy="9506226"/>
            <a:chOff x="0" y="0"/>
            <a:chExt cx="5089624" cy="2503697"/>
          </a:xfrm>
        </p:grpSpPr>
        <p:sp>
          <p:nvSpPr>
            <p:cNvPr name="Freeform 12" id="12"/>
            <p:cNvSpPr/>
            <p:nvPr/>
          </p:nvSpPr>
          <p:spPr>
            <a:xfrm flipH="false" flipV="false" rot="0">
              <a:off x="0" y="0"/>
              <a:ext cx="5089623" cy="2503697"/>
            </a:xfrm>
            <a:custGeom>
              <a:avLst/>
              <a:gdLst/>
              <a:ahLst/>
              <a:cxnLst/>
              <a:rect r="r" b="b" t="t" l="l"/>
              <a:pathLst>
                <a:path h="2503697" w="5089623">
                  <a:moveTo>
                    <a:pt x="28044" y="0"/>
                  </a:moveTo>
                  <a:lnTo>
                    <a:pt x="5061580" y="0"/>
                  </a:lnTo>
                  <a:cubicBezTo>
                    <a:pt x="5077068" y="0"/>
                    <a:pt x="5089623" y="12556"/>
                    <a:pt x="5089623" y="28044"/>
                  </a:cubicBezTo>
                  <a:lnTo>
                    <a:pt x="5089623" y="2475654"/>
                  </a:lnTo>
                  <a:cubicBezTo>
                    <a:pt x="5089623" y="2483091"/>
                    <a:pt x="5086669" y="2490224"/>
                    <a:pt x="5081410" y="2495484"/>
                  </a:cubicBezTo>
                  <a:cubicBezTo>
                    <a:pt x="5076151" y="2500743"/>
                    <a:pt x="5069017" y="2503697"/>
                    <a:pt x="5061580" y="2503697"/>
                  </a:cubicBezTo>
                  <a:lnTo>
                    <a:pt x="28044" y="2503697"/>
                  </a:lnTo>
                  <a:cubicBezTo>
                    <a:pt x="12556" y="2503697"/>
                    <a:pt x="0" y="2491142"/>
                    <a:pt x="0" y="2475654"/>
                  </a:cubicBezTo>
                  <a:lnTo>
                    <a:pt x="0" y="28044"/>
                  </a:lnTo>
                  <a:cubicBezTo>
                    <a:pt x="0" y="20606"/>
                    <a:pt x="2955" y="13473"/>
                    <a:pt x="8214" y="8214"/>
                  </a:cubicBezTo>
                  <a:cubicBezTo>
                    <a:pt x="13473" y="2955"/>
                    <a:pt x="20606" y="0"/>
                    <a:pt x="28044" y="0"/>
                  </a:cubicBezTo>
                  <a:close/>
                </a:path>
              </a:pathLst>
            </a:custGeom>
            <a:solidFill>
              <a:srgbClr val="F8F5E7"/>
            </a:solidFill>
            <a:ln w="38100" cap="rnd">
              <a:solidFill>
                <a:srgbClr val="000000"/>
              </a:solidFill>
              <a:prstDash val="solid"/>
              <a:round/>
            </a:ln>
          </p:spPr>
        </p:sp>
        <p:sp>
          <p:nvSpPr>
            <p:cNvPr name="TextBox 13" id="13"/>
            <p:cNvSpPr txBox="true"/>
            <p:nvPr/>
          </p:nvSpPr>
          <p:spPr>
            <a:xfrm>
              <a:off x="0" y="19050"/>
              <a:ext cx="5089624" cy="2484647"/>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241911" y="316776"/>
            <a:ext cx="11352575" cy="1249168"/>
            <a:chOff x="0" y="0"/>
            <a:chExt cx="3212762" cy="353513"/>
          </a:xfrm>
        </p:grpSpPr>
        <p:sp>
          <p:nvSpPr>
            <p:cNvPr name="Freeform 15" id="15"/>
            <p:cNvSpPr/>
            <p:nvPr/>
          </p:nvSpPr>
          <p:spPr>
            <a:xfrm flipH="false" flipV="false" rot="0">
              <a:off x="0" y="0"/>
              <a:ext cx="3212762" cy="353513"/>
            </a:xfrm>
            <a:custGeom>
              <a:avLst/>
              <a:gdLst/>
              <a:ahLst/>
              <a:cxnLst/>
              <a:rect r="r" b="b" t="t" l="l"/>
              <a:pathLst>
                <a:path h="353513" w="3212762">
                  <a:moveTo>
                    <a:pt x="68195" y="0"/>
                  </a:moveTo>
                  <a:lnTo>
                    <a:pt x="3144567" y="0"/>
                  </a:lnTo>
                  <a:cubicBezTo>
                    <a:pt x="3182230" y="0"/>
                    <a:pt x="3212762" y="30532"/>
                    <a:pt x="3212762" y="68195"/>
                  </a:cubicBezTo>
                  <a:lnTo>
                    <a:pt x="3212762" y="285317"/>
                  </a:lnTo>
                  <a:cubicBezTo>
                    <a:pt x="3212762" y="322981"/>
                    <a:pt x="3182230" y="353513"/>
                    <a:pt x="3144567" y="353513"/>
                  </a:cubicBezTo>
                  <a:lnTo>
                    <a:pt x="68195" y="353513"/>
                  </a:lnTo>
                  <a:cubicBezTo>
                    <a:pt x="30532" y="353513"/>
                    <a:pt x="0" y="322981"/>
                    <a:pt x="0" y="285317"/>
                  </a:cubicBezTo>
                  <a:lnTo>
                    <a:pt x="0" y="68195"/>
                  </a:lnTo>
                  <a:cubicBezTo>
                    <a:pt x="0" y="30532"/>
                    <a:pt x="30532" y="0"/>
                    <a:pt x="68195" y="0"/>
                  </a:cubicBezTo>
                  <a:close/>
                </a:path>
              </a:pathLst>
            </a:custGeom>
            <a:solidFill>
              <a:srgbClr val="FFE88B"/>
            </a:solidFill>
            <a:ln w="38100" cap="rnd">
              <a:solidFill>
                <a:srgbClr val="000000"/>
              </a:solidFill>
              <a:prstDash val="solid"/>
              <a:round/>
            </a:ln>
          </p:spPr>
        </p:sp>
        <p:sp>
          <p:nvSpPr>
            <p:cNvPr name="TextBox 16" id="16"/>
            <p:cNvSpPr txBox="true"/>
            <p:nvPr/>
          </p:nvSpPr>
          <p:spPr>
            <a:xfrm>
              <a:off x="0" y="19050"/>
              <a:ext cx="3212762" cy="334463"/>
            </a:xfrm>
            <a:prstGeom prst="rect">
              <a:avLst/>
            </a:prstGeom>
          </p:spPr>
          <p:txBody>
            <a:bodyPr anchor="ctr" rtlCol="false" tIns="50800" lIns="50800" bIns="50800" rIns="50800"/>
            <a:lstStyle/>
            <a:p>
              <a:pPr algn="ctr">
                <a:lnSpc>
                  <a:spcPts val="2694"/>
                </a:lnSpc>
              </a:pPr>
            </a:p>
          </p:txBody>
        </p:sp>
      </p:grpSp>
      <p:grpSp>
        <p:nvGrpSpPr>
          <p:cNvPr name="Group 17" id="17"/>
          <p:cNvGrpSpPr/>
          <p:nvPr/>
        </p:nvGrpSpPr>
        <p:grpSpPr>
          <a:xfrm rot="0">
            <a:off x="568929" y="1639294"/>
            <a:ext cx="9861882" cy="1851493"/>
            <a:chOff x="0" y="0"/>
            <a:chExt cx="13149177" cy="2468657"/>
          </a:xfrm>
        </p:grpSpPr>
        <p:grpSp>
          <p:nvGrpSpPr>
            <p:cNvPr name="Group 18" id="18"/>
            <p:cNvGrpSpPr/>
            <p:nvPr/>
          </p:nvGrpSpPr>
          <p:grpSpPr>
            <a:xfrm rot="0">
              <a:off x="23073" y="771417"/>
              <a:ext cx="13126103" cy="1697240"/>
              <a:chOff x="0" y="0"/>
              <a:chExt cx="2592811" cy="335257"/>
            </a:xfrm>
          </p:grpSpPr>
          <p:sp>
            <p:nvSpPr>
              <p:cNvPr name="Freeform 19" id="19"/>
              <p:cNvSpPr/>
              <p:nvPr/>
            </p:nvSpPr>
            <p:spPr>
              <a:xfrm flipH="false" flipV="false" rot="0">
                <a:off x="0" y="0"/>
                <a:ext cx="2592811" cy="335257"/>
              </a:xfrm>
              <a:custGeom>
                <a:avLst/>
                <a:gdLst/>
                <a:ahLst/>
                <a:cxnLst/>
                <a:rect r="r" b="b" t="t" l="l"/>
                <a:pathLst>
                  <a:path h="335257" w="2592811">
                    <a:moveTo>
                      <a:pt x="0" y="0"/>
                    </a:moveTo>
                    <a:lnTo>
                      <a:pt x="2592811" y="0"/>
                    </a:lnTo>
                    <a:lnTo>
                      <a:pt x="2592811" y="335257"/>
                    </a:lnTo>
                    <a:lnTo>
                      <a:pt x="0" y="335257"/>
                    </a:lnTo>
                    <a:close/>
                  </a:path>
                </a:pathLst>
              </a:custGeom>
              <a:solidFill>
                <a:srgbClr val="FFFFFF"/>
              </a:solidFill>
              <a:ln w="38100" cap="sq">
                <a:solidFill>
                  <a:srgbClr val="000000"/>
                </a:solidFill>
                <a:prstDash val="solid"/>
                <a:miter/>
              </a:ln>
            </p:spPr>
          </p:sp>
          <p:sp>
            <p:nvSpPr>
              <p:cNvPr name="TextBox 20" id="20"/>
              <p:cNvSpPr txBox="true"/>
              <p:nvPr/>
            </p:nvSpPr>
            <p:spPr>
              <a:xfrm>
                <a:off x="0" y="28575"/>
                <a:ext cx="2592811" cy="306682"/>
              </a:xfrm>
              <a:prstGeom prst="rect">
                <a:avLst/>
              </a:prstGeom>
            </p:spPr>
            <p:txBody>
              <a:bodyPr anchor="ctr" rtlCol="false" tIns="50800" lIns="50800" bIns="50800" rIns="50800"/>
              <a:lstStyle/>
              <a:p>
                <a:pPr algn="l">
                  <a:lnSpc>
                    <a:spcPts val="4399"/>
                  </a:lnSpc>
                </a:pPr>
              </a:p>
            </p:txBody>
          </p:sp>
        </p:grpSp>
        <p:grpSp>
          <p:nvGrpSpPr>
            <p:cNvPr name="Group 21" id="21"/>
            <p:cNvGrpSpPr/>
            <p:nvPr/>
          </p:nvGrpSpPr>
          <p:grpSpPr>
            <a:xfrm rot="0">
              <a:off x="0" y="0"/>
              <a:ext cx="3352287" cy="1032794"/>
              <a:chOff x="0" y="0"/>
              <a:chExt cx="711519" cy="219209"/>
            </a:xfrm>
          </p:grpSpPr>
          <p:sp>
            <p:nvSpPr>
              <p:cNvPr name="Freeform 22" id="22"/>
              <p:cNvSpPr/>
              <p:nvPr/>
            </p:nvSpPr>
            <p:spPr>
              <a:xfrm flipH="false" flipV="false" rot="0">
                <a:off x="0" y="0"/>
                <a:ext cx="711519" cy="219209"/>
              </a:xfrm>
              <a:custGeom>
                <a:avLst/>
                <a:gdLst/>
                <a:ahLst/>
                <a:cxnLst/>
                <a:rect r="r" b="b" t="t" l="l"/>
                <a:pathLst>
                  <a:path h="219209" w="711519">
                    <a:moveTo>
                      <a:pt x="109605" y="0"/>
                    </a:moveTo>
                    <a:lnTo>
                      <a:pt x="601915" y="0"/>
                    </a:lnTo>
                    <a:cubicBezTo>
                      <a:pt x="662448" y="0"/>
                      <a:pt x="711519" y="49072"/>
                      <a:pt x="711519" y="109605"/>
                    </a:cubicBezTo>
                    <a:lnTo>
                      <a:pt x="711519" y="109605"/>
                    </a:lnTo>
                    <a:cubicBezTo>
                      <a:pt x="711519" y="170138"/>
                      <a:pt x="662448" y="219209"/>
                      <a:pt x="601915" y="219209"/>
                    </a:cubicBezTo>
                    <a:lnTo>
                      <a:pt x="109605" y="219209"/>
                    </a:lnTo>
                    <a:cubicBezTo>
                      <a:pt x="49072" y="219209"/>
                      <a:pt x="0" y="170138"/>
                      <a:pt x="0" y="109605"/>
                    </a:cubicBezTo>
                    <a:lnTo>
                      <a:pt x="0" y="109605"/>
                    </a:lnTo>
                    <a:cubicBezTo>
                      <a:pt x="0" y="49072"/>
                      <a:pt x="49072" y="0"/>
                      <a:pt x="109605" y="0"/>
                    </a:cubicBezTo>
                    <a:close/>
                  </a:path>
                </a:pathLst>
              </a:custGeom>
              <a:solidFill>
                <a:srgbClr val="FFD9E1"/>
              </a:solidFill>
              <a:ln w="38100" cap="rnd">
                <a:solidFill>
                  <a:srgbClr val="000000"/>
                </a:solidFill>
                <a:prstDash val="solid"/>
                <a:round/>
              </a:ln>
            </p:spPr>
          </p:sp>
          <p:sp>
            <p:nvSpPr>
              <p:cNvPr name="TextBox 23" id="23"/>
              <p:cNvSpPr txBox="true"/>
              <p:nvPr/>
            </p:nvSpPr>
            <p:spPr>
              <a:xfrm>
                <a:off x="0" y="19050"/>
                <a:ext cx="711519" cy="200159"/>
              </a:xfrm>
              <a:prstGeom prst="rect">
                <a:avLst/>
              </a:prstGeom>
            </p:spPr>
            <p:txBody>
              <a:bodyPr anchor="ctr" rtlCol="false" tIns="50800" lIns="50800" bIns="50800" rIns="50800"/>
              <a:lstStyle/>
              <a:p>
                <a:pPr algn="ctr">
                  <a:lnSpc>
                    <a:spcPts val="2694"/>
                  </a:lnSpc>
                </a:pPr>
              </a:p>
            </p:txBody>
          </p:sp>
        </p:grpSp>
        <p:sp>
          <p:nvSpPr>
            <p:cNvPr name="TextBox 24" id="24"/>
            <p:cNvSpPr txBox="true"/>
            <p:nvPr/>
          </p:nvSpPr>
          <p:spPr>
            <a:xfrm rot="0">
              <a:off x="455621" y="229627"/>
              <a:ext cx="3095314" cy="630690"/>
            </a:xfrm>
            <a:prstGeom prst="rect">
              <a:avLst/>
            </a:prstGeom>
          </p:spPr>
          <p:txBody>
            <a:bodyPr anchor="t" rtlCol="false" tIns="0" lIns="0" bIns="0" rIns="0">
              <a:spAutoFit/>
            </a:bodyPr>
            <a:lstStyle/>
            <a:p>
              <a:pPr algn="l" marL="0" indent="0" lvl="0">
                <a:lnSpc>
                  <a:spcPts val="3435"/>
                </a:lnSpc>
                <a:spcBef>
                  <a:spcPct val="0"/>
                </a:spcBef>
              </a:pPr>
              <a:r>
                <a:rPr lang="en-US" sz="3435">
                  <a:solidFill>
                    <a:srgbClr val="000000"/>
                  </a:solidFill>
                  <a:latin typeface="ไอติม"/>
                  <a:ea typeface="ไอติม"/>
                  <a:cs typeface="ไอติม"/>
                  <a:sym typeface="ไอติม"/>
                </a:rPr>
                <a:t>ความหมาย</a:t>
              </a:r>
            </a:p>
          </p:txBody>
        </p:sp>
        <p:sp>
          <p:nvSpPr>
            <p:cNvPr name="TextBox 25" id="25"/>
            <p:cNvSpPr txBox="true"/>
            <p:nvPr/>
          </p:nvSpPr>
          <p:spPr>
            <a:xfrm rot="0">
              <a:off x="455621" y="994694"/>
              <a:ext cx="12401863" cy="1160780"/>
            </a:xfrm>
            <a:prstGeom prst="rect">
              <a:avLst/>
            </a:prstGeom>
          </p:spPr>
          <p:txBody>
            <a:bodyPr anchor="t" rtlCol="false" tIns="0" lIns="0" bIns="0" rIns="0">
              <a:spAutoFit/>
            </a:bodyPr>
            <a:lstStyle/>
            <a:p>
              <a:pPr algn="l" marL="0" indent="0" lvl="0">
                <a:lnSpc>
                  <a:spcPts val="3510"/>
                </a:lnSpc>
              </a:pPr>
              <a:r>
                <a:rPr lang="en-US" sz="2700">
                  <a:solidFill>
                    <a:srgbClr val="000000"/>
                  </a:solidFill>
                  <a:latin typeface="ไอติม"/>
                  <a:ea typeface="ไอติม"/>
                  <a:cs typeface="ไอติม"/>
                  <a:sym typeface="ไอติม"/>
                </a:rPr>
                <a:t>Enum พิเศษ (Result&lt;T, E&gt;) สำหรับฟังก์ชันที่อาจเกิดข้อผิดพ</a:t>
              </a:r>
              <a:r>
                <a:rPr lang="en-US" sz="2700" strike="noStrike" u="none">
                  <a:solidFill>
                    <a:srgbClr val="000000"/>
                  </a:solidFill>
                  <a:latin typeface="ไอติม"/>
                  <a:ea typeface="ไอติม"/>
                  <a:cs typeface="ไอติม"/>
                  <a:sym typeface="ไอติม"/>
                </a:rPr>
                <a:t>ลาด </a:t>
              </a:r>
            </a:p>
            <a:p>
              <a:pPr algn="l" marL="0" indent="0" lvl="0">
                <a:lnSpc>
                  <a:spcPts val="3510"/>
                </a:lnSpc>
              </a:pPr>
              <a:r>
                <a:rPr lang="en-US" sz="2700" strike="noStrike" u="none">
                  <a:solidFill>
                    <a:srgbClr val="000000"/>
                  </a:solidFill>
                  <a:latin typeface="ไอติม"/>
                  <a:ea typeface="ไอติม"/>
                  <a:cs typeface="ไอติม"/>
                  <a:sym typeface="ไอติม"/>
                </a:rPr>
                <a:t>โดยจะคืนค่า Ok(ข้อมูล) เมื่อสำเร็จ และ Err(ข้อผิดพลาด) เมื่อล้มเหลว</a:t>
              </a:r>
            </a:p>
          </p:txBody>
        </p:sp>
      </p:grpSp>
      <p:grpSp>
        <p:nvGrpSpPr>
          <p:cNvPr name="Group 26" id="26"/>
          <p:cNvGrpSpPr/>
          <p:nvPr/>
        </p:nvGrpSpPr>
        <p:grpSpPr>
          <a:xfrm rot="0">
            <a:off x="568929" y="3649839"/>
            <a:ext cx="9861882" cy="2055946"/>
            <a:chOff x="0" y="0"/>
            <a:chExt cx="13149177" cy="2741261"/>
          </a:xfrm>
        </p:grpSpPr>
        <p:grpSp>
          <p:nvGrpSpPr>
            <p:cNvPr name="Group 27" id="27"/>
            <p:cNvGrpSpPr/>
            <p:nvPr/>
          </p:nvGrpSpPr>
          <p:grpSpPr>
            <a:xfrm rot="0">
              <a:off x="0" y="509933"/>
              <a:ext cx="13149177" cy="1875952"/>
              <a:chOff x="0" y="0"/>
              <a:chExt cx="2597368" cy="370558"/>
            </a:xfrm>
          </p:grpSpPr>
          <p:sp>
            <p:nvSpPr>
              <p:cNvPr name="Freeform 28" id="28"/>
              <p:cNvSpPr/>
              <p:nvPr/>
            </p:nvSpPr>
            <p:spPr>
              <a:xfrm flipH="false" flipV="false" rot="0">
                <a:off x="0" y="0"/>
                <a:ext cx="2597368" cy="370558"/>
              </a:xfrm>
              <a:custGeom>
                <a:avLst/>
                <a:gdLst/>
                <a:ahLst/>
                <a:cxnLst/>
                <a:rect r="r" b="b" t="t" l="l"/>
                <a:pathLst>
                  <a:path h="370558" w="2597368">
                    <a:moveTo>
                      <a:pt x="0" y="0"/>
                    </a:moveTo>
                    <a:lnTo>
                      <a:pt x="2597368" y="0"/>
                    </a:lnTo>
                    <a:lnTo>
                      <a:pt x="2597368" y="370558"/>
                    </a:lnTo>
                    <a:lnTo>
                      <a:pt x="0" y="370558"/>
                    </a:lnTo>
                    <a:close/>
                  </a:path>
                </a:pathLst>
              </a:custGeom>
              <a:solidFill>
                <a:srgbClr val="FFFFFF"/>
              </a:solidFill>
              <a:ln w="38100" cap="sq">
                <a:solidFill>
                  <a:srgbClr val="000000"/>
                </a:solidFill>
                <a:prstDash val="solid"/>
                <a:miter/>
              </a:ln>
            </p:spPr>
          </p:sp>
          <p:sp>
            <p:nvSpPr>
              <p:cNvPr name="TextBox 29" id="29"/>
              <p:cNvSpPr txBox="true"/>
              <p:nvPr/>
            </p:nvSpPr>
            <p:spPr>
              <a:xfrm>
                <a:off x="0" y="28575"/>
                <a:ext cx="2597368" cy="341983"/>
              </a:xfrm>
              <a:prstGeom prst="rect">
                <a:avLst/>
              </a:prstGeom>
            </p:spPr>
            <p:txBody>
              <a:bodyPr anchor="ctr" rtlCol="false" tIns="50800" lIns="50800" bIns="50800" rIns="50800"/>
              <a:lstStyle/>
              <a:p>
                <a:pPr algn="l">
                  <a:lnSpc>
                    <a:spcPts val="4399"/>
                  </a:lnSpc>
                </a:pPr>
              </a:p>
            </p:txBody>
          </p:sp>
        </p:grpSp>
        <p:sp>
          <p:nvSpPr>
            <p:cNvPr name="TextBox 30" id="30"/>
            <p:cNvSpPr txBox="true"/>
            <p:nvPr/>
          </p:nvSpPr>
          <p:spPr>
            <a:xfrm rot="0">
              <a:off x="293726" y="996281"/>
              <a:ext cx="12569534" cy="1744980"/>
            </a:xfrm>
            <a:prstGeom prst="rect">
              <a:avLst/>
            </a:prstGeom>
          </p:spPr>
          <p:txBody>
            <a:bodyPr anchor="t" rtlCol="false" tIns="0" lIns="0" bIns="0" rIns="0">
              <a:spAutoFit/>
            </a:bodyPr>
            <a:lstStyle/>
            <a:p>
              <a:pPr algn="l">
                <a:lnSpc>
                  <a:spcPts val="3510"/>
                </a:lnSpc>
              </a:pPr>
              <a:r>
                <a:rPr lang="en-US" sz="2700">
                  <a:solidFill>
                    <a:srgbClr val="000000"/>
                  </a:solidFill>
                  <a:latin typeface="ไอติม"/>
                  <a:ea typeface="ไอติม"/>
                  <a:cs typeface="ไอติม"/>
                  <a:sym typeface="ไอติม"/>
                </a:rPr>
                <a:t>เพื่อให้กา</a:t>
              </a:r>
              <a:r>
                <a:rPr lang="en-US" sz="2700" strike="noStrike" u="none">
                  <a:solidFill>
                    <a:srgbClr val="000000"/>
                  </a:solidFill>
                  <a:latin typeface="ไอติม"/>
                  <a:ea typeface="ไอติม"/>
                  <a:cs typeface="ไอติม"/>
                  <a:sym typeface="ไอติม"/>
                </a:rPr>
                <a:t>รจัดการ Error เป็นไปอย่างชัดเจนและปลอดภัยในระดับภาษา โดยไม่ต้องพึ่งพาระบบ try/catch แบบภาษา OOP ทั่วไป</a:t>
              </a:r>
            </a:p>
            <a:p>
              <a:pPr algn="l" marL="0" indent="0" lvl="0">
                <a:lnSpc>
                  <a:spcPts val="3510"/>
                </a:lnSpc>
              </a:pPr>
            </a:p>
          </p:txBody>
        </p:sp>
        <p:grpSp>
          <p:nvGrpSpPr>
            <p:cNvPr name="Group 31" id="31"/>
            <p:cNvGrpSpPr/>
            <p:nvPr/>
          </p:nvGrpSpPr>
          <p:grpSpPr>
            <a:xfrm rot="0">
              <a:off x="0" y="0"/>
              <a:ext cx="4040668" cy="883435"/>
              <a:chOff x="0" y="0"/>
              <a:chExt cx="857627" cy="187508"/>
            </a:xfrm>
          </p:grpSpPr>
          <p:sp>
            <p:nvSpPr>
              <p:cNvPr name="Freeform 32" id="32"/>
              <p:cNvSpPr/>
              <p:nvPr/>
            </p:nvSpPr>
            <p:spPr>
              <a:xfrm flipH="false" flipV="false" rot="0">
                <a:off x="0" y="0"/>
                <a:ext cx="857627" cy="187508"/>
              </a:xfrm>
              <a:custGeom>
                <a:avLst/>
                <a:gdLst/>
                <a:ahLst/>
                <a:cxnLst/>
                <a:rect r="r" b="b" t="t" l="l"/>
                <a:pathLst>
                  <a:path h="187508" w="857627">
                    <a:moveTo>
                      <a:pt x="93754" y="0"/>
                    </a:moveTo>
                    <a:lnTo>
                      <a:pt x="763873" y="0"/>
                    </a:lnTo>
                    <a:cubicBezTo>
                      <a:pt x="815652" y="0"/>
                      <a:pt x="857627" y="41975"/>
                      <a:pt x="857627" y="93754"/>
                    </a:cubicBezTo>
                    <a:lnTo>
                      <a:pt x="857627" y="93754"/>
                    </a:lnTo>
                    <a:cubicBezTo>
                      <a:pt x="857627" y="145533"/>
                      <a:pt x="815652" y="187508"/>
                      <a:pt x="763873" y="187508"/>
                    </a:cubicBezTo>
                    <a:lnTo>
                      <a:pt x="93754" y="187508"/>
                    </a:lnTo>
                    <a:cubicBezTo>
                      <a:pt x="41975" y="187508"/>
                      <a:pt x="0" y="145533"/>
                      <a:pt x="0" y="93754"/>
                    </a:cubicBezTo>
                    <a:lnTo>
                      <a:pt x="0" y="93754"/>
                    </a:lnTo>
                    <a:cubicBezTo>
                      <a:pt x="0" y="41975"/>
                      <a:pt x="41975" y="0"/>
                      <a:pt x="93754" y="0"/>
                    </a:cubicBezTo>
                    <a:close/>
                  </a:path>
                </a:pathLst>
              </a:custGeom>
              <a:solidFill>
                <a:srgbClr val="D1EAFF"/>
              </a:solidFill>
              <a:ln w="38100" cap="rnd">
                <a:solidFill>
                  <a:srgbClr val="000000"/>
                </a:solidFill>
                <a:prstDash val="solid"/>
                <a:round/>
              </a:ln>
            </p:spPr>
          </p:sp>
          <p:sp>
            <p:nvSpPr>
              <p:cNvPr name="TextBox 33" id="33"/>
              <p:cNvSpPr txBox="true"/>
              <p:nvPr/>
            </p:nvSpPr>
            <p:spPr>
              <a:xfrm>
                <a:off x="0" y="19050"/>
                <a:ext cx="857627" cy="168458"/>
              </a:xfrm>
              <a:prstGeom prst="rect">
                <a:avLst/>
              </a:prstGeom>
            </p:spPr>
            <p:txBody>
              <a:bodyPr anchor="ctr" rtlCol="false" tIns="50800" lIns="50800" bIns="50800" rIns="50800"/>
              <a:lstStyle/>
              <a:p>
                <a:pPr algn="ctr">
                  <a:lnSpc>
                    <a:spcPts val="2694"/>
                  </a:lnSpc>
                </a:pPr>
              </a:p>
            </p:txBody>
          </p:sp>
        </p:grpSp>
        <p:sp>
          <p:nvSpPr>
            <p:cNvPr name="TextBox 34" id="34"/>
            <p:cNvSpPr txBox="true"/>
            <p:nvPr/>
          </p:nvSpPr>
          <p:spPr>
            <a:xfrm rot="0">
              <a:off x="293726" y="187950"/>
              <a:ext cx="3746942" cy="563169"/>
            </a:xfrm>
            <a:prstGeom prst="rect">
              <a:avLst/>
            </a:prstGeom>
          </p:spPr>
          <p:txBody>
            <a:bodyPr anchor="t" rtlCol="false" tIns="0" lIns="0" bIns="0" rIns="0">
              <a:spAutoFit/>
            </a:bodyPr>
            <a:lstStyle/>
            <a:p>
              <a:pPr algn="l" marL="0" indent="0" lvl="0">
                <a:lnSpc>
                  <a:spcPts val="3035"/>
                </a:lnSpc>
                <a:spcBef>
                  <a:spcPct val="0"/>
                </a:spcBef>
              </a:pPr>
              <a:r>
                <a:rPr lang="en-US" sz="3035">
                  <a:solidFill>
                    <a:srgbClr val="000000"/>
                  </a:solidFill>
                  <a:latin typeface="ไอติม"/>
                  <a:ea typeface="ไอติม"/>
                  <a:cs typeface="ไอติม"/>
                  <a:sym typeface="ไอติม"/>
                </a:rPr>
                <a:t>เหตุผลที่ออกแบบ</a:t>
              </a:r>
            </a:p>
          </p:txBody>
        </p:sp>
      </p:grpSp>
      <p:grpSp>
        <p:nvGrpSpPr>
          <p:cNvPr name="Group 35" id="35"/>
          <p:cNvGrpSpPr/>
          <p:nvPr/>
        </p:nvGrpSpPr>
        <p:grpSpPr>
          <a:xfrm rot="0">
            <a:off x="10591912" y="2188617"/>
            <a:ext cx="6672695" cy="2993569"/>
            <a:chOff x="0" y="0"/>
            <a:chExt cx="8896926" cy="3991426"/>
          </a:xfrm>
        </p:grpSpPr>
        <p:grpSp>
          <p:nvGrpSpPr>
            <p:cNvPr name="Group 36" id="36"/>
            <p:cNvGrpSpPr/>
            <p:nvPr/>
          </p:nvGrpSpPr>
          <p:grpSpPr>
            <a:xfrm rot="0">
              <a:off x="102155" y="671295"/>
              <a:ext cx="8794771" cy="2990562"/>
              <a:chOff x="0" y="0"/>
              <a:chExt cx="1737239" cy="590728"/>
            </a:xfrm>
          </p:grpSpPr>
          <p:sp>
            <p:nvSpPr>
              <p:cNvPr name="Freeform 37" id="37"/>
              <p:cNvSpPr/>
              <p:nvPr/>
            </p:nvSpPr>
            <p:spPr>
              <a:xfrm flipH="false" flipV="false" rot="0">
                <a:off x="0" y="0"/>
                <a:ext cx="1737239" cy="590728"/>
              </a:xfrm>
              <a:custGeom>
                <a:avLst/>
                <a:gdLst/>
                <a:ahLst/>
                <a:cxnLst/>
                <a:rect r="r" b="b" t="t" l="l"/>
                <a:pathLst>
                  <a:path h="590728" w="1737239">
                    <a:moveTo>
                      <a:pt x="0" y="0"/>
                    </a:moveTo>
                    <a:lnTo>
                      <a:pt x="1737239" y="0"/>
                    </a:lnTo>
                    <a:lnTo>
                      <a:pt x="1737239" y="590728"/>
                    </a:lnTo>
                    <a:lnTo>
                      <a:pt x="0" y="590728"/>
                    </a:lnTo>
                    <a:close/>
                  </a:path>
                </a:pathLst>
              </a:custGeom>
              <a:solidFill>
                <a:srgbClr val="FFFFFF"/>
              </a:solidFill>
              <a:ln w="38100" cap="sq">
                <a:solidFill>
                  <a:srgbClr val="000000"/>
                </a:solidFill>
                <a:prstDash val="solid"/>
                <a:miter/>
              </a:ln>
            </p:spPr>
          </p:sp>
          <p:sp>
            <p:nvSpPr>
              <p:cNvPr name="TextBox 38" id="38"/>
              <p:cNvSpPr txBox="true"/>
              <p:nvPr/>
            </p:nvSpPr>
            <p:spPr>
              <a:xfrm>
                <a:off x="0" y="28575"/>
                <a:ext cx="1737239" cy="562153"/>
              </a:xfrm>
              <a:prstGeom prst="rect">
                <a:avLst/>
              </a:prstGeom>
            </p:spPr>
            <p:txBody>
              <a:bodyPr anchor="ctr" rtlCol="false" tIns="50800" lIns="50800" bIns="50800" rIns="50800"/>
              <a:lstStyle/>
              <a:p>
                <a:pPr algn="l">
                  <a:lnSpc>
                    <a:spcPts val="4399"/>
                  </a:lnSpc>
                </a:pPr>
              </a:p>
            </p:txBody>
          </p:sp>
        </p:grpSp>
        <p:grpSp>
          <p:nvGrpSpPr>
            <p:cNvPr name="Group 39" id="39"/>
            <p:cNvGrpSpPr/>
            <p:nvPr/>
          </p:nvGrpSpPr>
          <p:grpSpPr>
            <a:xfrm rot="0">
              <a:off x="0" y="0"/>
              <a:ext cx="3616474" cy="910086"/>
              <a:chOff x="0" y="0"/>
              <a:chExt cx="767593" cy="193165"/>
            </a:xfrm>
          </p:grpSpPr>
          <p:sp>
            <p:nvSpPr>
              <p:cNvPr name="Freeform 40" id="40"/>
              <p:cNvSpPr/>
              <p:nvPr/>
            </p:nvSpPr>
            <p:spPr>
              <a:xfrm flipH="false" flipV="false" rot="0">
                <a:off x="0" y="0"/>
                <a:ext cx="767593" cy="193165"/>
              </a:xfrm>
              <a:custGeom>
                <a:avLst/>
                <a:gdLst/>
                <a:ahLst/>
                <a:cxnLst/>
                <a:rect r="r" b="b" t="t" l="l"/>
                <a:pathLst>
                  <a:path h="193165" w="767593">
                    <a:moveTo>
                      <a:pt x="96582" y="0"/>
                    </a:moveTo>
                    <a:lnTo>
                      <a:pt x="671010" y="0"/>
                    </a:lnTo>
                    <a:cubicBezTo>
                      <a:pt x="696625" y="0"/>
                      <a:pt x="721192" y="10176"/>
                      <a:pt x="739304" y="28288"/>
                    </a:cubicBezTo>
                    <a:cubicBezTo>
                      <a:pt x="757417" y="46401"/>
                      <a:pt x="767593" y="70967"/>
                      <a:pt x="767593" y="96582"/>
                    </a:cubicBezTo>
                    <a:lnTo>
                      <a:pt x="767593" y="96582"/>
                    </a:lnTo>
                    <a:cubicBezTo>
                      <a:pt x="767593" y="122198"/>
                      <a:pt x="757417" y="146764"/>
                      <a:pt x="739304" y="164876"/>
                    </a:cubicBezTo>
                    <a:cubicBezTo>
                      <a:pt x="721192" y="182989"/>
                      <a:pt x="696625" y="193165"/>
                      <a:pt x="671010" y="193165"/>
                    </a:cubicBezTo>
                    <a:lnTo>
                      <a:pt x="96582" y="193165"/>
                    </a:lnTo>
                    <a:cubicBezTo>
                      <a:pt x="70967" y="193165"/>
                      <a:pt x="46401" y="182989"/>
                      <a:pt x="28288" y="164876"/>
                    </a:cubicBezTo>
                    <a:cubicBezTo>
                      <a:pt x="10176" y="146764"/>
                      <a:pt x="0" y="122198"/>
                      <a:pt x="0" y="96582"/>
                    </a:cubicBezTo>
                    <a:lnTo>
                      <a:pt x="0" y="96582"/>
                    </a:lnTo>
                    <a:cubicBezTo>
                      <a:pt x="0" y="70967"/>
                      <a:pt x="10176" y="46401"/>
                      <a:pt x="28288" y="28288"/>
                    </a:cubicBezTo>
                    <a:cubicBezTo>
                      <a:pt x="46401" y="10176"/>
                      <a:pt x="70967" y="0"/>
                      <a:pt x="96582" y="0"/>
                    </a:cubicBezTo>
                    <a:close/>
                  </a:path>
                </a:pathLst>
              </a:custGeom>
              <a:solidFill>
                <a:srgbClr val="FED7AE"/>
              </a:solidFill>
              <a:ln w="38100" cap="rnd">
                <a:solidFill>
                  <a:srgbClr val="000000"/>
                </a:solidFill>
                <a:prstDash val="solid"/>
                <a:round/>
              </a:ln>
            </p:spPr>
          </p:sp>
          <p:sp>
            <p:nvSpPr>
              <p:cNvPr name="TextBox 41" id="41"/>
              <p:cNvSpPr txBox="true"/>
              <p:nvPr/>
            </p:nvSpPr>
            <p:spPr>
              <a:xfrm>
                <a:off x="0" y="19050"/>
                <a:ext cx="767593" cy="174115"/>
              </a:xfrm>
              <a:prstGeom prst="rect">
                <a:avLst/>
              </a:prstGeom>
            </p:spPr>
            <p:txBody>
              <a:bodyPr anchor="ctr" rtlCol="false" tIns="50800" lIns="50800" bIns="50800" rIns="50800"/>
              <a:lstStyle/>
              <a:p>
                <a:pPr algn="ctr">
                  <a:lnSpc>
                    <a:spcPts val="2694"/>
                  </a:lnSpc>
                </a:pPr>
              </a:p>
            </p:txBody>
          </p:sp>
        </p:grpSp>
        <p:sp>
          <p:nvSpPr>
            <p:cNvPr name="TextBox 42" id="42"/>
            <p:cNvSpPr txBox="true"/>
            <p:nvPr/>
          </p:nvSpPr>
          <p:spPr>
            <a:xfrm rot="0">
              <a:off x="423492" y="201170"/>
              <a:ext cx="3125111" cy="579256"/>
            </a:xfrm>
            <a:prstGeom prst="rect">
              <a:avLst/>
            </a:prstGeom>
          </p:spPr>
          <p:txBody>
            <a:bodyPr anchor="t" rtlCol="false" tIns="0" lIns="0" bIns="0" rIns="0">
              <a:spAutoFit/>
            </a:bodyPr>
            <a:lstStyle/>
            <a:p>
              <a:pPr algn="l" marL="0" indent="0" lvl="0">
                <a:lnSpc>
                  <a:spcPts val="3135"/>
                </a:lnSpc>
                <a:spcBef>
                  <a:spcPct val="0"/>
                </a:spcBef>
              </a:pPr>
              <a:r>
                <a:rPr lang="en-US" sz="3135">
                  <a:solidFill>
                    <a:srgbClr val="000000"/>
                  </a:solidFill>
                  <a:latin typeface="ไอติม"/>
                  <a:ea typeface="ไอติม"/>
                  <a:cs typeface="ไอติม"/>
                  <a:sym typeface="ไอติม"/>
                </a:rPr>
                <a:t>ปัญหาที่แก้ไข</a:t>
              </a:r>
            </a:p>
          </p:txBody>
        </p:sp>
        <p:sp>
          <p:nvSpPr>
            <p:cNvPr name="TextBox 43" id="43"/>
            <p:cNvSpPr txBox="true"/>
            <p:nvPr/>
          </p:nvSpPr>
          <p:spPr>
            <a:xfrm rot="0">
              <a:off x="586755" y="1053493"/>
              <a:ext cx="7825571" cy="2937933"/>
            </a:xfrm>
            <a:prstGeom prst="rect">
              <a:avLst/>
            </a:prstGeom>
          </p:spPr>
          <p:txBody>
            <a:bodyPr anchor="t" rtlCol="false" tIns="0" lIns="0" bIns="0" rIns="0">
              <a:spAutoFit/>
            </a:bodyPr>
            <a:lstStyle/>
            <a:p>
              <a:pPr algn="l">
                <a:lnSpc>
                  <a:spcPts val="3510"/>
                </a:lnSpc>
              </a:pPr>
              <a:r>
                <a:rPr lang="en-US" sz="2700">
                  <a:solidFill>
                    <a:srgbClr val="000000"/>
                  </a:solidFill>
                  <a:latin typeface="ไอติม"/>
                  <a:ea typeface="ไอติม"/>
                  <a:cs typeface="ไอติม"/>
                  <a:sym typeface="ไอติม"/>
                </a:rPr>
                <a:t> ตัดปัญหาโปรแก</a:t>
              </a:r>
              <a:r>
                <a:rPr lang="en-US" sz="2700" strike="noStrike" u="none">
                  <a:solidFill>
                    <a:srgbClr val="000000"/>
                  </a:solidFill>
                  <a:latin typeface="ไอติม"/>
                  <a:ea typeface="ไอติม"/>
                  <a:cs typeface="ไอติม"/>
                  <a:sym typeface="ไอติม"/>
                </a:rPr>
                <a:t>รมหยุดทำงานกะทันหัน (Crash) จากข้อผิดพลาด (เช่น แปลงสตริงเป็นตัวเลขไม่สำเร็จ) โดยบังคับให้มีการตรวจสอบผลลัพธ์ก่อนทำงานต่อ</a:t>
              </a:r>
            </a:p>
            <a:p>
              <a:pPr algn="l" marL="0" indent="0" lvl="0">
                <a:lnSpc>
                  <a:spcPts val="3640"/>
                </a:lnSpc>
              </a:pPr>
            </a:p>
          </p:txBody>
        </p:sp>
      </p:grpSp>
      <p:sp>
        <p:nvSpPr>
          <p:cNvPr name="Freeform 44" id="44"/>
          <p:cNvSpPr/>
          <p:nvPr/>
        </p:nvSpPr>
        <p:spPr>
          <a:xfrm flipH="false" flipV="false" rot="1400785">
            <a:off x="11945997" y="666947"/>
            <a:ext cx="1187329" cy="1243276"/>
          </a:xfrm>
          <a:custGeom>
            <a:avLst/>
            <a:gdLst/>
            <a:ahLst/>
            <a:cxnLst/>
            <a:rect r="r" b="b" t="t" l="l"/>
            <a:pathLst>
              <a:path h="1243276" w="1187329">
                <a:moveTo>
                  <a:pt x="0" y="0"/>
                </a:moveTo>
                <a:lnTo>
                  <a:pt x="1187329" y="0"/>
                </a:lnTo>
                <a:lnTo>
                  <a:pt x="1187329" y="1243277"/>
                </a:lnTo>
                <a:lnTo>
                  <a:pt x="0" y="1243277"/>
                </a:lnTo>
                <a:lnTo>
                  <a:pt x="0" y="0"/>
                </a:lnTo>
                <a:close/>
              </a:path>
            </a:pathLst>
          </a:custGeom>
          <a:blipFill>
            <a:blip r:embed="rId2"/>
            <a:stretch>
              <a:fillRect l="0" t="0" r="0" b="0"/>
            </a:stretch>
          </a:blipFill>
        </p:spPr>
      </p:sp>
      <p:grpSp>
        <p:nvGrpSpPr>
          <p:cNvPr name="Group 45" id="45"/>
          <p:cNvGrpSpPr/>
          <p:nvPr/>
        </p:nvGrpSpPr>
        <p:grpSpPr>
          <a:xfrm rot="0">
            <a:off x="10430812" y="5000447"/>
            <a:ext cx="6931064" cy="2949099"/>
            <a:chOff x="0" y="0"/>
            <a:chExt cx="9241419" cy="3932131"/>
          </a:xfrm>
        </p:grpSpPr>
        <p:grpSp>
          <p:nvGrpSpPr>
            <p:cNvPr name="Group 46" id="46"/>
            <p:cNvGrpSpPr/>
            <p:nvPr/>
          </p:nvGrpSpPr>
          <p:grpSpPr>
            <a:xfrm rot="0">
              <a:off x="537114" y="1137124"/>
              <a:ext cx="8704304" cy="2795008"/>
              <a:chOff x="0" y="0"/>
              <a:chExt cx="2110225" cy="677607"/>
            </a:xfrm>
          </p:grpSpPr>
          <p:sp>
            <p:nvSpPr>
              <p:cNvPr name="Freeform 47" id="47"/>
              <p:cNvSpPr/>
              <p:nvPr/>
            </p:nvSpPr>
            <p:spPr>
              <a:xfrm flipH="false" flipV="false" rot="0">
                <a:off x="0" y="0"/>
                <a:ext cx="2110225" cy="677607"/>
              </a:xfrm>
              <a:custGeom>
                <a:avLst/>
                <a:gdLst/>
                <a:ahLst/>
                <a:cxnLst/>
                <a:rect r="r" b="b" t="t" l="l"/>
                <a:pathLst>
                  <a:path h="677607" w="2110225">
                    <a:moveTo>
                      <a:pt x="47347" y="0"/>
                    </a:moveTo>
                    <a:lnTo>
                      <a:pt x="2062878" y="0"/>
                    </a:lnTo>
                    <a:cubicBezTo>
                      <a:pt x="2075435" y="0"/>
                      <a:pt x="2087478" y="4988"/>
                      <a:pt x="2096357" y="13868"/>
                    </a:cubicBezTo>
                    <a:cubicBezTo>
                      <a:pt x="2105237" y="22747"/>
                      <a:pt x="2110225" y="34790"/>
                      <a:pt x="2110225" y="47347"/>
                    </a:cubicBezTo>
                    <a:lnTo>
                      <a:pt x="2110225" y="630260"/>
                    </a:lnTo>
                    <a:cubicBezTo>
                      <a:pt x="2110225" y="656409"/>
                      <a:pt x="2089027" y="677607"/>
                      <a:pt x="2062878" y="677607"/>
                    </a:cubicBezTo>
                    <a:lnTo>
                      <a:pt x="47347" y="677607"/>
                    </a:lnTo>
                    <a:cubicBezTo>
                      <a:pt x="34790" y="677607"/>
                      <a:pt x="22747" y="672618"/>
                      <a:pt x="13868" y="663739"/>
                    </a:cubicBezTo>
                    <a:cubicBezTo>
                      <a:pt x="4988" y="654860"/>
                      <a:pt x="0" y="642817"/>
                      <a:pt x="0" y="630260"/>
                    </a:cubicBezTo>
                    <a:lnTo>
                      <a:pt x="0" y="47347"/>
                    </a:lnTo>
                    <a:cubicBezTo>
                      <a:pt x="0" y="34790"/>
                      <a:pt x="4988" y="22747"/>
                      <a:pt x="13868" y="13868"/>
                    </a:cubicBezTo>
                    <a:cubicBezTo>
                      <a:pt x="22747" y="4988"/>
                      <a:pt x="34790" y="0"/>
                      <a:pt x="47347" y="0"/>
                    </a:cubicBezTo>
                    <a:close/>
                  </a:path>
                </a:pathLst>
              </a:custGeom>
              <a:solidFill>
                <a:srgbClr val="FFD167"/>
              </a:solidFill>
              <a:ln w="38100" cap="rnd">
                <a:solidFill>
                  <a:srgbClr val="000000"/>
                </a:solidFill>
                <a:prstDash val="solid"/>
                <a:round/>
              </a:ln>
            </p:spPr>
          </p:sp>
          <p:sp>
            <p:nvSpPr>
              <p:cNvPr name="TextBox 48" id="48"/>
              <p:cNvSpPr txBox="true"/>
              <p:nvPr/>
            </p:nvSpPr>
            <p:spPr>
              <a:xfrm>
                <a:off x="0" y="19050"/>
                <a:ext cx="2110225" cy="658557"/>
              </a:xfrm>
              <a:prstGeom prst="rect">
                <a:avLst/>
              </a:prstGeom>
            </p:spPr>
            <p:txBody>
              <a:bodyPr anchor="ctr" rtlCol="false" tIns="50800" lIns="50800" bIns="50800" rIns="50800"/>
              <a:lstStyle/>
              <a:p>
                <a:pPr algn="ctr">
                  <a:lnSpc>
                    <a:spcPts val="2694"/>
                  </a:lnSpc>
                </a:pPr>
              </a:p>
            </p:txBody>
          </p:sp>
        </p:grpSp>
        <p:sp>
          <p:nvSpPr>
            <p:cNvPr name="Freeform 49" id="49"/>
            <p:cNvSpPr/>
            <p:nvPr/>
          </p:nvSpPr>
          <p:spPr>
            <a:xfrm flipH="false" flipV="false" rot="-4495024">
              <a:off x="185688" y="153278"/>
              <a:ext cx="1482392" cy="1520402"/>
            </a:xfrm>
            <a:custGeom>
              <a:avLst/>
              <a:gdLst/>
              <a:ahLst/>
              <a:cxnLst/>
              <a:rect r="r" b="b" t="t" l="l"/>
              <a:pathLst>
                <a:path h="1520402" w="1482392">
                  <a:moveTo>
                    <a:pt x="0" y="0"/>
                  </a:moveTo>
                  <a:lnTo>
                    <a:pt x="1482392" y="0"/>
                  </a:lnTo>
                  <a:lnTo>
                    <a:pt x="1482392" y="1520402"/>
                  </a:lnTo>
                  <a:lnTo>
                    <a:pt x="0" y="15204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0" id="50"/>
            <p:cNvGrpSpPr/>
            <p:nvPr/>
          </p:nvGrpSpPr>
          <p:grpSpPr>
            <a:xfrm rot="0">
              <a:off x="598374" y="1137124"/>
              <a:ext cx="3061234" cy="744886"/>
              <a:chOff x="0" y="0"/>
              <a:chExt cx="797447" cy="194042"/>
            </a:xfrm>
          </p:grpSpPr>
          <p:sp>
            <p:nvSpPr>
              <p:cNvPr name="Freeform 51" id="51"/>
              <p:cNvSpPr/>
              <p:nvPr/>
            </p:nvSpPr>
            <p:spPr>
              <a:xfrm flipH="false" flipV="false" rot="0">
                <a:off x="0" y="0"/>
                <a:ext cx="797447" cy="194042"/>
              </a:xfrm>
              <a:custGeom>
                <a:avLst/>
                <a:gdLst/>
                <a:ahLst/>
                <a:cxnLst/>
                <a:rect r="r" b="b" t="t" l="l"/>
                <a:pathLst>
                  <a:path h="194042" w="797447">
                    <a:moveTo>
                      <a:pt x="97021" y="0"/>
                    </a:moveTo>
                    <a:lnTo>
                      <a:pt x="700426" y="0"/>
                    </a:lnTo>
                    <a:cubicBezTo>
                      <a:pt x="754009" y="0"/>
                      <a:pt x="797447" y="43438"/>
                      <a:pt x="797447" y="97021"/>
                    </a:cubicBezTo>
                    <a:lnTo>
                      <a:pt x="797447" y="97021"/>
                    </a:lnTo>
                    <a:cubicBezTo>
                      <a:pt x="797447" y="122752"/>
                      <a:pt x="787225" y="147430"/>
                      <a:pt x="769030" y="165625"/>
                    </a:cubicBezTo>
                    <a:cubicBezTo>
                      <a:pt x="750835" y="183820"/>
                      <a:pt x="726157" y="194042"/>
                      <a:pt x="700426" y="194042"/>
                    </a:cubicBezTo>
                    <a:lnTo>
                      <a:pt x="97021" y="194042"/>
                    </a:lnTo>
                    <a:cubicBezTo>
                      <a:pt x="43438" y="194042"/>
                      <a:pt x="0" y="150604"/>
                      <a:pt x="0" y="97021"/>
                    </a:cubicBezTo>
                    <a:lnTo>
                      <a:pt x="0" y="97021"/>
                    </a:lnTo>
                    <a:cubicBezTo>
                      <a:pt x="0" y="43438"/>
                      <a:pt x="43438" y="0"/>
                      <a:pt x="97021" y="0"/>
                    </a:cubicBezTo>
                    <a:close/>
                  </a:path>
                </a:pathLst>
              </a:custGeom>
              <a:solidFill>
                <a:srgbClr val="FFFFFF"/>
              </a:solidFill>
              <a:ln w="38100" cap="rnd">
                <a:solidFill>
                  <a:srgbClr val="000000"/>
                </a:solidFill>
                <a:prstDash val="solid"/>
                <a:round/>
              </a:ln>
            </p:spPr>
          </p:sp>
          <p:sp>
            <p:nvSpPr>
              <p:cNvPr name="TextBox 52" id="52"/>
              <p:cNvSpPr txBox="true"/>
              <p:nvPr/>
            </p:nvSpPr>
            <p:spPr>
              <a:xfrm>
                <a:off x="0" y="19050"/>
                <a:ext cx="797447" cy="174992"/>
              </a:xfrm>
              <a:prstGeom prst="rect">
                <a:avLst/>
              </a:prstGeom>
            </p:spPr>
            <p:txBody>
              <a:bodyPr anchor="ctr" rtlCol="false" tIns="50800" lIns="50800" bIns="50800" rIns="50800"/>
              <a:lstStyle/>
              <a:p>
                <a:pPr algn="ctr">
                  <a:lnSpc>
                    <a:spcPts val="2694"/>
                  </a:lnSpc>
                </a:pPr>
              </a:p>
            </p:txBody>
          </p:sp>
        </p:grpSp>
        <p:sp>
          <p:nvSpPr>
            <p:cNvPr name="TextBox 53" id="53"/>
            <p:cNvSpPr txBox="true"/>
            <p:nvPr/>
          </p:nvSpPr>
          <p:spPr>
            <a:xfrm rot="0">
              <a:off x="1320243" y="1155251"/>
              <a:ext cx="1872439" cy="590324"/>
            </a:xfrm>
            <a:prstGeom prst="rect">
              <a:avLst/>
            </a:prstGeom>
          </p:spPr>
          <p:txBody>
            <a:bodyPr anchor="t" rtlCol="false" tIns="0" lIns="0" bIns="0" rIns="0">
              <a:spAutoFit/>
            </a:bodyPr>
            <a:lstStyle/>
            <a:p>
              <a:pPr algn="l">
                <a:lnSpc>
                  <a:spcPts val="3673"/>
                </a:lnSpc>
              </a:pPr>
              <a:r>
                <a:rPr lang="en-US" sz="2825">
                  <a:solidFill>
                    <a:srgbClr val="000000"/>
                  </a:solidFill>
                  <a:latin typeface="ไอติม"/>
                  <a:ea typeface="ไอติม"/>
                  <a:cs typeface="ไอติม"/>
                  <a:sym typeface="ไอติม"/>
                </a:rPr>
                <a:t>จุดสำคัญ</a:t>
              </a:r>
            </a:p>
          </p:txBody>
        </p:sp>
        <p:sp>
          <p:nvSpPr>
            <p:cNvPr name="TextBox 54" id="54"/>
            <p:cNvSpPr txBox="true"/>
            <p:nvPr/>
          </p:nvSpPr>
          <p:spPr>
            <a:xfrm rot="0">
              <a:off x="926884" y="1986603"/>
              <a:ext cx="8100314" cy="1661263"/>
            </a:xfrm>
            <a:prstGeom prst="rect">
              <a:avLst/>
            </a:prstGeom>
          </p:spPr>
          <p:txBody>
            <a:bodyPr anchor="t" rtlCol="false" tIns="0" lIns="0" bIns="0" rIns="0">
              <a:spAutoFit/>
            </a:bodyPr>
            <a:lstStyle/>
            <a:p>
              <a:pPr algn="l">
                <a:lnSpc>
                  <a:spcPts val="3355"/>
                </a:lnSpc>
              </a:pPr>
              <a:r>
                <a:rPr lang="en-US" sz="2581">
                  <a:solidFill>
                    <a:srgbClr val="000000"/>
                  </a:solidFill>
                  <a:latin typeface="ไอติม"/>
                  <a:ea typeface="ไอติม"/>
                  <a:cs typeface="ไอติม"/>
                  <a:sym typeface="ไอติม"/>
                </a:rPr>
                <a:t>ประกอบด้วย 2 Variant หลัก </a:t>
              </a:r>
              <a:r>
                <a:rPr lang="en-US" sz="2581">
                  <a:solidFill>
                    <a:srgbClr val="000000"/>
                  </a:solidFill>
                  <a:latin typeface="ไอติม"/>
                  <a:ea typeface="ไอติม"/>
                  <a:cs typeface="ไอติม"/>
                  <a:sym typeface="ไอติม"/>
                </a:rPr>
                <a:t>ค</a:t>
              </a:r>
              <a:r>
                <a:rPr lang="en-US" sz="2581" strike="noStrike" u="none">
                  <a:solidFill>
                    <a:srgbClr val="000000"/>
                  </a:solidFill>
                  <a:latin typeface="ไอติม"/>
                  <a:ea typeface="ไอติม"/>
                  <a:cs typeface="ไอติม"/>
                  <a:sym typeface="ไอติม"/>
                </a:rPr>
                <a:t>ือ</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Ok(T)</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(สำเร็</a:t>
              </a:r>
              <a:r>
                <a:rPr lang="en-US" sz="2581">
                  <a:solidFill>
                    <a:srgbClr val="000000"/>
                  </a:solidFill>
                  <a:latin typeface="ไอติม"/>
                  <a:ea typeface="ไอติม"/>
                  <a:cs typeface="ไอติม"/>
                  <a:sym typeface="ไอติม"/>
                </a:rPr>
                <a:t>จ</a:t>
              </a:r>
              <a:r>
                <a:rPr lang="en-US" sz="2581" strike="noStrike" u="none">
                  <a:solidFill>
                    <a:srgbClr val="000000"/>
                  </a:solidFill>
                  <a:latin typeface="ไอติม"/>
                  <a:ea typeface="ไอติม"/>
                  <a:cs typeface="ไอติม"/>
                  <a:sym typeface="ไอติม"/>
                </a:rPr>
                <a:t>) </a:t>
              </a:r>
              <a:r>
                <a:rPr lang="en-US" sz="2581">
                  <a:solidFill>
                    <a:srgbClr val="000000"/>
                  </a:solidFill>
                  <a:latin typeface="ไอติม"/>
                  <a:ea typeface="ไอติม"/>
                  <a:cs typeface="ไอติม"/>
                  <a:sym typeface="ไอติม"/>
                </a:rPr>
                <a:t>แ</a:t>
              </a:r>
              <a:r>
                <a:rPr lang="en-US" sz="2581" strike="noStrike" u="none">
                  <a:solidFill>
                    <a:srgbClr val="000000"/>
                  </a:solidFill>
                  <a:latin typeface="ไอติม"/>
                  <a:ea typeface="ไอติม"/>
                  <a:cs typeface="ไอติม"/>
                  <a:sym typeface="ไอติม"/>
                </a:rPr>
                <a:t>ละ</a:t>
              </a:r>
              <a:r>
                <a:rPr lang="en-US" sz="2581">
                  <a:solidFill>
                    <a:srgbClr val="000000"/>
                  </a:solidFill>
                  <a:latin typeface="ไอติม"/>
                  <a:ea typeface="ไอติม"/>
                  <a:cs typeface="ไอติม"/>
                  <a:sym typeface="ไอติม"/>
                </a:rPr>
                <a:t> </a:t>
              </a:r>
              <a:r>
                <a:rPr lang="en-US" sz="2581">
                  <a:solidFill>
                    <a:srgbClr val="000000"/>
                  </a:solidFill>
                  <a:latin typeface="ไอติม"/>
                  <a:ea typeface="ไอติม"/>
                  <a:cs typeface="ไอติม"/>
                  <a:sym typeface="ไอติม"/>
                </a:rPr>
                <a:t>Err</a:t>
              </a:r>
              <a:r>
                <a:rPr lang="en-US" sz="2581" strike="noStrike" u="none">
                  <a:solidFill>
                    <a:srgbClr val="000000"/>
                  </a:solidFill>
                  <a:latin typeface="ไอติม"/>
                  <a:ea typeface="ไอติม"/>
                  <a:cs typeface="ไอติม"/>
                  <a:sym typeface="ไอติม"/>
                </a:rPr>
                <a:t>(E)</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(ล</a:t>
              </a:r>
              <a:r>
                <a:rPr lang="en-US" sz="2581">
                  <a:solidFill>
                    <a:srgbClr val="000000"/>
                  </a:solidFill>
                  <a:latin typeface="ไอติม"/>
                  <a:ea typeface="ไอติม"/>
                  <a:cs typeface="ไอติม"/>
                  <a:sym typeface="ไอติม"/>
                </a:rPr>
                <a:t>้ม</a:t>
              </a:r>
              <a:r>
                <a:rPr lang="en-US" sz="2581" strike="noStrike" u="none">
                  <a:solidFill>
                    <a:srgbClr val="000000"/>
                  </a:solidFill>
                  <a:latin typeface="ไอติม"/>
                  <a:ea typeface="ไอติม"/>
                  <a:cs typeface="ไอติม"/>
                  <a:sym typeface="ไอติม"/>
                </a:rPr>
                <a:t>เห</a:t>
              </a:r>
              <a:r>
                <a:rPr lang="en-US" sz="2581">
                  <a:solidFill>
                    <a:srgbClr val="000000"/>
                  </a:solidFill>
                  <a:latin typeface="ไอติม"/>
                  <a:ea typeface="ไอติม"/>
                  <a:cs typeface="ไอติม"/>
                  <a:sym typeface="ไอติม"/>
                </a:rPr>
                <a:t>ล</a:t>
              </a:r>
              <a:r>
                <a:rPr lang="en-US" sz="2581" strike="noStrike" u="none">
                  <a:solidFill>
                    <a:srgbClr val="000000"/>
                  </a:solidFill>
                  <a:latin typeface="ไอติม"/>
                  <a:ea typeface="ไอติม"/>
                  <a:cs typeface="ไอติม"/>
                  <a:sym typeface="ไอติม"/>
                </a:rPr>
                <a:t>ว) </a:t>
              </a:r>
              <a:r>
                <a:rPr lang="en-US" sz="2581">
                  <a:solidFill>
                    <a:srgbClr val="000000"/>
                  </a:solidFill>
                  <a:latin typeface="ไอติม"/>
                  <a:ea typeface="ไอติม"/>
                  <a:cs typeface="ไอติม"/>
                  <a:sym typeface="ไอติม"/>
                </a:rPr>
                <a:t>ซ</a:t>
              </a:r>
              <a:r>
                <a:rPr lang="en-US" sz="2581" strike="noStrike" u="none">
                  <a:solidFill>
                    <a:srgbClr val="000000"/>
                  </a:solidFill>
                  <a:latin typeface="ไอติม"/>
                  <a:ea typeface="ไอติม"/>
                  <a:cs typeface="ไอติม"/>
                  <a:sym typeface="ไอติม"/>
                </a:rPr>
                <a:t>ึ</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งต้</a:t>
              </a:r>
              <a:r>
                <a:rPr lang="en-US" sz="2581">
                  <a:solidFill>
                    <a:srgbClr val="000000"/>
                  </a:solidFill>
                  <a:latin typeface="ไอติม"/>
                  <a:ea typeface="ไอติม"/>
                  <a:cs typeface="ไอติม"/>
                  <a:sym typeface="ไอติม"/>
                </a:rPr>
                <a:t>อ</a:t>
              </a:r>
              <a:r>
                <a:rPr lang="en-US" sz="2581" strike="noStrike" u="none">
                  <a:solidFill>
                    <a:srgbClr val="000000"/>
                  </a:solidFill>
                  <a:latin typeface="ไอติม"/>
                  <a:ea typeface="ไอติม"/>
                  <a:cs typeface="ไอติม"/>
                  <a:sym typeface="ไอติม"/>
                </a:rPr>
                <a:t>ง</a:t>
              </a:r>
              <a:r>
                <a:rPr lang="en-US" sz="2581">
                  <a:solidFill>
                    <a:srgbClr val="000000"/>
                  </a:solidFill>
                  <a:latin typeface="ไอติม"/>
                  <a:ea typeface="ไอติม"/>
                  <a:cs typeface="ไอติม"/>
                  <a:sym typeface="ไอติม"/>
                </a:rPr>
                <a:t>น</a:t>
              </a:r>
              <a:r>
                <a:rPr lang="en-US" sz="2581" strike="noStrike" u="none">
                  <a:solidFill>
                    <a:srgbClr val="000000"/>
                  </a:solidFill>
                  <a:latin typeface="ไอติม"/>
                  <a:ea typeface="ไอติม"/>
                  <a:cs typeface="ไอติม"/>
                  <a:sym typeface="ไอติม"/>
                </a:rPr>
                <a:t>ำไปใช้ร</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วมกับ</a:t>
              </a:r>
              <a:r>
                <a:rPr lang="en-US" sz="2581">
                  <a:solidFill>
                    <a:srgbClr val="000000"/>
                  </a:solidFill>
                  <a:latin typeface="ไอติม"/>
                  <a:ea typeface="ไอติม"/>
                  <a:cs typeface="ไอติม"/>
                  <a:sym typeface="ไอติม"/>
                </a:rPr>
                <a:t> </a:t>
              </a:r>
              <a:r>
                <a:rPr lang="en-US" sz="2581" strike="noStrike" u="none">
                  <a:solidFill>
                    <a:srgbClr val="000000"/>
                  </a:solidFill>
                  <a:latin typeface="ไอติม"/>
                  <a:ea typeface="ไอติม"/>
                  <a:cs typeface="ไอติม"/>
                  <a:sym typeface="ไอติม"/>
                </a:rPr>
                <a:t>m</a:t>
              </a:r>
              <a:r>
                <a:rPr lang="en-US" sz="2581">
                  <a:solidFill>
                    <a:srgbClr val="000000"/>
                  </a:solidFill>
                  <a:latin typeface="ไอติม"/>
                  <a:ea typeface="ไอติม"/>
                  <a:cs typeface="ไอติม"/>
                  <a:sym typeface="ไอติม"/>
                </a:rPr>
                <a:t>at</a:t>
              </a:r>
              <a:r>
                <a:rPr lang="en-US" sz="2581" strike="noStrike" u="none">
                  <a:solidFill>
                    <a:srgbClr val="000000"/>
                  </a:solidFill>
                  <a:latin typeface="ไอติม"/>
                  <a:ea typeface="ไอติม"/>
                  <a:cs typeface="ไอติม"/>
                  <a:sym typeface="ไอติม"/>
                </a:rPr>
                <a:t>ch</a:t>
              </a:r>
              <a:r>
                <a:rPr lang="en-US" sz="2581">
                  <a:solidFill>
                    <a:srgbClr val="000000"/>
                  </a:solidFill>
                  <a:latin typeface="ไอติม"/>
                  <a:ea typeface="ไอติม"/>
                  <a:cs typeface="ไอติม"/>
                  <a:sym typeface="ไอติม"/>
                </a:rPr>
                <a:t> </a:t>
              </a:r>
              <a:r>
                <a:rPr lang="en-US" sz="2581">
                  <a:solidFill>
                    <a:srgbClr val="000000"/>
                  </a:solidFill>
                  <a:latin typeface="ไอติม"/>
                  <a:ea typeface="ไอติม"/>
                  <a:cs typeface="ไอติม"/>
                  <a:sym typeface="ไอติม"/>
                </a:rPr>
                <a:t>เพื่อ</a:t>
              </a:r>
              <a:r>
                <a:rPr lang="en-US" sz="2581" strike="noStrike" u="none">
                  <a:solidFill>
                    <a:srgbClr val="000000"/>
                  </a:solidFill>
                  <a:latin typeface="ไอติม"/>
                  <a:ea typeface="ไอติม"/>
                  <a:cs typeface="ไอติม"/>
                  <a:sym typeface="ไอติม"/>
                </a:rPr>
                <a:t>จัดการทั</a:t>
              </a:r>
              <a:r>
                <a:rPr lang="en-US" sz="2581">
                  <a:solidFill>
                    <a:srgbClr val="000000"/>
                  </a:solidFill>
                  <a:latin typeface="ไอติม"/>
                  <a:ea typeface="ไอติม"/>
                  <a:cs typeface="ไอติม"/>
                  <a:sym typeface="ไอติม"/>
                </a:rPr>
                <a:t>้ง</a:t>
              </a:r>
              <a:r>
                <a:rPr lang="en-US" sz="2581" strike="noStrike" u="none">
                  <a:solidFill>
                    <a:srgbClr val="000000"/>
                  </a:solidFill>
                  <a:latin typeface="ไอติม"/>
                  <a:ea typeface="ไอติม"/>
                  <a:cs typeface="ไอติม"/>
                  <a:sym typeface="ไอติม"/>
                </a:rPr>
                <a:t>สองกรณีอย</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างปล</a:t>
              </a:r>
              <a:r>
                <a:rPr lang="en-US" sz="2581">
                  <a:solidFill>
                    <a:srgbClr val="000000"/>
                  </a:solidFill>
                  <a:latin typeface="ไอติม"/>
                  <a:ea typeface="ไอติม"/>
                  <a:cs typeface="ไอติม"/>
                  <a:sym typeface="ไอติม"/>
                </a:rPr>
                <a:t>อด</a:t>
              </a:r>
              <a:r>
                <a:rPr lang="en-US" sz="2581" strike="noStrike" u="none">
                  <a:solidFill>
                    <a:srgbClr val="000000"/>
                  </a:solidFill>
                  <a:latin typeface="ไอติม"/>
                  <a:ea typeface="ไอติม"/>
                  <a:cs typeface="ไอติม"/>
                  <a:sym typeface="ไอติม"/>
                </a:rPr>
                <a:t>ภ</a:t>
              </a:r>
              <a:r>
                <a:rPr lang="en-US" sz="2581">
                  <a:solidFill>
                    <a:srgbClr val="000000"/>
                  </a:solidFill>
                  <a:latin typeface="ไอติม"/>
                  <a:ea typeface="ไอติม"/>
                  <a:cs typeface="ไอติม"/>
                  <a:sym typeface="ไอติม"/>
                </a:rPr>
                <a:t>ั</a:t>
              </a:r>
              <a:r>
                <a:rPr lang="en-US" sz="2581" strike="noStrike" u="none">
                  <a:solidFill>
                    <a:srgbClr val="000000"/>
                  </a:solidFill>
                  <a:latin typeface="ไอติม"/>
                  <a:ea typeface="ไอติม"/>
                  <a:cs typeface="ไอติม"/>
                  <a:sym typeface="ไอติม"/>
                </a:rPr>
                <a:t>ย</a:t>
              </a:r>
            </a:p>
          </p:txBody>
        </p:sp>
      </p:grpSp>
      <p:sp>
        <p:nvSpPr>
          <p:cNvPr name="Freeform 55" id="55"/>
          <p:cNvSpPr/>
          <p:nvPr/>
        </p:nvSpPr>
        <p:spPr>
          <a:xfrm flipH="false" flipV="false" rot="2402835">
            <a:off x="7578154" y="6961403"/>
            <a:ext cx="1861278" cy="958558"/>
          </a:xfrm>
          <a:custGeom>
            <a:avLst/>
            <a:gdLst/>
            <a:ahLst/>
            <a:cxnLst/>
            <a:rect r="r" b="b" t="t" l="l"/>
            <a:pathLst>
              <a:path h="958558" w="1861278">
                <a:moveTo>
                  <a:pt x="0" y="0"/>
                </a:moveTo>
                <a:lnTo>
                  <a:pt x="1861278" y="0"/>
                </a:lnTo>
                <a:lnTo>
                  <a:pt x="1861278" y="958558"/>
                </a:lnTo>
                <a:lnTo>
                  <a:pt x="0" y="9585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6" id="56"/>
          <p:cNvSpPr/>
          <p:nvPr/>
        </p:nvSpPr>
        <p:spPr>
          <a:xfrm flipH="false" flipV="false" rot="0">
            <a:off x="568929" y="5781985"/>
            <a:ext cx="6455734" cy="3178461"/>
          </a:xfrm>
          <a:custGeom>
            <a:avLst/>
            <a:gdLst/>
            <a:ahLst/>
            <a:cxnLst/>
            <a:rect r="r" b="b" t="t" l="l"/>
            <a:pathLst>
              <a:path h="3178461" w="6455734">
                <a:moveTo>
                  <a:pt x="0" y="0"/>
                </a:moveTo>
                <a:lnTo>
                  <a:pt x="6455734" y="0"/>
                </a:lnTo>
                <a:lnTo>
                  <a:pt x="6455734" y="3178461"/>
                </a:lnTo>
                <a:lnTo>
                  <a:pt x="0" y="3178461"/>
                </a:lnTo>
                <a:lnTo>
                  <a:pt x="0" y="0"/>
                </a:lnTo>
                <a:close/>
              </a:path>
            </a:pathLst>
          </a:custGeom>
          <a:blipFill>
            <a:blip r:embed="rId7"/>
            <a:stretch>
              <a:fillRect l="0" t="0" r="0" b="0"/>
            </a:stretch>
          </a:blipFill>
        </p:spPr>
      </p:sp>
      <p:sp>
        <p:nvSpPr>
          <p:cNvPr name="Freeform 57" id="57"/>
          <p:cNvSpPr/>
          <p:nvPr/>
        </p:nvSpPr>
        <p:spPr>
          <a:xfrm flipH="false" flipV="false" rot="0">
            <a:off x="7684979" y="8638177"/>
            <a:ext cx="9012518" cy="777730"/>
          </a:xfrm>
          <a:custGeom>
            <a:avLst/>
            <a:gdLst/>
            <a:ahLst/>
            <a:cxnLst/>
            <a:rect r="r" b="b" t="t" l="l"/>
            <a:pathLst>
              <a:path h="777730" w="9012518">
                <a:moveTo>
                  <a:pt x="0" y="0"/>
                </a:moveTo>
                <a:lnTo>
                  <a:pt x="9012518" y="0"/>
                </a:lnTo>
                <a:lnTo>
                  <a:pt x="9012518" y="777730"/>
                </a:lnTo>
                <a:lnTo>
                  <a:pt x="0" y="777730"/>
                </a:lnTo>
                <a:lnTo>
                  <a:pt x="0" y="0"/>
                </a:lnTo>
                <a:close/>
              </a:path>
            </a:pathLst>
          </a:custGeom>
          <a:blipFill>
            <a:blip r:embed="rId8"/>
            <a:stretch>
              <a:fillRect l="0" t="0" r="0" b="0"/>
            </a:stretch>
          </a:blipFill>
        </p:spPr>
      </p:sp>
      <p:sp>
        <p:nvSpPr>
          <p:cNvPr name="TextBox 58" id="58"/>
          <p:cNvSpPr txBox="true"/>
          <p:nvPr/>
        </p:nvSpPr>
        <p:spPr>
          <a:xfrm rot="0">
            <a:off x="568929" y="691040"/>
            <a:ext cx="11179325" cy="576840"/>
          </a:xfrm>
          <a:prstGeom prst="rect">
            <a:avLst/>
          </a:prstGeom>
        </p:spPr>
        <p:txBody>
          <a:bodyPr anchor="t" rtlCol="false" tIns="0" lIns="0" bIns="0" rIns="0">
            <a:spAutoFit/>
          </a:bodyPr>
          <a:lstStyle/>
          <a:p>
            <a:pPr algn="l" marL="0" indent="0" lvl="0">
              <a:lnSpc>
                <a:spcPts val="4335"/>
              </a:lnSpc>
              <a:spcBef>
                <a:spcPct val="0"/>
              </a:spcBef>
            </a:pPr>
            <a:r>
              <a:rPr lang="en-US" sz="4335">
                <a:solidFill>
                  <a:srgbClr val="000000"/>
                </a:solidFill>
                <a:latin typeface="ไอติม"/>
                <a:ea typeface="ไอติม"/>
                <a:cs typeface="ไอติม"/>
                <a:sym typeface="ไอติม"/>
              </a:rPr>
              <a:t>การจัดการ ERRO</a:t>
            </a:r>
            <a:r>
              <a:rPr lang="en-US" sz="4335">
                <a:solidFill>
                  <a:srgbClr val="000000"/>
                </a:solidFill>
                <a:latin typeface="ไอติม"/>
                <a:ea typeface="ไอติม"/>
                <a:cs typeface="ไอติม"/>
                <a:sym typeface="ไอติม"/>
              </a:rPr>
              <a:t>R ด้วย RESULT&lt;T, E&gt;  คืออะไร</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10219" y="2093389"/>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747336" y="3669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3542" y="4333828"/>
            <a:ext cx="10072762" cy="3139374"/>
          </a:xfrm>
          <a:prstGeom prst="rect">
            <a:avLst/>
          </a:prstGeom>
        </p:spPr>
        <p:txBody>
          <a:bodyPr anchor="t" rtlCol="false" tIns="0" lIns="0" bIns="0" rIns="0">
            <a:spAutoFit/>
          </a:bodyPr>
          <a:lstStyle/>
          <a:p>
            <a:pPr algn="l" marL="0" indent="0" lvl="0">
              <a:lnSpc>
                <a:spcPts val="12488"/>
              </a:lnSpc>
            </a:pPr>
            <a:r>
              <a:rPr lang="en-US" sz="9756">
                <a:solidFill>
                  <a:srgbClr val="E74724"/>
                </a:solidFill>
                <a:latin typeface="ไอติม"/>
                <a:ea typeface="ไอติม"/>
                <a:cs typeface="ไอติม"/>
                <a:sym typeface="ไอติม"/>
              </a:rPr>
              <a:t>DETAILED CODE &amp; LIVE DEMO</a:t>
            </a:r>
          </a:p>
        </p:txBody>
      </p:sp>
      <p:sp>
        <p:nvSpPr>
          <p:cNvPr name="TextBox 7" id="7"/>
          <p:cNvSpPr txBox="true"/>
          <p:nvPr/>
        </p:nvSpPr>
        <p:spPr>
          <a:xfrm rot="0">
            <a:off x="2436206" y="2538586"/>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2</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1316104" y="4811216"/>
            <a:ext cx="4427122" cy="3892615"/>
            <a:chOff x="0" y="0"/>
            <a:chExt cx="5902829" cy="5190154"/>
          </a:xfrm>
        </p:grpSpPr>
        <p:grpSp>
          <p:nvGrpSpPr>
            <p:cNvPr name="Group 9" id="9"/>
            <p:cNvGrpSpPr/>
            <p:nvPr/>
          </p:nvGrpSpPr>
          <p:grpSpPr>
            <a:xfrm rot="0">
              <a:off x="4585" y="0"/>
              <a:ext cx="5898244" cy="4870359"/>
              <a:chOff x="0" y="0"/>
              <a:chExt cx="1165095" cy="962161"/>
            </a:xfrm>
          </p:grpSpPr>
          <p:sp>
            <p:nvSpPr>
              <p:cNvPr name="Freeform 10" id="10"/>
              <p:cNvSpPr/>
              <p:nvPr/>
            </p:nvSpPr>
            <p:spPr>
              <a:xfrm flipH="false" flipV="false" rot="0">
                <a:off x="0" y="0"/>
                <a:ext cx="1165095" cy="962161"/>
              </a:xfrm>
              <a:custGeom>
                <a:avLst/>
                <a:gdLst/>
                <a:ahLst/>
                <a:cxnLst/>
                <a:rect r="r" b="b" t="t" l="l"/>
                <a:pathLst>
                  <a:path h="962161" w="1165095">
                    <a:moveTo>
                      <a:pt x="1165095" y="61254"/>
                    </a:moveTo>
                    <a:lnTo>
                      <a:pt x="1165095" y="900907"/>
                    </a:lnTo>
                    <a:cubicBezTo>
                      <a:pt x="1165095" y="917153"/>
                      <a:pt x="1158641" y="932733"/>
                      <a:pt x="1147154" y="944220"/>
                    </a:cubicBezTo>
                    <a:cubicBezTo>
                      <a:pt x="1135666" y="955707"/>
                      <a:pt x="1120086" y="962161"/>
                      <a:pt x="1103841" y="962161"/>
                    </a:cubicBezTo>
                    <a:lnTo>
                      <a:pt x="61254" y="962161"/>
                    </a:lnTo>
                    <a:cubicBezTo>
                      <a:pt x="45008" y="962161"/>
                      <a:pt x="29428" y="955707"/>
                      <a:pt x="17941" y="944220"/>
                    </a:cubicBezTo>
                    <a:cubicBezTo>
                      <a:pt x="6454" y="932733"/>
                      <a:pt x="0" y="917153"/>
                      <a:pt x="0" y="900907"/>
                    </a:cubicBezTo>
                    <a:lnTo>
                      <a:pt x="0" y="61254"/>
                    </a:lnTo>
                    <a:cubicBezTo>
                      <a:pt x="0" y="45008"/>
                      <a:pt x="6454" y="29428"/>
                      <a:pt x="17941" y="17941"/>
                    </a:cubicBezTo>
                    <a:cubicBezTo>
                      <a:pt x="29428" y="6454"/>
                      <a:pt x="45008" y="0"/>
                      <a:pt x="61254" y="0"/>
                    </a:cubicBezTo>
                    <a:lnTo>
                      <a:pt x="1103841" y="0"/>
                    </a:lnTo>
                    <a:cubicBezTo>
                      <a:pt x="1137670" y="0"/>
                      <a:pt x="1165095" y="27424"/>
                      <a:pt x="1165095" y="61254"/>
                    </a:cubicBezTo>
                    <a:close/>
                  </a:path>
                </a:pathLst>
              </a:custGeom>
              <a:solidFill>
                <a:srgbClr val="990941"/>
              </a:solidFill>
              <a:ln cap="rnd">
                <a:noFill/>
                <a:prstDash val="solid"/>
                <a:round/>
              </a:ln>
            </p:spPr>
          </p:sp>
          <p:sp>
            <p:nvSpPr>
              <p:cNvPr name="TextBox 11" id="11"/>
              <p:cNvSpPr txBox="true"/>
              <p:nvPr/>
            </p:nvSpPr>
            <p:spPr>
              <a:xfrm>
                <a:off x="0" y="19050"/>
                <a:ext cx="1165095" cy="943111"/>
              </a:xfrm>
              <a:prstGeom prst="rect">
                <a:avLst/>
              </a:prstGeom>
            </p:spPr>
            <p:txBody>
              <a:bodyPr anchor="ctr" rtlCol="false" tIns="50800" lIns="50800" bIns="50800" rIns="50800"/>
              <a:lstStyle/>
              <a:p>
                <a:pPr algn="ctr">
                  <a:lnSpc>
                    <a:spcPts val="2694"/>
                  </a:lnSpc>
                </a:pPr>
              </a:p>
            </p:txBody>
          </p:sp>
        </p:grpSp>
        <p:grpSp>
          <p:nvGrpSpPr>
            <p:cNvPr name="Group 12" id="12"/>
            <p:cNvGrpSpPr/>
            <p:nvPr/>
          </p:nvGrpSpPr>
          <p:grpSpPr>
            <a:xfrm rot="0">
              <a:off x="0" y="239846"/>
              <a:ext cx="5898244" cy="4950308"/>
              <a:chOff x="0" y="0"/>
              <a:chExt cx="1165085" cy="977839"/>
            </a:xfrm>
          </p:grpSpPr>
          <p:sp>
            <p:nvSpPr>
              <p:cNvPr name="Freeform 13" id="13"/>
              <p:cNvSpPr/>
              <p:nvPr/>
            </p:nvSpPr>
            <p:spPr>
              <a:xfrm flipH="false" flipV="false" rot="0">
                <a:off x="0" y="0"/>
                <a:ext cx="1165085" cy="977839"/>
              </a:xfrm>
              <a:custGeom>
                <a:avLst/>
                <a:gdLst/>
                <a:ahLst/>
                <a:cxnLst/>
                <a:rect r="r" b="b" t="t" l="l"/>
                <a:pathLst>
                  <a:path h="977839" w="1165085">
                    <a:moveTo>
                      <a:pt x="68254" y="0"/>
                    </a:moveTo>
                    <a:lnTo>
                      <a:pt x="1096831" y="0"/>
                    </a:lnTo>
                    <a:cubicBezTo>
                      <a:pt x="1134527" y="0"/>
                      <a:pt x="1165085" y="30558"/>
                      <a:pt x="1165085" y="68254"/>
                    </a:cubicBezTo>
                    <a:lnTo>
                      <a:pt x="1165085" y="909584"/>
                    </a:lnTo>
                    <a:cubicBezTo>
                      <a:pt x="1165085" y="947280"/>
                      <a:pt x="1134527" y="977839"/>
                      <a:pt x="1096831" y="977839"/>
                    </a:cubicBezTo>
                    <a:lnTo>
                      <a:pt x="68254" y="977839"/>
                    </a:lnTo>
                    <a:cubicBezTo>
                      <a:pt x="30558" y="977839"/>
                      <a:pt x="0" y="947280"/>
                      <a:pt x="0" y="909584"/>
                    </a:cubicBezTo>
                    <a:lnTo>
                      <a:pt x="0" y="68254"/>
                    </a:lnTo>
                    <a:cubicBezTo>
                      <a:pt x="0" y="30558"/>
                      <a:pt x="30558" y="0"/>
                      <a:pt x="68254" y="0"/>
                    </a:cubicBezTo>
                    <a:close/>
                  </a:path>
                </a:pathLst>
              </a:custGeom>
              <a:solidFill>
                <a:srgbClr val="FFFFFF"/>
              </a:solidFill>
              <a:ln w="38100" cap="rnd">
                <a:solidFill>
                  <a:srgbClr val="FCE1B1"/>
                </a:solidFill>
                <a:prstDash val="solid"/>
                <a:round/>
              </a:ln>
            </p:spPr>
          </p:sp>
          <p:sp>
            <p:nvSpPr>
              <p:cNvPr name="TextBox 14" id="14"/>
              <p:cNvSpPr txBox="true"/>
              <p:nvPr/>
            </p:nvSpPr>
            <p:spPr>
              <a:xfrm>
                <a:off x="0" y="19050"/>
                <a:ext cx="1165085" cy="958789"/>
              </a:xfrm>
              <a:prstGeom prst="rect">
                <a:avLst/>
              </a:prstGeom>
            </p:spPr>
            <p:txBody>
              <a:bodyPr anchor="ctr" rtlCol="false" tIns="50800" lIns="50800" bIns="50800" rIns="50800"/>
              <a:lstStyle/>
              <a:p>
                <a:pPr algn="ctr">
                  <a:lnSpc>
                    <a:spcPts val="2694"/>
                  </a:lnSpc>
                </a:pPr>
              </a:p>
            </p:txBody>
          </p:sp>
        </p:grpSp>
      </p:grpSp>
      <p:grpSp>
        <p:nvGrpSpPr>
          <p:cNvPr name="Group 15" id="15"/>
          <p:cNvGrpSpPr/>
          <p:nvPr/>
        </p:nvGrpSpPr>
        <p:grpSpPr>
          <a:xfrm rot="0">
            <a:off x="6825695" y="4811216"/>
            <a:ext cx="4503259" cy="3892615"/>
            <a:chOff x="0" y="0"/>
            <a:chExt cx="6004345" cy="5190154"/>
          </a:xfrm>
        </p:grpSpPr>
        <p:grpSp>
          <p:nvGrpSpPr>
            <p:cNvPr name="Group 16" id="16"/>
            <p:cNvGrpSpPr/>
            <p:nvPr/>
          </p:nvGrpSpPr>
          <p:grpSpPr>
            <a:xfrm rot="0">
              <a:off x="27919" y="0"/>
              <a:ext cx="5930915" cy="4870359"/>
              <a:chOff x="0" y="0"/>
              <a:chExt cx="1171548" cy="962161"/>
            </a:xfrm>
          </p:grpSpPr>
          <p:sp>
            <p:nvSpPr>
              <p:cNvPr name="Freeform 17" id="17"/>
              <p:cNvSpPr/>
              <p:nvPr/>
            </p:nvSpPr>
            <p:spPr>
              <a:xfrm flipH="false" flipV="false" rot="0">
                <a:off x="0" y="0"/>
                <a:ext cx="1171548" cy="962161"/>
              </a:xfrm>
              <a:custGeom>
                <a:avLst/>
                <a:gdLst/>
                <a:ahLst/>
                <a:cxnLst/>
                <a:rect r="r" b="b" t="t" l="l"/>
                <a:pathLst>
                  <a:path h="962161" w="1171548">
                    <a:moveTo>
                      <a:pt x="1171548" y="60916"/>
                    </a:moveTo>
                    <a:lnTo>
                      <a:pt x="1171548" y="901245"/>
                    </a:lnTo>
                    <a:cubicBezTo>
                      <a:pt x="1171548" y="917401"/>
                      <a:pt x="1165130" y="932895"/>
                      <a:pt x="1153706" y="944319"/>
                    </a:cubicBezTo>
                    <a:cubicBezTo>
                      <a:pt x="1142282" y="955743"/>
                      <a:pt x="1126788" y="962161"/>
                      <a:pt x="1110632" y="962161"/>
                    </a:cubicBezTo>
                    <a:lnTo>
                      <a:pt x="60916" y="962161"/>
                    </a:lnTo>
                    <a:cubicBezTo>
                      <a:pt x="44760" y="962161"/>
                      <a:pt x="29266" y="955743"/>
                      <a:pt x="17842" y="944319"/>
                    </a:cubicBezTo>
                    <a:cubicBezTo>
                      <a:pt x="6418" y="932895"/>
                      <a:pt x="0" y="917401"/>
                      <a:pt x="0" y="901245"/>
                    </a:cubicBezTo>
                    <a:lnTo>
                      <a:pt x="0" y="60916"/>
                    </a:lnTo>
                    <a:cubicBezTo>
                      <a:pt x="0" y="44760"/>
                      <a:pt x="6418" y="29266"/>
                      <a:pt x="17842" y="17842"/>
                    </a:cubicBezTo>
                    <a:cubicBezTo>
                      <a:pt x="29266" y="6418"/>
                      <a:pt x="44760" y="0"/>
                      <a:pt x="60916" y="0"/>
                    </a:cubicBezTo>
                    <a:lnTo>
                      <a:pt x="1110632" y="0"/>
                    </a:lnTo>
                    <a:cubicBezTo>
                      <a:pt x="1126788" y="0"/>
                      <a:pt x="1142282" y="6418"/>
                      <a:pt x="1153706" y="17842"/>
                    </a:cubicBezTo>
                    <a:cubicBezTo>
                      <a:pt x="1165130" y="29266"/>
                      <a:pt x="1171548" y="44760"/>
                      <a:pt x="1171548" y="60916"/>
                    </a:cubicBezTo>
                    <a:close/>
                  </a:path>
                </a:pathLst>
              </a:custGeom>
              <a:solidFill>
                <a:srgbClr val="990941"/>
              </a:solidFill>
              <a:ln cap="rnd">
                <a:noFill/>
                <a:prstDash val="solid"/>
                <a:round/>
              </a:ln>
            </p:spPr>
          </p:sp>
          <p:sp>
            <p:nvSpPr>
              <p:cNvPr name="TextBox 18" id="18"/>
              <p:cNvSpPr txBox="true"/>
              <p:nvPr/>
            </p:nvSpPr>
            <p:spPr>
              <a:xfrm>
                <a:off x="0" y="19050"/>
                <a:ext cx="1171548" cy="943111"/>
              </a:xfrm>
              <a:prstGeom prst="rect">
                <a:avLst/>
              </a:prstGeom>
            </p:spPr>
            <p:txBody>
              <a:bodyPr anchor="ctr" rtlCol="false" tIns="50800" lIns="50800" bIns="50800" rIns="50800"/>
              <a:lstStyle/>
              <a:p>
                <a:pPr algn="ctr">
                  <a:lnSpc>
                    <a:spcPts val="2694"/>
                  </a:lnSpc>
                </a:pPr>
              </a:p>
            </p:txBody>
          </p:sp>
        </p:grpSp>
        <p:grpSp>
          <p:nvGrpSpPr>
            <p:cNvPr name="Group 19" id="19"/>
            <p:cNvGrpSpPr/>
            <p:nvPr/>
          </p:nvGrpSpPr>
          <p:grpSpPr>
            <a:xfrm rot="0">
              <a:off x="0" y="239846"/>
              <a:ext cx="6004345" cy="4950308"/>
              <a:chOff x="0" y="0"/>
              <a:chExt cx="1186044" cy="977839"/>
            </a:xfrm>
          </p:grpSpPr>
          <p:sp>
            <p:nvSpPr>
              <p:cNvPr name="Freeform 20" id="20"/>
              <p:cNvSpPr/>
              <p:nvPr/>
            </p:nvSpPr>
            <p:spPr>
              <a:xfrm flipH="false" flipV="false" rot="0">
                <a:off x="0" y="0"/>
                <a:ext cx="1186043" cy="977839"/>
              </a:xfrm>
              <a:custGeom>
                <a:avLst/>
                <a:gdLst/>
                <a:ahLst/>
                <a:cxnLst/>
                <a:rect r="r" b="b" t="t" l="l"/>
                <a:pathLst>
                  <a:path h="977839" w="1186043">
                    <a:moveTo>
                      <a:pt x="67048" y="0"/>
                    </a:moveTo>
                    <a:lnTo>
                      <a:pt x="1118995" y="0"/>
                    </a:lnTo>
                    <a:cubicBezTo>
                      <a:pt x="1136778" y="0"/>
                      <a:pt x="1153832" y="7064"/>
                      <a:pt x="1166406" y="19638"/>
                    </a:cubicBezTo>
                    <a:cubicBezTo>
                      <a:pt x="1178979" y="32212"/>
                      <a:pt x="1186043" y="49266"/>
                      <a:pt x="1186043" y="67048"/>
                    </a:cubicBezTo>
                    <a:lnTo>
                      <a:pt x="1186043" y="910791"/>
                    </a:lnTo>
                    <a:cubicBezTo>
                      <a:pt x="1186043" y="947820"/>
                      <a:pt x="1156025" y="977839"/>
                      <a:pt x="1118995" y="977839"/>
                    </a:cubicBezTo>
                    <a:lnTo>
                      <a:pt x="67048" y="977839"/>
                    </a:lnTo>
                    <a:cubicBezTo>
                      <a:pt x="49266" y="977839"/>
                      <a:pt x="32212" y="970775"/>
                      <a:pt x="19638" y="958201"/>
                    </a:cubicBezTo>
                    <a:cubicBezTo>
                      <a:pt x="7064" y="945627"/>
                      <a:pt x="0" y="928573"/>
                      <a:pt x="0" y="910791"/>
                    </a:cubicBezTo>
                    <a:lnTo>
                      <a:pt x="0" y="67048"/>
                    </a:lnTo>
                    <a:cubicBezTo>
                      <a:pt x="0" y="30018"/>
                      <a:pt x="30018" y="0"/>
                      <a:pt x="67048" y="0"/>
                    </a:cubicBezTo>
                    <a:close/>
                  </a:path>
                </a:pathLst>
              </a:custGeom>
              <a:solidFill>
                <a:srgbClr val="FFFFFF"/>
              </a:solidFill>
              <a:ln w="38100" cap="rnd">
                <a:solidFill>
                  <a:srgbClr val="FCE1B1"/>
                </a:solidFill>
                <a:prstDash val="solid"/>
                <a:round/>
              </a:ln>
            </p:spPr>
          </p:sp>
          <p:sp>
            <p:nvSpPr>
              <p:cNvPr name="TextBox 21" id="21"/>
              <p:cNvSpPr txBox="true"/>
              <p:nvPr/>
            </p:nvSpPr>
            <p:spPr>
              <a:xfrm>
                <a:off x="0" y="19050"/>
                <a:ext cx="1186044" cy="958789"/>
              </a:xfrm>
              <a:prstGeom prst="rect">
                <a:avLst/>
              </a:prstGeom>
            </p:spPr>
            <p:txBody>
              <a:bodyPr anchor="ctr" rtlCol="false" tIns="50800" lIns="50800" bIns="50800" rIns="50800"/>
              <a:lstStyle/>
              <a:p>
                <a:pPr algn="ctr">
                  <a:lnSpc>
                    <a:spcPts val="2694"/>
                  </a:lnSpc>
                </a:pPr>
              </a:p>
            </p:txBody>
          </p:sp>
        </p:grpSp>
      </p:grpSp>
      <p:grpSp>
        <p:nvGrpSpPr>
          <p:cNvPr name="Group 22" id="22"/>
          <p:cNvGrpSpPr/>
          <p:nvPr/>
        </p:nvGrpSpPr>
        <p:grpSpPr>
          <a:xfrm rot="0">
            <a:off x="12341411" y="4811216"/>
            <a:ext cx="4603195" cy="3892615"/>
            <a:chOff x="0" y="0"/>
            <a:chExt cx="6137593" cy="5190154"/>
          </a:xfrm>
        </p:grpSpPr>
        <p:grpSp>
          <p:nvGrpSpPr>
            <p:cNvPr name="Group 23" id="23"/>
            <p:cNvGrpSpPr/>
            <p:nvPr/>
          </p:nvGrpSpPr>
          <p:grpSpPr>
            <a:xfrm rot="0">
              <a:off x="0" y="0"/>
              <a:ext cx="6137593" cy="4870359"/>
              <a:chOff x="0" y="0"/>
              <a:chExt cx="1212374" cy="962161"/>
            </a:xfrm>
          </p:grpSpPr>
          <p:sp>
            <p:nvSpPr>
              <p:cNvPr name="Freeform 24" id="24"/>
              <p:cNvSpPr/>
              <p:nvPr/>
            </p:nvSpPr>
            <p:spPr>
              <a:xfrm flipH="false" flipV="false" rot="0">
                <a:off x="0" y="0"/>
                <a:ext cx="1212374" cy="962161"/>
              </a:xfrm>
              <a:custGeom>
                <a:avLst/>
                <a:gdLst/>
                <a:ahLst/>
                <a:cxnLst/>
                <a:rect r="r" b="b" t="t" l="l"/>
                <a:pathLst>
                  <a:path h="962161" w="1212374">
                    <a:moveTo>
                      <a:pt x="1212374" y="58865"/>
                    </a:moveTo>
                    <a:lnTo>
                      <a:pt x="1212374" y="903296"/>
                    </a:lnTo>
                    <a:cubicBezTo>
                      <a:pt x="1212374" y="935806"/>
                      <a:pt x="1186019" y="962161"/>
                      <a:pt x="1153509" y="962161"/>
                    </a:cubicBezTo>
                    <a:lnTo>
                      <a:pt x="58865" y="962161"/>
                    </a:lnTo>
                    <a:cubicBezTo>
                      <a:pt x="26355" y="962161"/>
                      <a:pt x="0" y="935806"/>
                      <a:pt x="0" y="903296"/>
                    </a:cubicBezTo>
                    <a:lnTo>
                      <a:pt x="0" y="58865"/>
                    </a:lnTo>
                    <a:cubicBezTo>
                      <a:pt x="0" y="26355"/>
                      <a:pt x="26355" y="0"/>
                      <a:pt x="58865" y="0"/>
                    </a:cubicBezTo>
                    <a:lnTo>
                      <a:pt x="1153509" y="0"/>
                    </a:lnTo>
                    <a:cubicBezTo>
                      <a:pt x="1169121" y="0"/>
                      <a:pt x="1184093" y="6202"/>
                      <a:pt x="1195133" y="17241"/>
                    </a:cubicBezTo>
                    <a:cubicBezTo>
                      <a:pt x="1206172" y="28281"/>
                      <a:pt x="1212374" y="43253"/>
                      <a:pt x="1212374" y="58865"/>
                    </a:cubicBezTo>
                    <a:close/>
                  </a:path>
                </a:pathLst>
              </a:custGeom>
              <a:solidFill>
                <a:srgbClr val="990941"/>
              </a:solidFill>
              <a:ln cap="rnd">
                <a:noFill/>
                <a:prstDash val="solid"/>
                <a:round/>
              </a:ln>
            </p:spPr>
          </p:sp>
          <p:sp>
            <p:nvSpPr>
              <p:cNvPr name="TextBox 25" id="25"/>
              <p:cNvSpPr txBox="true"/>
              <p:nvPr/>
            </p:nvSpPr>
            <p:spPr>
              <a:xfrm>
                <a:off x="0" y="19050"/>
                <a:ext cx="1212374" cy="943111"/>
              </a:xfrm>
              <a:prstGeom prst="rect">
                <a:avLst/>
              </a:prstGeom>
            </p:spPr>
            <p:txBody>
              <a:bodyPr anchor="ctr" rtlCol="false" tIns="50800" lIns="50800" bIns="50800" rIns="50800"/>
              <a:lstStyle/>
              <a:p>
                <a:pPr algn="ctr">
                  <a:lnSpc>
                    <a:spcPts val="2694"/>
                  </a:lnSpc>
                </a:pPr>
              </a:p>
            </p:txBody>
          </p:sp>
        </p:grpSp>
        <p:grpSp>
          <p:nvGrpSpPr>
            <p:cNvPr name="Group 26" id="26"/>
            <p:cNvGrpSpPr/>
            <p:nvPr/>
          </p:nvGrpSpPr>
          <p:grpSpPr>
            <a:xfrm rot="0">
              <a:off x="0" y="239846"/>
              <a:ext cx="6137593" cy="4950308"/>
              <a:chOff x="0" y="0"/>
              <a:chExt cx="1212364" cy="977839"/>
            </a:xfrm>
          </p:grpSpPr>
          <p:sp>
            <p:nvSpPr>
              <p:cNvPr name="Freeform 27" id="27"/>
              <p:cNvSpPr/>
              <p:nvPr/>
            </p:nvSpPr>
            <p:spPr>
              <a:xfrm flipH="false" flipV="false" rot="0">
                <a:off x="0" y="0"/>
                <a:ext cx="1212364" cy="977839"/>
              </a:xfrm>
              <a:custGeom>
                <a:avLst/>
                <a:gdLst/>
                <a:ahLst/>
                <a:cxnLst/>
                <a:rect r="r" b="b" t="t" l="l"/>
                <a:pathLst>
                  <a:path h="977839" w="1212364">
                    <a:moveTo>
                      <a:pt x="65592" y="0"/>
                    </a:moveTo>
                    <a:lnTo>
                      <a:pt x="1146772" y="0"/>
                    </a:lnTo>
                    <a:cubicBezTo>
                      <a:pt x="1164168" y="0"/>
                      <a:pt x="1180852" y="6911"/>
                      <a:pt x="1193152" y="19212"/>
                    </a:cubicBezTo>
                    <a:cubicBezTo>
                      <a:pt x="1205453" y="31513"/>
                      <a:pt x="1212364" y="48196"/>
                      <a:pt x="1212364" y="65592"/>
                    </a:cubicBezTo>
                    <a:lnTo>
                      <a:pt x="1212364" y="912246"/>
                    </a:lnTo>
                    <a:cubicBezTo>
                      <a:pt x="1212364" y="948472"/>
                      <a:pt x="1182997" y="977839"/>
                      <a:pt x="1146772" y="977839"/>
                    </a:cubicBezTo>
                    <a:lnTo>
                      <a:pt x="65592" y="977839"/>
                    </a:lnTo>
                    <a:cubicBezTo>
                      <a:pt x="48196" y="977839"/>
                      <a:pt x="31513" y="970928"/>
                      <a:pt x="19212" y="958627"/>
                    </a:cubicBezTo>
                    <a:cubicBezTo>
                      <a:pt x="6911" y="946326"/>
                      <a:pt x="0" y="929642"/>
                      <a:pt x="0" y="912246"/>
                    </a:cubicBezTo>
                    <a:lnTo>
                      <a:pt x="0" y="65592"/>
                    </a:lnTo>
                    <a:cubicBezTo>
                      <a:pt x="0" y="29367"/>
                      <a:pt x="29367" y="0"/>
                      <a:pt x="65592" y="0"/>
                    </a:cubicBezTo>
                    <a:close/>
                  </a:path>
                </a:pathLst>
              </a:custGeom>
              <a:solidFill>
                <a:srgbClr val="FFFFFF"/>
              </a:solidFill>
              <a:ln w="38100" cap="rnd">
                <a:solidFill>
                  <a:srgbClr val="FCE1B1"/>
                </a:solidFill>
                <a:prstDash val="solid"/>
                <a:round/>
              </a:ln>
            </p:spPr>
          </p:sp>
          <p:sp>
            <p:nvSpPr>
              <p:cNvPr name="TextBox 28" id="28"/>
              <p:cNvSpPr txBox="true"/>
              <p:nvPr/>
            </p:nvSpPr>
            <p:spPr>
              <a:xfrm>
                <a:off x="0" y="19050"/>
                <a:ext cx="1212364" cy="958789"/>
              </a:xfrm>
              <a:prstGeom prst="rect">
                <a:avLst/>
              </a:prstGeom>
            </p:spPr>
            <p:txBody>
              <a:bodyPr anchor="ctr" rtlCol="false" tIns="50800" lIns="50800" bIns="50800" rIns="50800"/>
              <a:lstStyle/>
              <a:p>
                <a:pPr algn="ctr">
                  <a:lnSpc>
                    <a:spcPts val="2694"/>
                  </a:lnSpc>
                </a:pPr>
              </a:p>
            </p:txBody>
          </p:sp>
        </p:grpSp>
      </p:grpSp>
      <p:sp>
        <p:nvSpPr>
          <p:cNvPr name="Freeform 29" id="29"/>
          <p:cNvSpPr/>
          <p:nvPr/>
        </p:nvSpPr>
        <p:spPr>
          <a:xfrm flipH="false" flipV="false" rot="0">
            <a:off x="13838912" y="5325507"/>
            <a:ext cx="1729521" cy="1965365"/>
          </a:xfrm>
          <a:custGeom>
            <a:avLst/>
            <a:gdLst/>
            <a:ahLst/>
            <a:cxnLst/>
            <a:rect r="r" b="b" t="t" l="l"/>
            <a:pathLst>
              <a:path h="1965365" w="1729521">
                <a:moveTo>
                  <a:pt x="0" y="0"/>
                </a:moveTo>
                <a:lnTo>
                  <a:pt x="1729521" y="0"/>
                </a:lnTo>
                <a:lnTo>
                  <a:pt x="1729521" y="1965365"/>
                </a:lnTo>
                <a:lnTo>
                  <a:pt x="0" y="1965365"/>
                </a:lnTo>
                <a:lnTo>
                  <a:pt x="0" y="0"/>
                </a:lnTo>
                <a:close/>
              </a:path>
            </a:pathLst>
          </a:custGeom>
          <a:blipFill>
            <a:blip r:embed="rId2"/>
            <a:stretch>
              <a:fillRect l="0" t="0" r="0" b="0"/>
            </a:stretch>
          </a:blipFill>
        </p:spPr>
      </p:sp>
      <p:sp>
        <p:nvSpPr>
          <p:cNvPr name="Freeform 30" id="30"/>
          <p:cNvSpPr/>
          <p:nvPr/>
        </p:nvSpPr>
        <p:spPr>
          <a:xfrm flipH="false" flipV="false" rot="0">
            <a:off x="8406257" y="5469285"/>
            <a:ext cx="1475485" cy="1821587"/>
          </a:xfrm>
          <a:custGeom>
            <a:avLst/>
            <a:gdLst/>
            <a:ahLst/>
            <a:cxnLst/>
            <a:rect r="r" b="b" t="t" l="l"/>
            <a:pathLst>
              <a:path h="1821587" w="1475485">
                <a:moveTo>
                  <a:pt x="0" y="0"/>
                </a:moveTo>
                <a:lnTo>
                  <a:pt x="1475486" y="0"/>
                </a:lnTo>
                <a:lnTo>
                  <a:pt x="1475486" y="1821587"/>
                </a:lnTo>
                <a:lnTo>
                  <a:pt x="0" y="1821587"/>
                </a:lnTo>
                <a:lnTo>
                  <a:pt x="0" y="0"/>
                </a:lnTo>
                <a:close/>
              </a:path>
            </a:pathLst>
          </a:custGeom>
          <a:blipFill>
            <a:blip r:embed="rId3"/>
            <a:stretch>
              <a:fillRect l="0" t="0" r="0" b="0"/>
            </a:stretch>
          </a:blipFill>
        </p:spPr>
      </p:sp>
      <p:sp>
        <p:nvSpPr>
          <p:cNvPr name="Freeform 31" id="31"/>
          <p:cNvSpPr/>
          <p:nvPr/>
        </p:nvSpPr>
        <p:spPr>
          <a:xfrm flipH="false" flipV="false" rot="0">
            <a:off x="2814907" y="5366537"/>
            <a:ext cx="1308896" cy="1883304"/>
          </a:xfrm>
          <a:custGeom>
            <a:avLst/>
            <a:gdLst/>
            <a:ahLst/>
            <a:cxnLst/>
            <a:rect r="r" b="b" t="t" l="l"/>
            <a:pathLst>
              <a:path h="1883304" w="1308896">
                <a:moveTo>
                  <a:pt x="0" y="0"/>
                </a:moveTo>
                <a:lnTo>
                  <a:pt x="1308896" y="0"/>
                </a:lnTo>
                <a:lnTo>
                  <a:pt x="1308896" y="1883304"/>
                </a:lnTo>
                <a:lnTo>
                  <a:pt x="0" y="18833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2" id="32"/>
          <p:cNvSpPr/>
          <p:nvPr/>
        </p:nvSpPr>
        <p:spPr>
          <a:xfrm flipH="false" flipV="false" rot="0">
            <a:off x="6059024" y="6703520"/>
            <a:ext cx="450872" cy="412548"/>
          </a:xfrm>
          <a:custGeom>
            <a:avLst/>
            <a:gdLst/>
            <a:ahLst/>
            <a:cxnLst/>
            <a:rect r="r" b="b" t="t" l="l"/>
            <a:pathLst>
              <a:path h="412548" w="450872">
                <a:moveTo>
                  <a:pt x="0" y="0"/>
                </a:moveTo>
                <a:lnTo>
                  <a:pt x="450872" y="0"/>
                </a:lnTo>
                <a:lnTo>
                  <a:pt x="450872" y="412548"/>
                </a:lnTo>
                <a:lnTo>
                  <a:pt x="0" y="4125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3" id="3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34" id="34"/>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35" id="35"/>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36" id="36"/>
          <p:cNvSpPr txBox="true"/>
          <p:nvPr/>
        </p:nvSpPr>
        <p:spPr>
          <a:xfrm rot="0">
            <a:off x="1133912" y="2266443"/>
            <a:ext cx="12951196" cy="752543"/>
          </a:xfrm>
          <a:prstGeom prst="rect">
            <a:avLst/>
          </a:prstGeom>
        </p:spPr>
        <p:txBody>
          <a:bodyPr anchor="t" rtlCol="false" tIns="0" lIns="0" bIns="0" rIns="0">
            <a:spAutoFit/>
          </a:bodyPr>
          <a:lstStyle/>
          <a:p>
            <a:pPr algn="l" marL="0" indent="0" lvl="0">
              <a:lnSpc>
                <a:spcPts val="5583"/>
              </a:lnSpc>
              <a:spcBef>
                <a:spcPct val="0"/>
              </a:spcBef>
            </a:pPr>
            <a:r>
              <a:rPr lang="en-US" sz="5583">
                <a:solidFill>
                  <a:srgbClr val="000000"/>
                </a:solidFill>
                <a:latin typeface="Aristotelica Pro Condensed"/>
                <a:ea typeface="Aristotelica Pro Condensed"/>
                <a:cs typeface="Aristotelica Pro Condensed"/>
                <a:sym typeface="Aristotelica Pro Condensed"/>
              </a:rPr>
              <a:t>  </a:t>
            </a:r>
            <a:r>
              <a:rPr lang="en-US" b="true" sz="5583">
                <a:solidFill>
                  <a:srgbClr val="000000"/>
                </a:solidFill>
                <a:latin typeface="Aristotelica Pro Condensed Bold"/>
                <a:ea typeface="Aristotelica Pro Condensed Bold"/>
                <a:cs typeface="Aristotelica Pro Condensed Bold"/>
                <a:sym typeface="Aristotelica Pro Condensed Bold"/>
              </a:rPr>
              <a:t>DEMO 1 - Grade_Checker </a:t>
            </a:r>
          </a:p>
        </p:txBody>
      </p:sp>
      <p:grpSp>
        <p:nvGrpSpPr>
          <p:cNvPr name="Group 37" id="37"/>
          <p:cNvGrpSpPr/>
          <p:nvPr/>
        </p:nvGrpSpPr>
        <p:grpSpPr>
          <a:xfrm rot="0">
            <a:off x="2760311" y="3257110"/>
            <a:ext cx="12532436" cy="1053247"/>
            <a:chOff x="0" y="0"/>
            <a:chExt cx="16709914" cy="1404330"/>
          </a:xfrm>
        </p:grpSpPr>
        <p:grpSp>
          <p:nvGrpSpPr>
            <p:cNvPr name="Group 38" id="38"/>
            <p:cNvGrpSpPr/>
            <p:nvPr/>
          </p:nvGrpSpPr>
          <p:grpSpPr>
            <a:xfrm rot="0">
              <a:off x="0" y="0"/>
              <a:ext cx="16709914" cy="1404330"/>
              <a:chOff x="0" y="0"/>
              <a:chExt cx="3300724" cy="277398"/>
            </a:xfrm>
          </p:grpSpPr>
          <p:sp>
            <p:nvSpPr>
              <p:cNvPr name="Freeform 39" id="39"/>
              <p:cNvSpPr/>
              <p:nvPr/>
            </p:nvSpPr>
            <p:spPr>
              <a:xfrm flipH="false" flipV="false" rot="0">
                <a:off x="0" y="0"/>
                <a:ext cx="3300724" cy="277398"/>
              </a:xfrm>
              <a:custGeom>
                <a:avLst/>
                <a:gdLst/>
                <a:ahLst/>
                <a:cxnLst/>
                <a:rect r="r" b="b" t="t" l="l"/>
                <a:pathLst>
                  <a:path h="277398" w="3300724">
                    <a:moveTo>
                      <a:pt x="43243" y="0"/>
                    </a:moveTo>
                    <a:lnTo>
                      <a:pt x="3257481" y="0"/>
                    </a:lnTo>
                    <a:cubicBezTo>
                      <a:pt x="3268950" y="0"/>
                      <a:pt x="3279949" y="4556"/>
                      <a:pt x="3288058" y="12665"/>
                    </a:cubicBezTo>
                    <a:cubicBezTo>
                      <a:pt x="3296168" y="20775"/>
                      <a:pt x="3300724" y="31774"/>
                      <a:pt x="3300724" y="43243"/>
                    </a:cubicBezTo>
                    <a:lnTo>
                      <a:pt x="3300724" y="234156"/>
                    </a:lnTo>
                    <a:cubicBezTo>
                      <a:pt x="3300724" y="258038"/>
                      <a:pt x="3281363" y="277398"/>
                      <a:pt x="3257481" y="277398"/>
                    </a:cubicBezTo>
                    <a:lnTo>
                      <a:pt x="43243" y="277398"/>
                    </a:lnTo>
                    <a:cubicBezTo>
                      <a:pt x="19360" y="277398"/>
                      <a:pt x="0" y="258038"/>
                      <a:pt x="0" y="234156"/>
                    </a:cubicBezTo>
                    <a:lnTo>
                      <a:pt x="0" y="43243"/>
                    </a:lnTo>
                    <a:cubicBezTo>
                      <a:pt x="0" y="19360"/>
                      <a:pt x="19360" y="0"/>
                      <a:pt x="43243" y="0"/>
                    </a:cubicBezTo>
                    <a:close/>
                  </a:path>
                </a:pathLst>
              </a:custGeom>
              <a:solidFill>
                <a:srgbClr val="FFFFFF"/>
              </a:solidFill>
              <a:ln w="66675" cap="rnd">
                <a:solidFill>
                  <a:srgbClr val="FFC153"/>
                </a:solidFill>
                <a:prstDash val="solid"/>
                <a:round/>
              </a:ln>
            </p:spPr>
          </p:sp>
          <p:sp>
            <p:nvSpPr>
              <p:cNvPr name="TextBox 40" id="40"/>
              <p:cNvSpPr txBox="true"/>
              <p:nvPr/>
            </p:nvSpPr>
            <p:spPr>
              <a:xfrm>
                <a:off x="0" y="19050"/>
                <a:ext cx="3300724" cy="258348"/>
              </a:xfrm>
              <a:prstGeom prst="rect">
                <a:avLst/>
              </a:prstGeom>
            </p:spPr>
            <p:txBody>
              <a:bodyPr anchor="ctr" rtlCol="false" tIns="50800" lIns="50800" bIns="50800" rIns="50800"/>
              <a:lstStyle/>
              <a:p>
                <a:pPr algn="ctr">
                  <a:lnSpc>
                    <a:spcPts val="2694"/>
                  </a:lnSpc>
                </a:pPr>
              </a:p>
            </p:txBody>
          </p:sp>
        </p:grpSp>
        <p:sp>
          <p:nvSpPr>
            <p:cNvPr name="TextBox 41" id="41"/>
            <p:cNvSpPr txBox="true"/>
            <p:nvPr/>
          </p:nvSpPr>
          <p:spPr>
            <a:xfrm rot="0">
              <a:off x="1670979" y="374710"/>
              <a:ext cx="13428750" cy="651854"/>
            </a:xfrm>
            <a:prstGeom prst="rect">
              <a:avLst/>
            </a:prstGeom>
          </p:spPr>
          <p:txBody>
            <a:bodyPr anchor="t" rtlCol="false" tIns="0" lIns="0" bIns="0" rIns="0">
              <a:spAutoFit/>
            </a:bodyPr>
            <a:lstStyle/>
            <a:p>
              <a:pPr algn="just">
                <a:lnSpc>
                  <a:spcPts val="3762"/>
                </a:lnSpc>
                <a:spcBef>
                  <a:spcPct val="0"/>
                </a:spcBef>
              </a:pPr>
              <a:r>
                <a:rPr lang="en-US" sz="3420">
                  <a:solidFill>
                    <a:srgbClr val="000000"/>
                  </a:solidFill>
                  <a:latin typeface="ไอติม"/>
                  <a:ea typeface="ไอติม"/>
                  <a:cs typeface="ไอติม"/>
                  <a:sym typeface="ไอติม"/>
                </a:rPr>
                <a:t>ตรวจเกรดจากคะแนน 0–100 ของนักศึกษาในระบบวิชา OS</a:t>
              </a:r>
            </a:p>
          </p:txBody>
        </p:sp>
      </p:grpSp>
      <p:sp>
        <p:nvSpPr>
          <p:cNvPr name="TextBox 42" id="42"/>
          <p:cNvSpPr txBox="true"/>
          <p:nvPr/>
        </p:nvSpPr>
        <p:spPr>
          <a:xfrm rot="0">
            <a:off x="2472477" y="7426249"/>
            <a:ext cx="1993756" cy="4381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ไอติม"/>
                <a:ea typeface="ไอติม"/>
                <a:cs typeface="ไอติม"/>
                <a:sym typeface="ไอติม"/>
              </a:rPr>
              <a:t>ค้นหารายชื่อ</a:t>
            </a:r>
          </a:p>
        </p:txBody>
      </p:sp>
      <p:sp>
        <p:nvSpPr>
          <p:cNvPr name="TextBox 43" id="43"/>
          <p:cNvSpPr txBox="true"/>
          <p:nvPr/>
        </p:nvSpPr>
        <p:spPr>
          <a:xfrm rot="0">
            <a:off x="2103996" y="8026324"/>
            <a:ext cx="3011267" cy="355600"/>
          </a:xfrm>
          <a:prstGeom prst="rect">
            <a:avLst/>
          </a:prstGeom>
        </p:spPr>
        <p:txBody>
          <a:bodyPr anchor="t" rtlCol="false" tIns="0" lIns="0" bIns="0" rIns="0">
            <a:spAutoFit/>
          </a:bodyPr>
          <a:lstStyle/>
          <a:p>
            <a:pPr algn="ctr">
              <a:lnSpc>
                <a:spcPts val="2749"/>
              </a:lnSpc>
              <a:spcBef>
                <a:spcPct val="0"/>
              </a:spcBef>
            </a:pPr>
            <a:r>
              <a:rPr lang="en-US" sz="2499">
                <a:solidFill>
                  <a:srgbClr val="777777"/>
                </a:solidFill>
                <a:latin typeface="ไอติม"/>
                <a:ea typeface="ไอติม"/>
                <a:cs typeface="ไอติม"/>
                <a:sym typeface="ไอติม"/>
              </a:rPr>
              <a:t>ซึ่งอาจไม่มีในระบบ</a:t>
            </a:r>
          </a:p>
        </p:txBody>
      </p:sp>
      <p:sp>
        <p:nvSpPr>
          <p:cNvPr name="TextBox 44" id="44"/>
          <p:cNvSpPr txBox="true"/>
          <p:nvPr/>
        </p:nvSpPr>
        <p:spPr>
          <a:xfrm rot="0">
            <a:off x="6625824" y="7446593"/>
            <a:ext cx="4903002" cy="4381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ไอติม"/>
                <a:ea typeface="ไอติม"/>
                <a:cs typeface="ไอติม"/>
                <a:sym typeface="ไอติม"/>
              </a:rPr>
              <a:t>ตรวจคะแนน ตัดเกรด</a:t>
            </a:r>
          </a:p>
        </p:txBody>
      </p:sp>
      <p:sp>
        <p:nvSpPr>
          <p:cNvPr name="TextBox 45" id="45"/>
          <p:cNvSpPr txBox="true"/>
          <p:nvPr/>
        </p:nvSpPr>
        <p:spPr>
          <a:xfrm rot="0">
            <a:off x="12191507" y="7426249"/>
            <a:ext cx="4903002" cy="4381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ไอติม"/>
                <a:ea typeface="ไอติม"/>
                <a:cs typeface="ไอติม"/>
                <a:sym typeface="ไอติม"/>
              </a:rPr>
              <a:t>รายงานผล</a:t>
            </a:r>
          </a:p>
        </p:txBody>
      </p:sp>
      <p:sp>
        <p:nvSpPr>
          <p:cNvPr name="TextBox 46" id="46"/>
          <p:cNvSpPr txBox="true"/>
          <p:nvPr/>
        </p:nvSpPr>
        <p:spPr>
          <a:xfrm rot="0">
            <a:off x="6625824" y="8046668"/>
            <a:ext cx="4903002" cy="355600"/>
          </a:xfrm>
          <a:prstGeom prst="rect">
            <a:avLst/>
          </a:prstGeom>
        </p:spPr>
        <p:txBody>
          <a:bodyPr anchor="t" rtlCol="false" tIns="0" lIns="0" bIns="0" rIns="0">
            <a:spAutoFit/>
          </a:bodyPr>
          <a:lstStyle/>
          <a:p>
            <a:pPr algn="ctr">
              <a:lnSpc>
                <a:spcPts val="2749"/>
              </a:lnSpc>
              <a:spcBef>
                <a:spcPct val="0"/>
              </a:spcBef>
            </a:pPr>
            <a:r>
              <a:rPr lang="en-US" sz="2499">
                <a:solidFill>
                  <a:srgbClr val="777777"/>
                </a:solidFill>
                <a:latin typeface="ไอติม"/>
                <a:ea typeface="ไอติม"/>
                <a:cs typeface="ไอติม"/>
                <a:sym typeface="ไอติม"/>
              </a:rPr>
              <a:t>คะแนนอาจจะผิดปกติ</a:t>
            </a:r>
          </a:p>
        </p:txBody>
      </p:sp>
      <p:sp>
        <p:nvSpPr>
          <p:cNvPr name="TextBox 47" id="47"/>
          <p:cNvSpPr txBox="true"/>
          <p:nvPr/>
        </p:nvSpPr>
        <p:spPr>
          <a:xfrm rot="0">
            <a:off x="12252172" y="7997749"/>
            <a:ext cx="4903002" cy="355600"/>
          </a:xfrm>
          <a:prstGeom prst="rect">
            <a:avLst/>
          </a:prstGeom>
        </p:spPr>
        <p:txBody>
          <a:bodyPr anchor="t" rtlCol="false" tIns="0" lIns="0" bIns="0" rIns="0">
            <a:spAutoFit/>
          </a:bodyPr>
          <a:lstStyle/>
          <a:p>
            <a:pPr algn="ctr">
              <a:lnSpc>
                <a:spcPts val="2749"/>
              </a:lnSpc>
              <a:spcBef>
                <a:spcPct val="0"/>
              </a:spcBef>
            </a:pPr>
            <a:r>
              <a:rPr lang="en-US" sz="2499">
                <a:solidFill>
                  <a:srgbClr val="777777"/>
                </a:solidFill>
                <a:latin typeface="ไอติม"/>
                <a:ea typeface="ไอติม"/>
                <a:cs typeface="ไอติม"/>
                <a:sym typeface="ไอติม"/>
              </a:rPr>
              <a:t>แสดงผลตามเงื่อนไขที่กำหนด</a:t>
            </a:r>
          </a:p>
        </p:txBody>
      </p:sp>
      <p:sp>
        <p:nvSpPr>
          <p:cNvPr name="Freeform 48" id="48"/>
          <p:cNvSpPr/>
          <p:nvPr/>
        </p:nvSpPr>
        <p:spPr>
          <a:xfrm flipH="false" flipV="false" rot="0">
            <a:off x="11609747" y="6703520"/>
            <a:ext cx="450872" cy="412548"/>
          </a:xfrm>
          <a:custGeom>
            <a:avLst/>
            <a:gdLst/>
            <a:ahLst/>
            <a:cxnLst/>
            <a:rect r="r" b="b" t="t" l="l"/>
            <a:pathLst>
              <a:path h="412548" w="450872">
                <a:moveTo>
                  <a:pt x="0" y="0"/>
                </a:moveTo>
                <a:lnTo>
                  <a:pt x="450872" y="0"/>
                </a:lnTo>
                <a:lnTo>
                  <a:pt x="450872" y="412548"/>
                </a:lnTo>
                <a:lnTo>
                  <a:pt x="0" y="4125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3992352"/>
            <a:ext cx="9624526" cy="630590"/>
          </a:xfrm>
          <a:custGeom>
            <a:avLst/>
            <a:gdLst/>
            <a:ahLst/>
            <a:cxnLst/>
            <a:rect r="r" b="b" t="t" l="l"/>
            <a:pathLst>
              <a:path h="630590" w="9624526">
                <a:moveTo>
                  <a:pt x="0" y="0"/>
                </a:moveTo>
                <a:lnTo>
                  <a:pt x="9624525" y="0"/>
                </a:lnTo>
                <a:lnTo>
                  <a:pt x="9624525" y="630590"/>
                </a:lnTo>
                <a:lnTo>
                  <a:pt x="0" y="630590"/>
                </a:lnTo>
                <a:lnTo>
                  <a:pt x="0" y="0"/>
                </a:lnTo>
                <a:close/>
              </a:path>
            </a:pathLst>
          </a:custGeom>
          <a:blipFill>
            <a:blip r:embed="rId2"/>
            <a:stretch>
              <a:fillRect l="-13709" t="-169076" r="-137181" b="-1815352"/>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3992352"/>
            <a:ext cx="581694" cy="630590"/>
            <a:chOff x="0" y="0"/>
            <a:chExt cx="153203" cy="166081"/>
          </a:xfrm>
        </p:grpSpPr>
        <p:sp>
          <p:nvSpPr>
            <p:cNvPr name="Freeform 14" id="14"/>
            <p:cNvSpPr/>
            <p:nvPr/>
          </p:nvSpPr>
          <p:spPr>
            <a:xfrm flipH="false" flipV="false" rot="0">
              <a:off x="0" y="0"/>
              <a:ext cx="153203" cy="166081"/>
            </a:xfrm>
            <a:custGeom>
              <a:avLst/>
              <a:gdLst/>
              <a:ahLst/>
              <a:cxnLst/>
              <a:rect r="r" b="b" t="t" l="l"/>
              <a:pathLst>
                <a:path h="166081" w="153203">
                  <a:moveTo>
                    <a:pt x="0" y="0"/>
                  </a:moveTo>
                  <a:lnTo>
                    <a:pt x="153203" y="0"/>
                  </a:lnTo>
                  <a:lnTo>
                    <a:pt x="153203" y="166081"/>
                  </a:lnTo>
                  <a:lnTo>
                    <a:pt x="0" y="166081"/>
                  </a:lnTo>
                  <a:close/>
                </a:path>
              </a:pathLst>
            </a:custGeom>
            <a:solidFill>
              <a:srgbClr val="F6BD3B">
                <a:alpha val="0"/>
              </a:srgbClr>
            </a:solidFill>
          </p:spPr>
        </p:sp>
        <p:sp>
          <p:nvSpPr>
            <p:cNvPr name="TextBox 15" id="15"/>
            <p:cNvSpPr txBox="true"/>
            <p:nvPr/>
          </p:nvSpPr>
          <p:spPr>
            <a:xfrm>
              <a:off x="0" y="19050"/>
              <a:ext cx="153203" cy="147031"/>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grpSp>
        <p:nvGrpSpPr>
          <p:cNvPr name="Group 17" id="17"/>
          <p:cNvGrpSpPr/>
          <p:nvPr/>
        </p:nvGrpSpPr>
        <p:grpSpPr>
          <a:xfrm rot="0">
            <a:off x="12109121" y="4622942"/>
            <a:ext cx="5646071" cy="1032666"/>
            <a:chOff x="0" y="0"/>
            <a:chExt cx="7528095" cy="1376888"/>
          </a:xfrm>
        </p:grpSpPr>
        <p:grpSp>
          <p:nvGrpSpPr>
            <p:cNvPr name="Group 18" id="18"/>
            <p:cNvGrpSpPr/>
            <p:nvPr/>
          </p:nvGrpSpPr>
          <p:grpSpPr>
            <a:xfrm rot="0">
              <a:off x="0" y="0"/>
              <a:ext cx="7528095" cy="1376888"/>
              <a:chOff x="0" y="0"/>
              <a:chExt cx="1288133" cy="235599"/>
            </a:xfrm>
          </p:grpSpPr>
          <p:sp>
            <p:nvSpPr>
              <p:cNvPr name="Freeform 19" id="19"/>
              <p:cNvSpPr/>
              <p:nvPr/>
            </p:nvSpPr>
            <p:spPr>
              <a:xfrm flipH="false" flipV="false" rot="0">
                <a:off x="0" y="0"/>
                <a:ext cx="1288133" cy="235599"/>
              </a:xfrm>
              <a:custGeom>
                <a:avLst/>
                <a:gdLst/>
                <a:ahLst/>
                <a:cxnLst/>
                <a:rect r="r" b="b" t="t" l="l"/>
                <a:pathLst>
                  <a:path h="235599" w="1288133">
                    <a:moveTo>
                      <a:pt x="53477" y="0"/>
                    </a:moveTo>
                    <a:lnTo>
                      <a:pt x="1234656" y="0"/>
                    </a:lnTo>
                    <a:cubicBezTo>
                      <a:pt x="1264191" y="0"/>
                      <a:pt x="1288133" y="23942"/>
                      <a:pt x="1288133" y="53477"/>
                    </a:cubicBezTo>
                    <a:lnTo>
                      <a:pt x="1288133" y="182122"/>
                    </a:lnTo>
                    <a:cubicBezTo>
                      <a:pt x="1288133" y="211657"/>
                      <a:pt x="1264191" y="235599"/>
                      <a:pt x="1234656" y="235599"/>
                    </a:cubicBezTo>
                    <a:lnTo>
                      <a:pt x="53477" y="235599"/>
                    </a:lnTo>
                    <a:cubicBezTo>
                      <a:pt x="39294" y="235599"/>
                      <a:pt x="25692" y="229965"/>
                      <a:pt x="15663" y="219936"/>
                    </a:cubicBezTo>
                    <a:cubicBezTo>
                      <a:pt x="5634" y="209908"/>
                      <a:pt x="0" y="196305"/>
                      <a:pt x="0" y="182122"/>
                    </a:cubicBezTo>
                    <a:lnTo>
                      <a:pt x="0" y="53477"/>
                    </a:lnTo>
                    <a:cubicBezTo>
                      <a:pt x="0" y="23942"/>
                      <a:pt x="23942" y="0"/>
                      <a:pt x="53477" y="0"/>
                    </a:cubicBezTo>
                    <a:close/>
                  </a:path>
                </a:pathLst>
              </a:custGeom>
              <a:solidFill>
                <a:srgbClr val="FFFFFF"/>
              </a:solidFill>
              <a:ln w="38100" cap="rnd">
                <a:solidFill>
                  <a:srgbClr val="FCE1B1"/>
                </a:solidFill>
                <a:prstDash val="solid"/>
                <a:round/>
              </a:ln>
            </p:spPr>
          </p:sp>
          <p:sp>
            <p:nvSpPr>
              <p:cNvPr name="TextBox 20" id="20"/>
              <p:cNvSpPr txBox="true"/>
              <p:nvPr/>
            </p:nvSpPr>
            <p:spPr>
              <a:xfrm>
                <a:off x="0" y="19050"/>
                <a:ext cx="1288133" cy="216549"/>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314215" y="336045"/>
              <a:ext cx="7162913"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#1 แปลงคะแนนเป็นเกรด</a:t>
              </a:r>
            </a:p>
          </p:txBody>
        </p:sp>
      </p:grpSp>
      <p:sp>
        <p:nvSpPr>
          <p:cNvPr name="TextBox 22" id="2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3" id="2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4" id="2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5" id="25"/>
          <p:cNvSpPr txBox="true"/>
          <p:nvPr/>
        </p:nvSpPr>
        <p:spPr>
          <a:xfrm rot="0">
            <a:off x="12226352" y="6019819"/>
            <a:ext cx="5672589" cy="1212172"/>
          </a:xfrm>
          <a:prstGeom prst="rect">
            <a:avLst/>
          </a:prstGeom>
        </p:spPr>
        <p:txBody>
          <a:bodyPr anchor="t" rtlCol="false" tIns="0" lIns="0" bIns="0" rIns="0">
            <a:spAutoFit/>
          </a:bodyPr>
          <a:lstStyle/>
          <a:p>
            <a:pPr algn="ctr">
              <a:lnSpc>
                <a:spcPts val="3160"/>
              </a:lnSpc>
            </a:pPr>
            <a:r>
              <a:rPr lang="en-US" sz="2873">
                <a:solidFill>
                  <a:srgbClr val="000000"/>
                </a:solidFill>
                <a:latin typeface="ไอติม"/>
                <a:ea typeface="ไอติม"/>
                <a:cs typeface="ไอติม"/>
                <a:sym typeface="ไอติม"/>
              </a:rPr>
              <a:t>เป็น ENUM มาตรฐานของ RUST </a:t>
            </a:r>
          </a:p>
          <a:p>
            <a:pPr algn="ctr">
              <a:lnSpc>
                <a:spcPts val="3160"/>
              </a:lnSpc>
            </a:pPr>
            <a:r>
              <a:rPr lang="en-US" sz="2873">
                <a:solidFill>
                  <a:srgbClr val="000000"/>
                </a:solidFill>
                <a:latin typeface="ไอติม"/>
                <a:ea typeface="ไอติม"/>
                <a:cs typeface="ไอติม"/>
                <a:sym typeface="ไอติม"/>
              </a:rPr>
              <a:t>คืนค่าเกรดออกไปตามเกณฑ์ที่กำหนด</a:t>
            </a:r>
          </a:p>
          <a:p>
            <a:pPr algn="ctr">
              <a:lnSpc>
                <a:spcPts val="3160"/>
              </a:lnSpc>
              <a:spcBef>
                <a:spcPct val="0"/>
              </a:spcBef>
            </a:pPr>
            <a:r>
              <a:rPr lang="en-US" sz="2873">
                <a:solidFill>
                  <a:srgbClr val="000000"/>
                </a:solidFill>
                <a:latin typeface="ไอติม"/>
                <a:ea typeface="ไอติม"/>
                <a:cs typeface="ไอติม"/>
                <a:sym typeface="ไอติม"/>
              </a:rPr>
              <a:t>โดยใช้  MATCH เลือกทางตามช่วง</a:t>
            </a:r>
          </a:p>
        </p:txBody>
      </p:sp>
      <p:sp>
        <p:nvSpPr>
          <p:cNvPr name="TextBox 26" id="26"/>
          <p:cNvSpPr txBox="true"/>
          <p:nvPr/>
        </p:nvSpPr>
        <p:spPr>
          <a:xfrm rot="0">
            <a:off x="1221647" y="2115257"/>
            <a:ext cx="3434008"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alphaModFix amt="54000"/>
            </a:blip>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3992352"/>
            <a:ext cx="9624526" cy="630590"/>
          </a:xfrm>
          <a:custGeom>
            <a:avLst/>
            <a:gdLst/>
            <a:ahLst/>
            <a:cxnLst/>
            <a:rect r="r" b="b" t="t" l="l"/>
            <a:pathLst>
              <a:path h="630590" w="9624526">
                <a:moveTo>
                  <a:pt x="0" y="0"/>
                </a:moveTo>
                <a:lnTo>
                  <a:pt x="9624525" y="0"/>
                </a:lnTo>
                <a:lnTo>
                  <a:pt x="9624525" y="630590"/>
                </a:lnTo>
                <a:lnTo>
                  <a:pt x="0" y="630590"/>
                </a:lnTo>
                <a:lnTo>
                  <a:pt x="0" y="0"/>
                </a:lnTo>
                <a:close/>
              </a:path>
            </a:pathLst>
          </a:custGeom>
          <a:blipFill>
            <a:blip r:embed="rId2"/>
            <a:stretch>
              <a:fillRect l="-13709" t="-169076" r="-137181" b="-1815352"/>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3992352"/>
            <a:ext cx="581694" cy="630590"/>
            <a:chOff x="0" y="0"/>
            <a:chExt cx="153203" cy="166081"/>
          </a:xfrm>
        </p:grpSpPr>
        <p:sp>
          <p:nvSpPr>
            <p:cNvPr name="Freeform 14" id="14"/>
            <p:cNvSpPr/>
            <p:nvPr/>
          </p:nvSpPr>
          <p:spPr>
            <a:xfrm flipH="false" flipV="false" rot="0">
              <a:off x="0" y="0"/>
              <a:ext cx="153203" cy="166081"/>
            </a:xfrm>
            <a:custGeom>
              <a:avLst/>
              <a:gdLst/>
              <a:ahLst/>
              <a:cxnLst/>
              <a:rect r="r" b="b" t="t" l="l"/>
              <a:pathLst>
                <a:path h="166081" w="153203">
                  <a:moveTo>
                    <a:pt x="0" y="0"/>
                  </a:moveTo>
                  <a:lnTo>
                    <a:pt x="153203" y="0"/>
                  </a:lnTo>
                  <a:lnTo>
                    <a:pt x="153203" y="166081"/>
                  </a:lnTo>
                  <a:lnTo>
                    <a:pt x="0" y="166081"/>
                  </a:lnTo>
                  <a:close/>
                </a:path>
              </a:pathLst>
            </a:custGeom>
            <a:solidFill>
              <a:srgbClr val="F6BD3B"/>
            </a:solidFill>
          </p:spPr>
        </p:sp>
        <p:sp>
          <p:nvSpPr>
            <p:cNvPr name="TextBox 15" id="15"/>
            <p:cNvSpPr txBox="true"/>
            <p:nvPr/>
          </p:nvSpPr>
          <p:spPr>
            <a:xfrm>
              <a:off x="0" y="19050"/>
              <a:ext cx="153203" cy="147031"/>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0" id="20"/>
          <p:cNvSpPr txBox="true"/>
          <p:nvPr/>
        </p:nvSpPr>
        <p:spPr>
          <a:xfrm rot="0">
            <a:off x="1221647" y="2115257"/>
            <a:ext cx="3434008"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grpSp>
        <p:nvGrpSpPr>
          <p:cNvPr name="Group 21" id="21"/>
          <p:cNvGrpSpPr/>
          <p:nvPr/>
        </p:nvGrpSpPr>
        <p:grpSpPr>
          <a:xfrm rot="0">
            <a:off x="12332693" y="4680643"/>
            <a:ext cx="5372184" cy="964501"/>
            <a:chOff x="0" y="0"/>
            <a:chExt cx="7162913" cy="1286001"/>
          </a:xfrm>
        </p:grpSpPr>
        <p:grpSp>
          <p:nvGrpSpPr>
            <p:cNvPr name="Group 22" id="22"/>
            <p:cNvGrpSpPr/>
            <p:nvPr/>
          </p:nvGrpSpPr>
          <p:grpSpPr>
            <a:xfrm rot="0">
              <a:off x="438916" y="0"/>
              <a:ext cx="6230186" cy="1286001"/>
              <a:chOff x="0" y="0"/>
              <a:chExt cx="1066048" cy="220048"/>
            </a:xfrm>
          </p:grpSpPr>
          <p:sp>
            <p:nvSpPr>
              <p:cNvPr name="Freeform 23" id="23"/>
              <p:cNvSpPr/>
              <p:nvPr/>
            </p:nvSpPr>
            <p:spPr>
              <a:xfrm flipH="false" flipV="false" rot="0">
                <a:off x="0" y="0"/>
                <a:ext cx="1066048" cy="220048"/>
              </a:xfrm>
              <a:custGeom>
                <a:avLst/>
                <a:gdLst/>
                <a:ahLst/>
                <a:cxnLst/>
                <a:rect r="r" b="b" t="t" l="l"/>
                <a:pathLst>
                  <a:path h="220048" w="1066048">
                    <a:moveTo>
                      <a:pt x="64618" y="0"/>
                    </a:moveTo>
                    <a:lnTo>
                      <a:pt x="1001430" y="0"/>
                    </a:lnTo>
                    <a:cubicBezTo>
                      <a:pt x="1037117" y="0"/>
                      <a:pt x="1066048" y="28930"/>
                      <a:pt x="1066048" y="64618"/>
                    </a:cubicBezTo>
                    <a:lnTo>
                      <a:pt x="1066048" y="155430"/>
                    </a:lnTo>
                    <a:cubicBezTo>
                      <a:pt x="1066048" y="172568"/>
                      <a:pt x="1059240" y="189004"/>
                      <a:pt x="1047122" y="201122"/>
                    </a:cubicBezTo>
                    <a:cubicBezTo>
                      <a:pt x="1035003" y="213240"/>
                      <a:pt x="1018568" y="220048"/>
                      <a:pt x="1001430" y="220048"/>
                    </a:cubicBezTo>
                    <a:lnTo>
                      <a:pt x="64618" y="220048"/>
                    </a:lnTo>
                    <a:cubicBezTo>
                      <a:pt x="47480" y="220048"/>
                      <a:pt x="31044" y="213240"/>
                      <a:pt x="18926" y="201122"/>
                    </a:cubicBezTo>
                    <a:cubicBezTo>
                      <a:pt x="6808" y="189004"/>
                      <a:pt x="0" y="172568"/>
                      <a:pt x="0" y="155430"/>
                    </a:cubicBezTo>
                    <a:lnTo>
                      <a:pt x="0" y="64618"/>
                    </a:lnTo>
                    <a:cubicBezTo>
                      <a:pt x="0" y="47480"/>
                      <a:pt x="6808" y="31044"/>
                      <a:pt x="18926" y="18926"/>
                    </a:cubicBezTo>
                    <a:cubicBezTo>
                      <a:pt x="31044" y="6808"/>
                      <a:pt x="47480" y="0"/>
                      <a:pt x="64618"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066048" cy="200998"/>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0" y="264744"/>
              <a:ext cx="7162913"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คืน OPTION&lt;CHAR&gt;</a:t>
              </a:r>
            </a:p>
          </p:txBody>
        </p:sp>
      </p:grpSp>
      <p:sp>
        <p:nvSpPr>
          <p:cNvPr name="TextBox 26" id="26"/>
          <p:cNvSpPr txBox="true"/>
          <p:nvPr/>
        </p:nvSpPr>
        <p:spPr>
          <a:xfrm rot="0">
            <a:off x="12332693" y="6016183"/>
            <a:ext cx="5194123" cy="407968"/>
          </a:xfrm>
          <a:prstGeom prst="rect">
            <a:avLst/>
          </a:prstGeom>
        </p:spPr>
        <p:txBody>
          <a:bodyPr anchor="t" rtlCol="false" tIns="0" lIns="0" bIns="0" rIns="0">
            <a:spAutoFit/>
          </a:bodyPr>
          <a:lstStyle/>
          <a:p>
            <a:pPr algn="ctr">
              <a:lnSpc>
                <a:spcPts val="3160"/>
              </a:lnSpc>
              <a:spcBef>
                <a:spcPct val="0"/>
              </a:spcBef>
            </a:pPr>
            <a:r>
              <a:rPr lang="en-US" sz="2873">
                <a:solidFill>
                  <a:srgbClr val="000000"/>
                </a:solidFill>
                <a:latin typeface="ไอติม"/>
                <a:ea typeface="ไอติม"/>
                <a:cs typeface="ไอติม"/>
                <a:sym typeface="ไอติม"/>
              </a:rPr>
              <a:t>ผลลัพธ์อาจจะ</a:t>
            </a:r>
            <a:r>
              <a:rPr lang="en-US" sz="2873">
                <a:solidFill>
                  <a:srgbClr val="239521"/>
                </a:solidFill>
                <a:latin typeface="ไอติม"/>
                <a:ea typeface="ไอติม"/>
                <a:cs typeface="ไอติม"/>
                <a:sym typeface="ไอติม"/>
              </a:rPr>
              <a:t>มีเกรด</a:t>
            </a:r>
            <a:r>
              <a:rPr lang="en-US" sz="2873">
                <a:solidFill>
                  <a:srgbClr val="000000"/>
                </a:solidFill>
                <a:latin typeface="ไอติม"/>
                <a:ea typeface="ไอติม"/>
                <a:cs typeface="ไอติม"/>
                <a:sym typeface="ไอติม"/>
              </a:rPr>
              <a:t>หรือ</a:t>
            </a:r>
            <a:r>
              <a:rPr lang="en-US" sz="2873">
                <a:solidFill>
                  <a:srgbClr val="990941"/>
                </a:solidFill>
                <a:latin typeface="ไอติม"/>
                <a:ea typeface="ไอติม"/>
                <a:cs typeface="ไอติม"/>
                <a:sym typeface="ไอติม"/>
              </a:rPr>
              <a:t>ไม่มี</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alphaModFix amt="54000"/>
            </a:blip>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4575317"/>
            <a:ext cx="9624526" cy="2772954"/>
          </a:xfrm>
          <a:custGeom>
            <a:avLst/>
            <a:gdLst/>
            <a:ahLst/>
            <a:cxnLst/>
            <a:rect r="r" b="b" t="t" l="l"/>
            <a:pathLst>
              <a:path h="2772954" w="9624526">
                <a:moveTo>
                  <a:pt x="0" y="0"/>
                </a:moveTo>
                <a:lnTo>
                  <a:pt x="9624525" y="0"/>
                </a:lnTo>
                <a:lnTo>
                  <a:pt x="9624525" y="2772954"/>
                </a:lnTo>
                <a:lnTo>
                  <a:pt x="0" y="2772954"/>
                </a:lnTo>
                <a:lnTo>
                  <a:pt x="0" y="0"/>
                </a:lnTo>
                <a:close/>
              </a:path>
            </a:pathLst>
          </a:custGeom>
          <a:blipFill>
            <a:blip r:embed="rId2"/>
            <a:stretch>
              <a:fillRect l="-13709" t="-59472" r="-137181" b="-314542"/>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4575317"/>
            <a:ext cx="581694" cy="2772954"/>
            <a:chOff x="0" y="0"/>
            <a:chExt cx="153203" cy="730325"/>
          </a:xfrm>
        </p:grpSpPr>
        <p:sp>
          <p:nvSpPr>
            <p:cNvPr name="Freeform 14" id="14"/>
            <p:cNvSpPr/>
            <p:nvPr/>
          </p:nvSpPr>
          <p:spPr>
            <a:xfrm flipH="false" flipV="false" rot="0">
              <a:off x="0" y="0"/>
              <a:ext cx="153203" cy="730325"/>
            </a:xfrm>
            <a:custGeom>
              <a:avLst/>
              <a:gdLst/>
              <a:ahLst/>
              <a:cxnLst/>
              <a:rect r="r" b="b" t="t" l="l"/>
              <a:pathLst>
                <a:path h="730325" w="153203">
                  <a:moveTo>
                    <a:pt x="0" y="0"/>
                  </a:moveTo>
                  <a:lnTo>
                    <a:pt x="153203" y="0"/>
                  </a:lnTo>
                  <a:lnTo>
                    <a:pt x="153203" y="730325"/>
                  </a:lnTo>
                  <a:lnTo>
                    <a:pt x="0" y="730325"/>
                  </a:lnTo>
                  <a:close/>
                </a:path>
              </a:pathLst>
            </a:custGeom>
            <a:solidFill>
              <a:srgbClr val="F6BD3B"/>
            </a:solidFill>
          </p:spPr>
        </p:sp>
        <p:sp>
          <p:nvSpPr>
            <p:cNvPr name="TextBox 15" id="15"/>
            <p:cNvSpPr txBox="true"/>
            <p:nvPr/>
          </p:nvSpPr>
          <p:spPr>
            <a:xfrm>
              <a:off x="0" y="19050"/>
              <a:ext cx="153203" cy="711275"/>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0" id="20"/>
          <p:cNvSpPr txBox="true"/>
          <p:nvPr/>
        </p:nvSpPr>
        <p:spPr>
          <a:xfrm rot="0">
            <a:off x="1221647" y="2115257"/>
            <a:ext cx="3434008"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grpSp>
        <p:nvGrpSpPr>
          <p:cNvPr name="Group 21" id="21"/>
          <p:cNvGrpSpPr/>
          <p:nvPr/>
        </p:nvGrpSpPr>
        <p:grpSpPr>
          <a:xfrm rot="0">
            <a:off x="12071236" y="5336005"/>
            <a:ext cx="5526886" cy="1032666"/>
            <a:chOff x="0" y="0"/>
            <a:chExt cx="7369182" cy="1376888"/>
          </a:xfrm>
        </p:grpSpPr>
        <p:grpSp>
          <p:nvGrpSpPr>
            <p:cNvPr name="Group 22" id="22"/>
            <p:cNvGrpSpPr/>
            <p:nvPr/>
          </p:nvGrpSpPr>
          <p:grpSpPr>
            <a:xfrm rot="0">
              <a:off x="0" y="0"/>
              <a:ext cx="7369182" cy="1376888"/>
              <a:chOff x="0" y="0"/>
              <a:chExt cx="1260941" cy="235599"/>
            </a:xfrm>
          </p:grpSpPr>
          <p:sp>
            <p:nvSpPr>
              <p:cNvPr name="Freeform 23" id="23"/>
              <p:cNvSpPr/>
              <p:nvPr/>
            </p:nvSpPr>
            <p:spPr>
              <a:xfrm flipH="false" flipV="false" rot="0">
                <a:off x="0" y="0"/>
                <a:ext cx="1260941" cy="235599"/>
              </a:xfrm>
              <a:custGeom>
                <a:avLst/>
                <a:gdLst/>
                <a:ahLst/>
                <a:cxnLst/>
                <a:rect r="r" b="b" t="t" l="l"/>
                <a:pathLst>
                  <a:path h="235599" w="1260941">
                    <a:moveTo>
                      <a:pt x="54630" y="0"/>
                    </a:moveTo>
                    <a:lnTo>
                      <a:pt x="1206311" y="0"/>
                    </a:lnTo>
                    <a:cubicBezTo>
                      <a:pt x="1220800" y="0"/>
                      <a:pt x="1234695" y="5756"/>
                      <a:pt x="1244941" y="16001"/>
                    </a:cubicBezTo>
                    <a:cubicBezTo>
                      <a:pt x="1255186" y="26246"/>
                      <a:pt x="1260941" y="40141"/>
                      <a:pt x="1260941" y="54630"/>
                    </a:cubicBezTo>
                    <a:lnTo>
                      <a:pt x="1260941" y="180969"/>
                    </a:lnTo>
                    <a:cubicBezTo>
                      <a:pt x="1260941" y="211141"/>
                      <a:pt x="1236483" y="235599"/>
                      <a:pt x="1206311" y="235599"/>
                    </a:cubicBezTo>
                    <a:lnTo>
                      <a:pt x="54630" y="235599"/>
                    </a:lnTo>
                    <a:cubicBezTo>
                      <a:pt x="24459" y="235599"/>
                      <a:pt x="0" y="211141"/>
                      <a:pt x="0" y="180969"/>
                    </a:cubicBezTo>
                    <a:lnTo>
                      <a:pt x="0" y="54630"/>
                    </a:lnTo>
                    <a:cubicBezTo>
                      <a:pt x="0" y="24459"/>
                      <a:pt x="24459" y="0"/>
                      <a:pt x="54630"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260941" cy="216549"/>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206269" y="336045"/>
              <a:ext cx="7162913"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อยู่ในช่วง → </a:t>
              </a:r>
              <a:r>
                <a:rPr lang="en-US" sz="3463">
                  <a:solidFill>
                    <a:srgbClr val="239521"/>
                  </a:solidFill>
                  <a:latin typeface="ไอติม"/>
                  <a:ea typeface="ไอติม"/>
                  <a:cs typeface="ไอติม"/>
                  <a:sym typeface="ไอติม"/>
                </a:rPr>
                <a:t>SOME</a:t>
              </a:r>
              <a:r>
                <a:rPr lang="en-US" sz="3463">
                  <a:solidFill>
                    <a:srgbClr val="000000"/>
                  </a:solidFill>
                  <a:latin typeface="ไอติม"/>
                  <a:ea typeface="ไอติม"/>
                  <a:cs typeface="ไอติม"/>
                  <a:sym typeface="ไอติม"/>
                </a:rPr>
                <a:t>(เกรด)</a:t>
              </a:r>
            </a:p>
          </p:txBody>
        </p:sp>
      </p:grpSp>
      <p:sp>
        <p:nvSpPr>
          <p:cNvPr name="TextBox 26" id="26"/>
          <p:cNvSpPr txBox="true"/>
          <p:nvPr/>
        </p:nvSpPr>
        <p:spPr>
          <a:xfrm rot="0">
            <a:off x="12403999" y="6493554"/>
            <a:ext cx="5194123" cy="407968"/>
          </a:xfrm>
          <a:prstGeom prst="rect">
            <a:avLst/>
          </a:prstGeom>
        </p:spPr>
        <p:txBody>
          <a:bodyPr anchor="t" rtlCol="false" tIns="0" lIns="0" bIns="0" rIns="0">
            <a:spAutoFit/>
          </a:bodyPr>
          <a:lstStyle/>
          <a:p>
            <a:pPr algn="ctr">
              <a:lnSpc>
                <a:spcPts val="3160"/>
              </a:lnSpc>
              <a:spcBef>
                <a:spcPct val="0"/>
              </a:spcBef>
            </a:pPr>
            <a:r>
              <a:rPr lang="en-US" sz="2873">
                <a:solidFill>
                  <a:srgbClr val="000000"/>
                </a:solidFill>
                <a:latin typeface="ไอติม"/>
                <a:ea typeface="ไอติม"/>
                <a:cs typeface="ไอติม"/>
                <a:sym typeface="ไอติม"/>
              </a:rPr>
              <a:t>MATCH ตา</a:t>
            </a:r>
            <a:r>
              <a:rPr lang="en-US" sz="2873">
                <a:solidFill>
                  <a:srgbClr val="000000"/>
                </a:solidFill>
                <a:latin typeface="ไอติม"/>
                <a:ea typeface="ไอติม"/>
                <a:cs typeface="ไอติม"/>
                <a:sym typeface="ไอติม"/>
              </a:rPr>
              <a:t>ม</a:t>
            </a:r>
            <a:r>
              <a:rPr lang="en-US" sz="2873">
                <a:solidFill>
                  <a:srgbClr val="000000"/>
                </a:solidFill>
                <a:latin typeface="ไอติม"/>
                <a:ea typeface="ไอติม"/>
                <a:cs typeface="ไอติม"/>
                <a:sym typeface="ไอติม"/>
              </a:rPr>
              <a:t>ช</a:t>
            </a:r>
            <a:r>
              <a:rPr lang="en-US" sz="2873">
                <a:solidFill>
                  <a:srgbClr val="000000"/>
                </a:solidFill>
                <a:latin typeface="ไอติม"/>
                <a:ea typeface="ไอติม"/>
                <a:cs typeface="ไอติม"/>
                <a:sym typeface="ไอติม"/>
              </a:rPr>
              <a:t>่</a:t>
            </a:r>
            <a:r>
              <a:rPr lang="en-US" sz="2873">
                <a:solidFill>
                  <a:srgbClr val="000000"/>
                </a:solidFill>
                <a:latin typeface="ไอติม"/>
                <a:ea typeface="ไอติม"/>
                <a:cs typeface="ไอติม"/>
                <a:sym typeface="ไอติม"/>
              </a:rPr>
              <a:t>วงคะแนน</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818948" y="2926169"/>
            <a:ext cx="10749780" cy="6130149"/>
          </a:xfrm>
          <a:custGeom>
            <a:avLst/>
            <a:gdLst/>
            <a:ahLst/>
            <a:cxnLst/>
            <a:rect r="r" b="b" t="t" l="l"/>
            <a:pathLst>
              <a:path h="6130149" w="10749780">
                <a:moveTo>
                  <a:pt x="0" y="0"/>
                </a:moveTo>
                <a:lnTo>
                  <a:pt x="10749780" y="0"/>
                </a:lnTo>
                <a:lnTo>
                  <a:pt x="10749780" y="6130149"/>
                </a:lnTo>
                <a:lnTo>
                  <a:pt x="0" y="6130149"/>
                </a:lnTo>
                <a:lnTo>
                  <a:pt x="0" y="0"/>
                </a:lnTo>
                <a:close/>
              </a:path>
            </a:pathLst>
          </a:custGeom>
          <a:blipFill>
            <a:blip r:embed="rId2">
              <a:alphaModFix amt="54000"/>
            </a:blip>
            <a:stretch>
              <a:fillRect l="-6863" t="0" r="-117765" b="-114419"/>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9" id="9"/>
          <p:cNvSpPr/>
          <p:nvPr/>
        </p:nvSpPr>
        <p:spPr>
          <a:xfrm flipH="false" flipV="false" rot="0">
            <a:off x="1400642" y="7285046"/>
            <a:ext cx="9624526" cy="665526"/>
          </a:xfrm>
          <a:custGeom>
            <a:avLst/>
            <a:gdLst/>
            <a:ahLst/>
            <a:cxnLst/>
            <a:rect r="r" b="b" t="t" l="l"/>
            <a:pathLst>
              <a:path h="665526" w="9624526">
                <a:moveTo>
                  <a:pt x="0" y="0"/>
                </a:moveTo>
                <a:lnTo>
                  <a:pt x="9624525" y="0"/>
                </a:lnTo>
                <a:lnTo>
                  <a:pt x="9624525" y="665526"/>
                </a:lnTo>
                <a:lnTo>
                  <a:pt x="0" y="665526"/>
                </a:lnTo>
                <a:lnTo>
                  <a:pt x="0" y="0"/>
                </a:lnTo>
                <a:close/>
              </a:path>
            </a:pathLst>
          </a:custGeom>
          <a:blipFill>
            <a:blip r:embed="rId2"/>
            <a:stretch>
              <a:fillRect l="-13709" t="-654952" r="-137181" b="-1220058"/>
            </a:stretch>
          </a:blipFill>
        </p:spPr>
      </p:sp>
      <p:grpSp>
        <p:nvGrpSpPr>
          <p:cNvPr name="Group 10" id="10"/>
          <p:cNvGrpSpPr/>
          <p:nvPr/>
        </p:nvGrpSpPr>
        <p:grpSpPr>
          <a:xfrm rot="0">
            <a:off x="852504" y="1962089"/>
            <a:ext cx="3803151" cy="788873"/>
            <a:chOff x="0" y="0"/>
            <a:chExt cx="939578" cy="194893"/>
          </a:xfrm>
        </p:grpSpPr>
        <p:sp>
          <p:nvSpPr>
            <p:cNvPr name="Freeform 11" id="11"/>
            <p:cNvSpPr/>
            <p:nvPr/>
          </p:nvSpPr>
          <p:spPr>
            <a:xfrm flipH="false" flipV="false" rot="0">
              <a:off x="0" y="0"/>
              <a:ext cx="939578" cy="194893"/>
            </a:xfrm>
            <a:custGeom>
              <a:avLst/>
              <a:gdLst/>
              <a:ahLst/>
              <a:cxnLst/>
              <a:rect r="r" b="b" t="t" l="l"/>
              <a:pathLst>
                <a:path h="194893" w="939578">
                  <a:moveTo>
                    <a:pt x="79391" y="0"/>
                  </a:moveTo>
                  <a:lnTo>
                    <a:pt x="860188" y="0"/>
                  </a:lnTo>
                  <a:cubicBezTo>
                    <a:pt x="904034" y="0"/>
                    <a:pt x="939578" y="35544"/>
                    <a:pt x="939578" y="79391"/>
                  </a:cubicBezTo>
                  <a:lnTo>
                    <a:pt x="939578" y="115503"/>
                  </a:lnTo>
                  <a:cubicBezTo>
                    <a:pt x="939578" y="159349"/>
                    <a:pt x="904034" y="194893"/>
                    <a:pt x="860188" y="194893"/>
                  </a:cubicBezTo>
                  <a:lnTo>
                    <a:pt x="79391" y="194893"/>
                  </a:lnTo>
                  <a:cubicBezTo>
                    <a:pt x="35544" y="194893"/>
                    <a:pt x="0" y="159349"/>
                    <a:pt x="0" y="115503"/>
                  </a:cubicBezTo>
                  <a:lnTo>
                    <a:pt x="0" y="79391"/>
                  </a:lnTo>
                  <a:cubicBezTo>
                    <a:pt x="0" y="35544"/>
                    <a:pt x="35544" y="0"/>
                    <a:pt x="79391" y="0"/>
                  </a:cubicBezTo>
                  <a:close/>
                </a:path>
              </a:pathLst>
            </a:custGeom>
            <a:solidFill>
              <a:srgbClr val="FBD172"/>
            </a:solidFill>
            <a:ln cap="rnd">
              <a:noFill/>
              <a:prstDash val="solid"/>
              <a:round/>
            </a:ln>
          </p:spPr>
        </p:sp>
        <p:sp>
          <p:nvSpPr>
            <p:cNvPr name="TextBox 12" id="12"/>
            <p:cNvSpPr txBox="true"/>
            <p:nvPr/>
          </p:nvSpPr>
          <p:spPr>
            <a:xfrm>
              <a:off x="0" y="19050"/>
              <a:ext cx="939578" cy="175843"/>
            </a:xfrm>
            <a:prstGeom prst="rect">
              <a:avLst/>
            </a:prstGeom>
          </p:spPr>
          <p:txBody>
            <a:bodyPr anchor="ctr" rtlCol="false" tIns="50800" lIns="50800" bIns="50800" rIns="50800"/>
            <a:lstStyle/>
            <a:p>
              <a:pPr algn="ctr">
                <a:lnSpc>
                  <a:spcPts val="2694"/>
                </a:lnSpc>
              </a:pPr>
            </a:p>
          </p:txBody>
        </p:sp>
      </p:grpSp>
      <p:grpSp>
        <p:nvGrpSpPr>
          <p:cNvPr name="Group 13" id="13"/>
          <p:cNvGrpSpPr/>
          <p:nvPr/>
        </p:nvGrpSpPr>
        <p:grpSpPr>
          <a:xfrm rot="0">
            <a:off x="818948" y="7285046"/>
            <a:ext cx="581694" cy="665526"/>
            <a:chOff x="0" y="0"/>
            <a:chExt cx="153203" cy="175283"/>
          </a:xfrm>
        </p:grpSpPr>
        <p:sp>
          <p:nvSpPr>
            <p:cNvPr name="Freeform 14" id="14"/>
            <p:cNvSpPr/>
            <p:nvPr/>
          </p:nvSpPr>
          <p:spPr>
            <a:xfrm flipH="false" flipV="false" rot="0">
              <a:off x="0" y="0"/>
              <a:ext cx="153203" cy="175283"/>
            </a:xfrm>
            <a:custGeom>
              <a:avLst/>
              <a:gdLst/>
              <a:ahLst/>
              <a:cxnLst/>
              <a:rect r="r" b="b" t="t" l="l"/>
              <a:pathLst>
                <a:path h="175283" w="153203">
                  <a:moveTo>
                    <a:pt x="0" y="0"/>
                  </a:moveTo>
                  <a:lnTo>
                    <a:pt x="153203" y="0"/>
                  </a:lnTo>
                  <a:lnTo>
                    <a:pt x="153203" y="175283"/>
                  </a:lnTo>
                  <a:lnTo>
                    <a:pt x="0" y="175283"/>
                  </a:lnTo>
                  <a:close/>
                </a:path>
              </a:pathLst>
            </a:custGeom>
            <a:solidFill>
              <a:srgbClr val="F6BD3B"/>
            </a:solidFill>
          </p:spPr>
        </p:sp>
        <p:sp>
          <p:nvSpPr>
            <p:cNvPr name="TextBox 15" id="15"/>
            <p:cNvSpPr txBox="true"/>
            <p:nvPr/>
          </p:nvSpPr>
          <p:spPr>
            <a:xfrm>
              <a:off x="0" y="19050"/>
              <a:ext cx="153203" cy="156233"/>
            </a:xfrm>
            <a:prstGeom prst="rect">
              <a:avLst/>
            </a:prstGeom>
          </p:spPr>
          <p:txBody>
            <a:bodyPr anchor="ctr" rtlCol="false" tIns="50800" lIns="50800" bIns="50800" rIns="50800"/>
            <a:lstStyle/>
            <a:p>
              <a:pPr algn="ctr">
                <a:lnSpc>
                  <a:spcPts val="2749"/>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0" id="20"/>
          <p:cNvSpPr txBox="true"/>
          <p:nvPr/>
        </p:nvSpPr>
        <p:spPr>
          <a:xfrm rot="0">
            <a:off x="1221647" y="2115257"/>
            <a:ext cx="3434008"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a:t>
            </a:r>
            <a:r>
              <a:rPr lang="en-US" b="true" sz="4139">
                <a:solidFill>
                  <a:srgbClr val="280C07"/>
                </a:solidFill>
                <a:latin typeface="Aristotelica Pro Condensed Bold"/>
                <a:ea typeface="Aristotelica Pro Condensed Bold"/>
                <a:cs typeface="Aristotelica Pro Condensed Bold"/>
                <a:sym typeface="Aristotelica Pro Condensed Bold"/>
              </a:rPr>
              <a:t>get_grade()</a:t>
            </a:r>
          </a:p>
        </p:txBody>
      </p:sp>
      <p:grpSp>
        <p:nvGrpSpPr>
          <p:cNvPr name="Group 21" id="21"/>
          <p:cNvGrpSpPr/>
          <p:nvPr/>
        </p:nvGrpSpPr>
        <p:grpSpPr>
          <a:xfrm rot="0">
            <a:off x="12321013" y="6786952"/>
            <a:ext cx="5526886" cy="1032666"/>
            <a:chOff x="0" y="0"/>
            <a:chExt cx="7369182" cy="1376888"/>
          </a:xfrm>
        </p:grpSpPr>
        <p:grpSp>
          <p:nvGrpSpPr>
            <p:cNvPr name="Group 22" id="22"/>
            <p:cNvGrpSpPr/>
            <p:nvPr/>
          </p:nvGrpSpPr>
          <p:grpSpPr>
            <a:xfrm rot="0">
              <a:off x="0" y="0"/>
              <a:ext cx="7369182" cy="1376888"/>
              <a:chOff x="0" y="0"/>
              <a:chExt cx="1260941" cy="235599"/>
            </a:xfrm>
          </p:grpSpPr>
          <p:sp>
            <p:nvSpPr>
              <p:cNvPr name="Freeform 23" id="23"/>
              <p:cNvSpPr/>
              <p:nvPr/>
            </p:nvSpPr>
            <p:spPr>
              <a:xfrm flipH="false" flipV="false" rot="0">
                <a:off x="0" y="0"/>
                <a:ext cx="1260941" cy="235599"/>
              </a:xfrm>
              <a:custGeom>
                <a:avLst/>
                <a:gdLst/>
                <a:ahLst/>
                <a:cxnLst/>
                <a:rect r="r" b="b" t="t" l="l"/>
                <a:pathLst>
                  <a:path h="235599" w="1260941">
                    <a:moveTo>
                      <a:pt x="54630" y="0"/>
                    </a:moveTo>
                    <a:lnTo>
                      <a:pt x="1206311" y="0"/>
                    </a:lnTo>
                    <a:cubicBezTo>
                      <a:pt x="1220800" y="0"/>
                      <a:pt x="1234695" y="5756"/>
                      <a:pt x="1244941" y="16001"/>
                    </a:cubicBezTo>
                    <a:cubicBezTo>
                      <a:pt x="1255186" y="26246"/>
                      <a:pt x="1260941" y="40141"/>
                      <a:pt x="1260941" y="54630"/>
                    </a:cubicBezTo>
                    <a:lnTo>
                      <a:pt x="1260941" y="180969"/>
                    </a:lnTo>
                    <a:cubicBezTo>
                      <a:pt x="1260941" y="211141"/>
                      <a:pt x="1236483" y="235599"/>
                      <a:pt x="1206311" y="235599"/>
                    </a:cubicBezTo>
                    <a:lnTo>
                      <a:pt x="54630" y="235599"/>
                    </a:lnTo>
                    <a:cubicBezTo>
                      <a:pt x="24459" y="235599"/>
                      <a:pt x="0" y="211141"/>
                      <a:pt x="0" y="180969"/>
                    </a:cubicBezTo>
                    <a:lnTo>
                      <a:pt x="0" y="54630"/>
                    </a:lnTo>
                    <a:cubicBezTo>
                      <a:pt x="0" y="24459"/>
                      <a:pt x="24459" y="0"/>
                      <a:pt x="54630"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260941" cy="216549"/>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206269" y="336045"/>
              <a:ext cx="7162913"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นอกช่วง 0 - 100 →</a:t>
              </a:r>
              <a:r>
                <a:rPr lang="en-US" sz="3463">
                  <a:solidFill>
                    <a:srgbClr val="CF4327"/>
                  </a:solidFill>
                  <a:latin typeface="ไอติม"/>
                  <a:ea typeface="ไอติม"/>
                  <a:cs typeface="ไอติม"/>
                  <a:sym typeface="ไอติม"/>
                </a:rPr>
                <a:t> NONE</a:t>
              </a:r>
            </a:p>
          </p:txBody>
        </p:sp>
      </p:grpSp>
      <p:sp>
        <p:nvSpPr>
          <p:cNvPr name="TextBox 26" id="26"/>
          <p:cNvSpPr txBox="true"/>
          <p:nvPr/>
        </p:nvSpPr>
        <p:spPr>
          <a:xfrm rot="0">
            <a:off x="12487395" y="8040698"/>
            <a:ext cx="5194123" cy="407968"/>
          </a:xfrm>
          <a:prstGeom prst="rect">
            <a:avLst/>
          </a:prstGeom>
        </p:spPr>
        <p:txBody>
          <a:bodyPr anchor="t" rtlCol="false" tIns="0" lIns="0" bIns="0" rIns="0">
            <a:spAutoFit/>
          </a:bodyPr>
          <a:lstStyle/>
          <a:p>
            <a:pPr algn="ctr">
              <a:lnSpc>
                <a:spcPts val="3160"/>
              </a:lnSpc>
              <a:spcBef>
                <a:spcPct val="0"/>
              </a:spcBef>
            </a:pPr>
            <a:r>
              <a:rPr lang="en-US" sz="2873">
                <a:solidFill>
                  <a:srgbClr val="000000"/>
                </a:solidFill>
                <a:latin typeface="ไอติม"/>
                <a:ea typeface="ไอติม"/>
                <a:cs typeface="ไอติม"/>
                <a:sym typeface="ไอติม"/>
              </a:rPr>
              <a:t>เช่น 150 หรือ -5 ตัดเกรดไม่ได้</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2" id="1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3" id="1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4" id="1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5" id="15"/>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grpSp>
        <p:nvGrpSpPr>
          <p:cNvPr name="Group 16" id="16"/>
          <p:cNvGrpSpPr/>
          <p:nvPr/>
        </p:nvGrpSpPr>
        <p:grpSpPr>
          <a:xfrm rot="0">
            <a:off x="169875" y="2922412"/>
            <a:ext cx="10323770" cy="679753"/>
            <a:chOff x="0" y="0"/>
            <a:chExt cx="13765027" cy="906337"/>
          </a:xfrm>
        </p:grpSpPr>
        <p:grpSp>
          <p:nvGrpSpPr>
            <p:cNvPr name="Group 17" id="17"/>
            <p:cNvGrpSpPr/>
            <p:nvPr/>
          </p:nvGrpSpPr>
          <p:grpSpPr>
            <a:xfrm rot="0">
              <a:off x="636872" y="0"/>
              <a:ext cx="12511204" cy="906337"/>
              <a:chOff x="0" y="0"/>
              <a:chExt cx="2140793" cy="155083"/>
            </a:xfrm>
          </p:grpSpPr>
          <p:sp>
            <p:nvSpPr>
              <p:cNvPr name="Freeform 18" id="18"/>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19" id="19"/>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
        <p:nvSpPr>
          <p:cNvPr name="Freeform 21" id="21"/>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stretch>
              <a:fillRect l="-3432" t="-94908" r="-4019" b="-179"/>
            </a:stretch>
          </a:blipFill>
        </p:spPr>
      </p:sp>
      <p:grpSp>
        <p:nvGrpSpPr>
          <p:cNvPr name="Group 22" id="22"/>
          <p:cNvGrpSpPr/>
          <p:nvPr/>
        </p:nvGrpSpPr>
        <p:grpSpPr>
          <a:xfrm rot="0">
            <a:off x="824928" y="4670887"/>
            <a:ext cx="464718" cy="847153"/>
            <a:chOff x="0" y="0"/>
            <a:chExt cx="122395" cy="223118"/>
          </a:xfrm>
        </p:grpSpPr>
        <p:sp>
          <p:nvSpPr>
            <p:cNvPr name="Freeform 23" id="23"/>
            <p:cNvSpPr/>
            <p:nvPr/>
          </p:nvSpPr>
          <p:spPr>
            <a:xfrm flipH="false" flipV="false" rot="0">
              <a:off x="0" y="0"/>
              <a:ext cx="122395" cy="223118"/>
            </a:xfrm>
            <a:custGeom>
              <a:avLst/>
              <a:gdLst/>
              <a:ahLst/>
              <a:cxnLst/>
              <a:rect r="r" b="b" t="t" l="l"/>
              <a:pathLst>
                <a:path h="223118" w="122395">
                  <a:moveTo>
                    <a:pt x="0" y="0"/>
                  </a:moveTo>
                  <a:lnTo>
                    <a:pt x="122395" y="0"/>
                  </a:lnTo>
                  <a:lnTo>
                    <a:pt x="122395" y="223118"/>
                  </a:lnTo>
                  <a:lnTo>
                    <a:pt x="0" y="223118"/>
                  </a:lnTo>
                  <a:close/>
                </a:path>
              </a:pathLst>
            </a:custGeom>
            <a:solidFill>
              <a:srgbClr val="F6BD3B">
                <a:alpha val="0"/>
              </a:srgbClr>
            </a:solidFill>
          </p:spPr>
        </p:sp>
        <p:sp>
          <p:nvSpPr>
            <p:cNvPr name="TextBox 24" id="24"/>
            <p:cNvSpPr txBox="true"/>
            <p:nvPr/>
          </p:nvSpPr>
          <p:spPr>
            <a:xfrm>
              <a:off x="0" y="19050"/>
              <a:ext cx="122395" cy="204068"/>
            </a:xfrm>
            <a:prstGeom prst="rect">
              <a:avLst/>
            </a:prstGeom>
          </p:spPr>
          <p:txBody>
            <a:bodyPr anchor="ctr" rtlCol="false" tIns="50800" lIns="50800" bIns="50800" rIns="50800"/>
            <a:lstStyle/>
            <a:p>
              <a:pPr algn="ctr">
                <a:lnSpc>
                  <a:spcPts val="2749"/>
                </a:lnSpc>
              </a:pPr>
            </a:p>
          </p:txBody>
        </p:sp>
      </p:grpSp>
      <p:sp>
        <p:nvSpPr>
          <p:cNvPr name="Freeform 25" id="25"/>
          <p:cNvSpPr/>
          <p:nvPr/>
        </p:nvSpPr>
        <p:spPr>
          <a:xfrm flipH="false" flipV="false" rot="0">
            <a:off x="1289646" y="4670887"/>
            <a:ext cx="14522905" cy="847153"/>
          </a:xfrm>
          <a:custGeom>
            <a:avLst/>
            <a:gdLst/>
            <a:ahLst/>
            <a:cxnLst/>
            <a:rect r="r" b="b" t="t" l="l"/>
            <a:pathLst>
              <a:path h="847153" w="14522905">
                <a:moveTo>
                  <a:pt x="0" y="0"/>
                </a:moveTo>
                <a:lnTo>
                  <a:pt x="14522905" y="0"/>
                </a:lnTo>
                <a:lnTo>
                  <a:pt x="14522905" y="847153"/>
                </a:lnTo>
                <a:lnTo>
                  <a:pt x="0" y="847153"/>
                </a:lnTo>
                <a:lnTo>
                  <a:pt x="0" y="0"/>
                </a:lnTo>
                <a:close/>
              </a:path>
            </a:pathLst>
          </a:custGeom>
          <a:blipFill>
            <a:blip r:embed="rId2">
              <a:alphaModFix amt="0"/>
            </a:blip>
            <a:stretch>
              <a:fillRect l="-7291" t="-682552" r="-19506" b="-400691"/>
            </a:stretch>
          </a:blipFill>
        </p:spPr>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2" id="1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3" id="1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4" id="1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5" id="15"/>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sp>
        <p:nvSpPr>
          <p:cNvPr name="Freeform 16" id="16"/>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alphaModFix amt="31000"/>
            </a:blip>
            <a:stretch>
              <a:fillRect l="-3432" t="-94908" r="-4019" b="-179"/>
            </a:stretch>
          </a:blipFill>
        </p:spPr>
      </p:sp>
      <p:grpSp>
        <p:nvGrpSpPr>
          <p:cNvPr name="Group 17" id="17"/>
          <p:cNvGrpSpPr/>
          <p:nvPr/>
        </p:nvGrpSpPr>
        <p:grpSpPr>
          <a:xfrm rot="0">
            <a:off x="824928" y="4670887"/>
            <a:ext cx="464718" cy="847153"/>
            <a:chOff x="0" y="0"/>
            <a:chExt cx="122395" cy="223118"/>
          </a:xfrm>
        </p:grpSpPr>
        <p:sp>
          <p:nvSpPr>
            <p:cNvPr name="Freeform 18" id="18"/>
            <p:cNvSpPr/>
            <p:nvPr/>
          </p:nvSpPr>
          <p:spPr>
            <a:xfrm flipH="false" flipV="false" rot="0">
              <a:off x="0" y="0"/>
              <a:ext cx="122395" cy="223118"/>
            </a:xfrm>
            <a:custGeom>
              <a:avLst/>
              <a:gdLst/>
              <a:ahLst/>
              <a:cxnLst/>
              <a:rect r="r" b="b" t="t" l="l"/>
              <a:pathLst>
                <a:path h="223118" w="122395">
                  <a:moveTo>
                    <a:pt x="0" y="0"/>
                  </a:moveTo>
                  <a:lnTo>
                    <a:pt x="122395" y="0"/>
                  </a:lnTo>
                  <a:lnTo>
                    <a:pt x="122395" y="223118"/>
                  </a:lnTo>
                  <a:lnTo>
                    <a:pt x="0" y="223118"/>
                  </a:lnTo>
                  <a:close/>
                </a:path>
              </a:pathLst>
            </a:custGeom>
            <a:solidFill>
              <a:srgbClr val="F6BD3B"/>
            </a:solidFill>
          </p:spPr>
        </p:sp>
        <p:sp>
          <p:nvSpPr>
            <p:cNvPr name="TextBox 19" id="19"/>
            <p:cNvSpPr txBox="true"/>
            <p:nvPr/>
          </p:nvSpPr>
          <p:spPr>
            <a:xfrm>
              <a:off x="0" y="19050"/>
              <a:ext cx="122395" cy="204068"/>
            </a:xfrm>
            <a:prstGeom prst="rect">
              <a:avLst/>
            </a:prstGeom>
          </p:spPr>
          <p:txBody>
            <a:bodyPr anchor="ctr" rtlCol="false" tIns="50800" lIns="50800" bIns="50800" rIns="50800"/>
            <a:lstStyle/>
            <a:p>
              <a:pPr algn="ctr">
                <a:lnSpc>
                  <a:spcPts val="2749"/>
                </a:lnSpc>
              </a:pPr>
            </a:p>
          </p:txBody>
        </p:sp>
      </p:grpSp>
      <p:sp>
        <p:nvSpPr>
          <p:cNvPr name="Freeform 20" id="20"/>
          <p:cNvSpPr/>
          <p:nvPr/>
        </p:nvSpPr>
        <p:spPr>
          <a:xfrm flipH="false" flipV="false" rot="0">
            <a:off x="1289646" y="4670887"/>
            <a:ext cx="14522905" cy="847153"/>
          </a:xfrm>
          <a:custGeom>
            <a:avLst/>
            <a:gdLst/>
            <a:ahLst/>
            <a:cxnLst/>
            <a:rect r="r" b="b" t="t" l="l"/>
            <a:pathLst>
              <a:path h="847153" w="14522905">
                <a:moveTo>
                  <a:pt x="0" y="0"/>
                </a:moveTo>
                <a:lnTo>
                  <a:pt x="14522905" y="0"/>
                </a:lnTo>
                <a:lnTo>
                  <a:pt x="14522905" y="847153"/>
                </a:lnTo>
                <a:lnTo>
                  <a:pt x="0" y="847153"/>
                </a:lnTo>
                <a:lnTo>
                  <a:pt x="0" y="0"/>
                </a:lnTo>
                <a:close/>
              </a:path>
            </a:pathLst>
          </a:custGeom>
          <a:blipFill>
            <a:blip r:embed="rId2"/>
            <a:stretch>
              <a:fillRect l="-7291" t="-682552" r="-19506" b="-400691"/>
            </a:stretch>
          </a:blipFill>
        </p:spPr>
      </p:sp>
      <p:grpSp>
        <p:nvGrpSpPr>
          <p:cNvPr name="Group 21" id="21"/>
          <p:cNvGrpSpPr/>
          <p:nvPr/>
        </p:nvGrpSpPr>
        <p:grpSpPr>
          <a:xfrm rot="0">
            <a:off x="11512361" y="2750962"/>
            <a:ext cx="5746939" cy="1532880"/>
            <a:chOff x="0" y="0"/>
            <a:chExt cx="7662585" cy="2043841"/>
          </a:xfrm>
        </p:grpSpPr>
        <p:grpSp>
          <p:nvGrpSpPr>
            <p:cNvPr name="Group 22" id="22"/>
            <p:cNvGrpSpPr/>
            <p:nvPr/>
          </p:nvGrpSpPr>
          <p:grpSpPr>
            <a:xfrm rot="0">
              <a:off x="0" y="0"/>
              <a:ext cx="7662585" cy="2043841"/>
              <a:chOff x="0" y="0"/>
              <a:chExt cx="1311146" cy="349722"/>
            </a:xfrm>
          </p:grpSpPr>
          <p:sp>
            <p:nvSpPr>
              <p:cNvPr name="Freeform 23" id="23"/>
              <p:cNvSpPr/>
              <p:nvPr/>
            </p:nvSpPr>
            <p:spPr>
              <a:xfrm flipH="false" flipV="false" rot="0">
                <a:off x="0" y="0"/>
                <a:ext cx="1311146" cy="349722"/>
              </a:xfrm>
              <a:custGeom>
                <a:avLst/>
                <a:gdLst/>
                <a:ahLst/>
                <a:cxnLst/>
                <a:rect r="r" b="b" t="t" l="l"/>
                <a:pathLst>
                  <a:path h="349722" w="1311146">
                    <a:moveTo>
                      <a:pt x="52538" y="0"/>
                    </a:moveTo>
                    <a:lnTo>
                      <a:pt x="1258607" y="0"/>
                    </a:lnTo>
                    <a:cubicBezTo>
                      <a:pt x="1272541" y="0"/>
                      <a:pt x="1285905" y="5535"/>
                      <a:pt x="1295757" y="15388"/>
                    </a:cubicBezTo>
                    <a:cubicBezTo>
                      <a:pt x="1305610" y="25241"/>
                      <a:pt x="1311146" y="38604"/>
                      <a:pt x="1311146" y="52538"/>
                    </a:cubicBezTo>
                    <a:lnTo>
                      <a:pt x="1311146" y="297183"/>
                    </a:lnTo>
                    <a:cubicBezTo>
                      <a:pt x="1311146" y="326200"/>
                      <a:pt x="1287623" y="349722"/>
                      <a:pt x="1258607" y="349722"/>
                    </a:cubicBezTo>
                    <a:lnTo>
                      <a:pt x="52538" y="349722"/>
                    </a:lnTo>
                    <a:cubicBezTo>
                      <a:pt x="38604" y="349722"/>
                      <a:pt x="25241" y="344187"/>
                      <a:pt x="15388" y="334334"/>
                    </a:cubicBezTo>
                    <a:cubicBezTo>
                      <a:pt x="5535" y="324481"/>
                      <a:pt x="0" y="311117"/>
                      <a:pt x="0" y="297183"/>
                    </a:cubicBezTo>
                    <a:lnTo>
                      <a:pt x="0" y="52538"/>
                    </a:lnTo>
                    <a:cubicBezTo>
                      <a:pt x="0" y="38604"/>
                      <a:pt x="5535" y="25241"/>
                      <a:pt x="15388" y="15388"/>
                    </a:cubicBezTo>
                    <a:cubicBezTo>
                      <a:pt x="25241" y="5535"/>
                      <a:pt x="38604" y="0"/>
                      <a:pt x="52538"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311146" cy="330672"/>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206269" y="336045"/>
              <a:ext cx="7162913"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ขั้นที่ 1 : มีชื่อในระบบไหม?</a:t>
              </a:r>
            </a:p>
          </p:txBody>
        </p:sp>
        <p:sp>
          <p:nvSpPr>
            <p:cNvPr name="TextBox 26" id="26"/>
            <p:cNvSpPr txBox="true"/>
            <p:nvPr/>
          </p:nvSpPr>
          <p:spPr>
            <a:xfrm rot="0">
              <a:off x="206269" y="1229457"/>
              <a:ext cx="7456315" cy="513751"/>
            </a:xfrm>
            <a:prstGeom prst="rect">
              <a:avLst/>
            </a:prstGeom>
          </p:spPr>
          <p:txBody>
            <a:bodyPr anchor="t" rtlCol="false" tIns="0" lIns="0" bIns="0" rIns="0">
              <a:spAutoFit/>
            </a:bodyPr>
            <a:lstStyle/>
            <a:p>
              <a:pPr algn="ctr">
                <a:lnSpc>
                  <a:spcPts val="2910"/>
                </a:lnSpc>
                <a:spcBef>
                  <a:spcPct val="0"/>
                </a:spcBef>
              </a:pPr>
              <a:r>
                <a:rPr lang="en-US" sz="2645">
                  <a:solidFill>
                    <a:srgbClr val="3C3C3C"/>
                  </a:solidFill>
                  <a:latin typeface="ไอติม"/>
                  <a:ea typeface="ไอติม"/>
                  <a:cs typeface="ไอติม"/>
                  <a:sym typeface="ไอติม"/>
                </a:rPr>
                <a:t>ไม่มี → </a:t>
              </a:r>
              <a:r>
                <a:rPr lang="en-US" sz="2645">
                  <a:solidFill>
                    <a:srgbClr val="990941"/>
                  </a:solidFill>
                  <a:latin typeface="ไอติม"/>
                  <a:ea typeface="ไอติม"/>
                  <a:cs typeface="ไอติม"/>
                  <a:sym typeface="ไอติม"/>
                </a:rPr>
                <a:t>NONE</a:t>
              </a:r>
              <a:r>
                <a:rPr lang="en-US" sz="2645">
                  <a:solidFill>
                    <a:srgbClr val="3C3C3C"/>
                  </a:solidFill>
                  <a:latin typeface="ไอติม"/>
                  <a:ea typeface="ไอติม"/>
                  <a:cs typeface="ไอติม"/>
                  <a:sym typeface="ไอติม"/>
                </a:rPr>
                <a:t> → “ไม่เจอชื่อในระบบ”</a:t>
              </a:r>
            </a:p>
          </p:txBody>
        </p:sp>
      </p:grpSp>
      <p:grpSp>
        <p:nvGrpSpPr>
          <p:cNvPr name="Group 27" id="27"/>
          <p:cNvGrpSpPr/>
          <p:nvPr/>
        </p:nvGrpSpPr>
        <p:grpSpPr>
          <a:xfrm rot="0">
            <a:off x="169875" y="2922412"/>
            <a:ext cx="10323770" cy="679753"/>
            <a:chOff x="0" y="0"/>
            <a:chExt cx="13765027" cy="906337"/>
          </a:xfrm>
        </p:grpSpPr>
        <p:grpSp>
          <p:nvGrpSpPr>
            <p:cNvPr name="Group 28" id="28"/>
            <p:cNvGrpSpPr/>
            <p:nvPr/>
          </p:nvGrpSpPr>
          <p:grpSpPr>
            <a:xfrm rot="0">
              <a:off x="636872" y="0"/>
              <a:ext cx="12511204" cy="906337"/>
              <a:chOff x="0" y="0"/>
              <a:chExt cx="2140793" cy="155083"/>
            </a:xfrm>
          </p:grpSpPr>
          <p:sp>
            <p:nvSpPr>
              <p:cNvPr name="Freeform 29" id="29"/>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30" id="30"/>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31" id="31"/>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2" id="1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3" id="1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4" id="14"/>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5" id="15"/>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sp>
        <p:nvSpPr>
          <p:cNvPr name="Freeform 16" id="16"/>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alphaModFix amt="31000"/>
            </a:blip>
            <a:stretch>
              <a:fillRect l="-3432" t="-94908" r="-4019" b="-179"/>
            </a:stretch>
          </a:blipFill>
        </p:spPr>
      </p:sp>
      <p:grpSp>
        <p:nvGrpSpPr>
          <p:cNvPr name="Group 17" id="17"/>
          <p:cNvGrpSpPr/>
          <p:nvPr/>
        </p:nvGrpSpPr>
        <p:grpSpPr>
          <a:xfrm rot="0">
            <a:off x="818948" y="5856378"/>
            <a:ext cx="498274" cy="551167"/>
            <a:chOff x="0" y="0"/>
            <a:chExt cx="131233" cy="145163"/>
          </a:xfrm>
        </p:grpSpPr>
        <p:sp>
          <p:nvSpPr>
            <p:cNvPr name="Freeform 18" id="18"/>
            <p:cNvSpPr/>
            <p:nvPr/>
          </p:nvSpPr>
          <p:spPr>
            <a:xfrm flipH="false" flipV="false" rot="0">
              <a:off x="0" y="0"/>
              <a:ext cx="131233" cy="145163"/>
            </a:xfrm>
            <a:custGeom>
              <a:avLst/>
              <a:gdLst/>
              <a:ahLst/>
              <a:cxnLst/>
              <a:rect r="r" b="b" t="t" l="l"/>
              <a:pathLst>
                <a:path h="145163" w="131233">
                  <a:moveTo>
                    <a:pt x="0" y="0"/>
                  </a:moveTo>
                  <a:lnTo>
                    <a:pt x="131233" y="0"/>
                  </a:lnTo>
                  <a:lnTo>
                    <a:pt x="131233" y="145163"/>
                  </a:lnTo>
                  <a:lnTo>
                    <a:pt x="0" y="145163"/>
                  </a:lnTo>
                  <a:close/>
                </a:path>
              </a:pathLst>
            </a:custGeom>
            <a:solidFill>
              <a:srgbClr val="F6BD3B"/>
            </a:solidFill>
          </p:spPr>
        </p:sp>
        <p:sp>
          <p:nvSpPr>
            <p:cNvPr name="TextBox 19" id="19"/>
            <p:cNvSpPr txBox="true"/>
            <p:nvPr/>
          </p:nvSpPr>
          <p:spPr>
            <a:xfrm>
              <a:off x="0" y="19050"/>
              <a:ext cx="131233" cy="126113"/>
            </a:xfrm>
            <a:prstGeom prst="rect">
              <a:avLst/>
            </a:prstGeom>
          </p:spPr>
          <p:txBody>
            <a:bodyPr anchor="ctr" rtlCol="false" tIns="50800" lIns="50800" bIns="50800" rIns="50800"/>
            <a:lstStyle/>
            <a:p>
              <a:pPr algn="ctr">
                <a:lnSpc>
                  <a:spcPts val="2749"/>
                </a:lnSpc>
              </a:pPr>
            </a:p>
          </p:txBody>
        </p:sp>
      </p:grpSp>
      <p:sp>
        <p:nvSpPr>
          <p:cNvPr name="Freeform 20" id="20"/>
          <p:cNvSpPr/>
          <p:nvPr/>
        </p:nvSpPr>
        <p:spPr>
          <a:xfrm flipH="false" flipV="false" rot="0">
            <a:off x="1289646" y="5859017"/>
            <a:ext cx="16666980" cy="548528"/>
          </a:xfrm>
          <a:custGeom>
            <a:avLst/>
            <a:gdLst/>
            <a:ahLst/>
            <a:cxnLst/>
            <a:rect r="r" b="b" t="t" l="l"/>
            <a:pathLst>
              <a:path h="548528" w="16666980">
                <a:moveTo>
                  <a:pt x="0" y="0"/>
                </a:moveTo>
                <a:lnTo>
                  <a:pt x="16666981" y="0"/>
                </a:lnTo>
                <a:lnTo>
                  <a:pt x="16666981" y="548528"/>
                </a:lnTo>
                <a:lnTo>
                  <a:pt x="0" y="548528"/>
                </a:lnTo>
                <a:lnTo>
                  <a:pt x="0" y="0"/>
                </a:lnTo>
                <a:close/>
              </a:path>
            </a:pathLst>
          </a:custGeom>
          <a:blipFill>
            <a:blip r:embed="rId2"/>
            <a:stretch>
              <a:fillRect l="-6353" t="-1277335" r="-4132" b="-450079"/>
            </a:stretch>
          </a:blipFill>
        </p:spPr>
      </p:sp>
      <p:grpSp>
        <p:nvGrpSpPr>
          <p:cNvPr name="Group 21" id="21"/>
          <p:cNvGrpSpPr/>
          <p:nvPr/>
        </p:nvGrpSpPr>
        <p:grpSpPr>
          <a:xfrm rot="0">
            <a:off x="11512361" y="2750962"/>
            <a:ext cx="6244585" cy="1532880"/>
            <a:chOff x="0" y="0"/>
            <a:chExt cx="8326114" cy="2043841"/>
          </a:xfrm>
        </p:grpSpPr>
        <p:grpSp>
          <p:nvGrpSpPr>
            <p:cNvPr name="Group 22" id="22"/>
            <p:cNvGrpSpPr/>
            <p:nvPr/>
          </p:nvGrpSpPr>
          <p:grpSpPr>
            <a:xfrm rot="0">
              <a:off x="0" y="0"/>
              <a:ext cx="8326114" cy="2043841"/>
              <a:chOff x="0" y="0"/>
              <a:chExt cx="1424682" cy="349722"/>
            </a:xfrm>
          </p:grpSpPr>
          <p:sp>
            <p:nvSpPr>
              <p:cNvPr name="Freeform 23" id="23"/>
              <p:cNvSpPr/>
              <p:nvPr/>
            </p:nvSpPr>
            <p:spPr>
              <a:xfrm flipH="false" flipV="false" rot="0">
                <a:off x="0" y="0"/>
                <a:ext cx="1424682" cy="349722"/>
              </a:xfrm>
              <a:custGeom>
                <a:avLst/>
                <a:gdLst/>
                <a:ahLst/>
                <a:cxnLst/>
                <a:rect r="r" b="b" t="t" l="l"/>
                <a:pathLst>
                  <a:path h="349722" w="1424682">
                    <a:moveTo>
                      <a:pt x="48351" y="0"/>
                    </a:moveTo>
                    <a:lnTo>
                      <a:pt x="1376331" y="0"/>
                    </a:lnTo>
                    <a:cubicBezTo>
                      <a:pt x="1403034" y="0"/>
                      <a:pt x="1424682" y="21648"/>
                      <a:pt x="1424682" y="48351"/>
                    </a:cubicBezTo>
                    <a:lnTo>
                      <a:pt x="1424682" y="301370"/>
                    </a:lnTo>
                    <a:cubicBezTo>
                      <a:pt x="1424682" y="328074"/>
                      <a:pt x="1403034" y="349722"/>
                      <a:pt x="1376331" y="349722"/>
                    </a:cubicBezTo>
                    <a:lnTo>
                      <a:pt x="48351" y="349722"/>
                    </a:lnTo>
                    <a:cubicBezTo>
                      <a:pt x="35528" y="349722"/>
                      <a:pt x="23229" y="344628"/>
                      <a:pt x="14162" y="335560"/>
                    </a:cubicBezTo>
                    <a:cubicBezTo>
                      <a:pt x="5094" y="326492"/>
                      <a:pt x="0" y="314194"/>
                      <a:pt x="0" y="301370"/>
                    </a:cubicBezTo>
                    <a:lnTo>
                      <a:pt x="0" y="48351"/>
                    </a:lnTo>
                    <a:cubicBezTo>
                      <a:pt x="0" y="21648"/>
                      <a:pt x="21648" y="0"/>
                      <a:pt x="48351"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424682" cy="330672"/>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103135" y="347326"/>
              <a:ext cx="8119844" cy="1309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ขั้นที่ 1 : มีชื่อในระบบไหม?</a:t>
              </a:r>
            </a:p>
            <a:p>
              <a:pPr algn="ctr">
                <a:lnSpc>
                  <a:spcPts val="3809"/>
                </a:lnSpc>
                <a:spcBef>
                  <a:spcPct val="0"/>
                </a:spcBef>
              </a:pPr>
            </a:p>
          </p:txBody>
        </p:sp>
        <p:sp>
          <p:nvSpPr>
            <p:cNvPr name="TextBox 26" id="26"/>
            <p:cNvSpPr txBox="true"/>
            <p:nvPr/>
          </p:nvSpPr>
          <p:spPr>
            <a:xfrm rot="0">
              <a:off x="206269" y="1229457"/>
              <a:ext cx="7456315" cy="508354"/>
            </a:xfrm>
            <a:prstGeom prst="rect">
              <a:avLst/>
            </a:prstGeom>
          </p:spPr>
          <p:txBody>
            <a:bodyPr anchor="t" rtlCol="false" tIns="0" lIns="0" bIns="0" rIns="0">
              <a:spAutoFit/>
            </a:bodyPr>
            <a:lstStyle/>
            <a:p>
              <a:pPr algn="ctr">
                <a:lnSpc>
                  <a:spcPts val="2910"/>
                </a:lnSpc>
                <a:spcBef>
                  <a:spcPct val="0"/>
                </a:spcBef>
              </a:pPr>
              <a:r>
                <a:rPr lang="en-US" sz="2645">
                  <a:solidFill>
                    <a:srgbClr val="3C3C3C"/>
                  </a:solidFill>
                  <a:latin typeface="ไอติม"/>
                  <a:ea typeface="ไอติม"/>
                  <a:cs typeface="ไอติม"/>
                  <a:sym typeface="ไอติม"/>
                </a:rPr>
                <a:t>มี→ </a:t>
              </a:r>
              <a:r>
                <a:rPr lang="en-US" sz="2645">
                  <a:solidFill>
                    <a:srgbClr val="239521"/>
                  </a:solidFill>
                  <a:latin typeface="ไอติม"/>
                  <a:ea typeface="ไอติม"/>
                  <a:cs typeface="ไอติม"/>
                  <a:sym typeface="ไอติม"/>
                </a:rPr>
                <a:t>SOME</a:t>
              </a:r>
              <a:r>
                <a:rPr lang="en-US" sz="2645">
                  <a:solidFill>
                    <a:srgbClr val="3C3C3C"/>
                  </a:solidFill>
                  <a:latin typeface="ไอติม"/>
                  <a:ea typeface="ไอติม"/>
                  <a:cs typeface="ไอติม"/>
                  <a:sym typeface="ไอติม"/>
                </a:rPr>
                <a:t>→ ส่งคะแนนไปตัดเกรด</a:t>
              </a:r>
            </a:p>
          </p:txBody>
        </p:sp>
      </p:grpSp>
      <p:grpSp>
        <p:nvGrpSpPr>
          <p:cNvPr name="Group 27" id="27"/>
          <p:cNvGrpSpPr/>
          <p:nvPr/>
        </p:nvGrpSpPr>
        <p:grpSpPr>
          <a:xfrm rot="0">
            <a:off x="169875" y="2922412"/>
            <a:ext cx="10323770" cy="679753"/>
            <a:chOff x="0" y="0"/>
            <a:chExt cx="13765027" cy="906337"/>
          </a:xfrm>
        </p:grpSpPr>
        <p:grpSp>
          <p:nvGrpSpPr>
            <p:cNvPr name="Group 28" id="28"/>
            <p:cNvGrpSpPr/>
            <p:nvPr/>
          </p:nvGrpSpPr>
          <p:grpSpPr>
            <a:xfrm rot="0">
              <a:off x="636872" y="0"/>
              <a:ext cx="12511204" cy="906337"/>
              <a:chOff x="0" y="0"/>
              <a:chExt cx="2140793" cy="155083"/>
            </a:xfrm>
          </p:grpSpPr>
          <p:sp>
            <p:nvSpPr>
              <p:cNvPr name="Freeform 29" id="29"/>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30" id="30"/>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31" id="31"/>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3318468" cy="788873"/>
            <a:chOff x="0" y="0"/>
            <a:chExt cx="819836" cy="194893"/>
          </a:xfrm>
        </p:grpSpPr>
        <p:sp>
          <p:nvSpPr>
            <p:cNvPr name="Freeform 9" id="9"/>
            <p:cNvSpPr/>
            <p:nvPr/>
          </p:nvSpPr>
          <p:spPr>
            <a:xfrm flipH="false" flipV="false" rot="0">
              <a:off x="0" y="0"/>
              <a:ext cx="819836" cy="194893"/>
            </a:xfrm>
            <a:custGeom>
              <a:avLst/>
              <a:gdLst/>
              <a:ahLst/>
              <a:cxnLst/>
              <a:rect r="r" b="b" t="t" l="l"/>
              <a:pathLst>
                <a:path h="194893" w="819836">
                  <a:moveTo>
                    <a:pt x="90986" y="0"/>
                  </a:moveTo>
                  <a:lnTo>
                    <a:pt x="728850" y="0"/>
                  </a:lnTo>
                  <a:cubicBezTo>
                    <a:pt x="779100" y="0"/>
                    <a:pt x="819836" y="40736"/>
                    <a:pt x="819836" y="90986"/>
                  </a:cubicBezTo>
                  <a:lnTo>
                    <a:pt x="819836" y="103907"/>
                  </a:lnTo>
                  <a:cubicBezTo>
                    <a:pt x="819836" y="128038"/>
                    <a:pt x="810250" y="151181"/>
                    <a:pt x="793187" y="168244"/>
                  </a:cubicBezTo>
                  <a:cubicBezTo>
                    <a:pt x="776124" y="185307"/>
                    <a:pt x="752981" y="194893"/>
                    <a:pt x="728850" y="194893"/>
                  </a:cubicBezTo>
                  <a:lnTo>
                    <a:pt x="90986" y="194893"/>
                  </a:lnTo>
                  <a:cubicBezTo>
                    <a:pt x="40736" y="194893"/>
                    <a:pt x="0" y="154157"/>
                    <a:pt x="0" y="103907"/>
                  </a:cubicBezTo>
                  <a:lnTo>
                    <a:pt x="0" y="90986"/>
                  </a:lnTo>
                  <a:cubicBezTo>
                    <a:pt x="0" y="66855"/>
                    <a:pt x="9586" y="43712"/>
                    <a:pt x="26649" y="26649"/>
                  </a:cubicBezTo>
                  <a:cubicBezTo>
                    <a:pt x="43712" y="9586"/>
                    <a:pt x="66855" y="0"/>
                    <a:pt x="90986" y="0"/>
                  </a:cubicBezTo>
                  <a:close/>
                </a:path>
              </a:pathLst>
            </a:custGeom>
            <a:solidFill>
              <a:srgbClr val="FBD172"/>
            </a:solidFill>
            <a:ln cap="rnd">
              <a:noFill/>
              <a:prstDash val="solid"/>
              <a:round/>
            </a:ln>
          </p:spPr>
        </p:sp>
        <p:sp>
          <p:nvSpPr>
            <p:cNvPr name="TextBox 10" id="10"/>
            <p:cNvSpPr txBox="true"/>
            <p:nvPr/>
          </p:nvSpPr>
          <p:spPr>
            <a:xfrm>
              <a:off x="0" y="19050"/>
              <a:ext cx="819836"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818948" y="3773615"/>
            <a:ext cx="17137678" cy="5138113"/>
          </a:xfrm>
          <a:custGeom>
            <a:avLst/>
            <a:gdLst/>
            <a:ahLst/>
            <a:cxnLst/>
            <a:rect r="r" b="b" t="t" l="l"/>
            <a:pathLst>
              <a:path h="5138113" w="17137678">
                <a:moveTo>
                  <a:pt x="0" y="0"/>
                </a:moveTo>
                <a:lnTo>
                  <a:pt x="17137679" y="0"/>
                </a:lnTo>
                <a:lnTo>
                  <a:pt x="17137679" y="5138114"/>
                </a:lnTo>
                <a:lnTo>
                  <a:pt x="0" y="5138114"/>
                </a:lnTo>
                <a:lnTo>
                  <a:pt x="0" y="0"/>
                </a:lnTo>
                <a:close/>
              </a:path>
            </a:pathLst>
          </a:custGeom>
          <a:blipFill>
            <a:blip r:embed="rId2">
              <a:alphaModFix amt="31000"/>
            </a:blip>
            <a:stretch>
              <a:fillRect l="-3432" t="-94908" r="-4019" b="-179"/>
            </a:stretch>
          </a:blipFill>
        </p:spPr>
      </p:sp>
      <p:grpSp>
        <p:nvGrpSpPr>
          <p:cNvPr name="Group 12" id="12"/>
          <p:cNvGrpSpPr/>
          <p:nvPr/>
        </p:nvGrpSpPr>
        <p:grpSpPr>
          <a:xfrm rot="0">
            <a:off x="4961614" y="7661721"/>
            <a:ext cx="5166462" cy="855491"/>
            <a:chOff x="0" y="0"/>
            <a:chExt cx="1178712" cy="195178"/>
          </a:xfrm>
        </p:grpSpPr>
        <p:sp>
          <p:nvSpPr>
            <p:cNvPr name="Freeform 13" id="13"/>
            <p:cNvSpPr/>
            <p:nvPr/>
          </p:nvSpPr>
          <p:spPr>
            <a:xfrm flipH="false" flipV="false" rot="0">
              <a:off x="0" y="0"/>
              <a:ext cx="1178712" cy="195178"/>
            </a:xfrm>
            <a:custGeom>
              <a:avLst/>
              <a:gdLst/>
              <a:ahLst/>
              <a:cxnLst/>
              <a:rect r="r" b="b" t="t" l="l"/>
              <a:pathLst>
                <a:path h="195178" w="1178712">
                  <a:moveTo>
                    <a:pt x="58441" y="0"/>
                  </a:moveTo>
                  <a:lnTo>
                    <a:pt x="1120270" y="0"/>
                  </a:lnTo>
                  <a:cubicBezTo>
                    <a:pt x="1152547" y="0"/>
                    <a:pt x="1178712" y="26165"/>
                    <a:pt x="1178712" y="58441"/>
                  </a:cubicBezTo>
                  <a:lnTo>
                    <a:pt x="1178712" y="136736"/>
                  </a:lnTo>
                  <a:cubicBezTo>
                    <a:pt x="1178712" y="152236"/>
                    <a:pt x="1172555" y="167101"/>
                    <a:pt x="1161595" y="178060"/>
                  </a:cubicBezTo>
                  <a:cubicBezTo>
                    <a:pt x="1150635" y="189020"/>
                    <a:pt x="1135770" y="195178"/>
                    <a:pt x="1120270" y="195178"/>
                  </a:cubicBezTo>
                  <a:lnTo>
                    <a:pt x="58441" y="195178"/>
                  </a:lnTo>
                  <a:cubicBezTo>
                    <a:pt x="42942" y="195178"/>
                    <a:pt x="28077" y="189020"/>
                    <a:pt x="17117" y="178060"/>
                  </a:cubicBezTo>
                  <a:cubicBezTo>
                    <a:pt x="6157" y="167101"/>
                    <a:pt x="0" y="152236"/>
                    <a:pt x="0" y="136736"/>
                  </a:cubicBezTo>
                  <a:lnTo>
                    <a:pt x="0" y="58441"/>
                  </a:lnTo>
                  <a:cubicBezTo>
                    <a:pt x="0" y="42942"/>
                    <a:pt x="6157" y="28077"/>
                    <a:pt x="17117" y="17117"/>
                  </a:cubicBezTo>
                  <a:cubicBezTo>
                    <a:pt x="28077" y="6157"/>
                    <a:pt x="42942" y="0"/>
                    <a:pt x="58441" y="0"/>
                  </a:cubicBezTo>
                  <a:close/>
                </a:path>
              </a:pathLst>
            </a:custGeom>
            <a:solidFill>
              <a:srgbClr val="FFFFFF"/>
            </a:solidFill>
            <a:ln w="38100" cap="rnd">
              <a:solidFill>
                <a:srgbClr val="FFFFFF"/>
              </a:solidFill>
              <a:prstDash val="dash"/>
              <a:round/>
            </a:ln>
          </p:spPr>
        </p:sp>
        <p:sp>
          <p:nvSpPr>
            <p:cNvPr name="TextBox 14" id="14"/>
            <p:cNvSpPr txBox="true"/>
            <p:nvPr/>
          </p:nvSpPr>
          <p:spPr>
            <a:xfrm>
              <a:off x="0" y="19050"/>
              <a:ext cx="1178712" cy="176128"/>
            </a:xfrm>
            <a:prstGeom prst="rect">
              <a:avLst/>
            </a:prstGeom>
          </p:spPr>
          <p:txBody>
            <a:bodyPr anchor="ctr" rtlCol="false" tIns="50800" lIns="50800" bIns="50800" rIns="50800"/>
            <a:lstStyle/>
            <a:p>
              <a:pPr algn="ctr">
                <a:lnSpc>
                  <a:spcPts val="2694"/>
                </a:lnSpc>
              </a:pPr>
            </a:p>
          </p:txBody>
        </p:sp>
      </p:grpSp>
      <p:grpSp>
        <p:nvGrpSpPr>
          <p:cNvPr name="Group 15" id="15"/>
          <p:cNvGrpSpPr/>
          <p:nvPr/>
        </p:nvGrpSpPr>
        <p:grpSpPr>
          <a:xfrm rot="0">
            <a:off x="824928" y="6342672"/>
            <a:ext cx="464718" cy="849999"/>
            <a:chOff x="0" y="0"/>
            <a:chExt cx="122395" cy="223868"/>
          </a:xfrm>
        </p:grpSpPr>
        <p:sp>
          <p:nvSpPr>
            <p:cNvPr name="Freeform 16" id="16"/>
            <p:cNvSpPr/>
            <p:nvPr/>
          </p:nvSpPr>
          <p:spPr>
            <a:xfrm flipH="false" flipV="false" rot="0">
              <a:off x="0" y="0"/>
              <a:ext cx="122395" cy="223868"/>
            </a:xfrm>
            <a:custGeom>
              <a:avLst/>
              <a:gdLst/>
              <a:ahLst/>
              <a:cxnLst/>
              <a:rect r="r" b="b" t="t" l="l"/>
              <a:pathLst>
                <a:path h="223868" w="122395">
                  <a:moveTo>
                    <a:pt x="0" y="0"/>
                  </a:moveTo>
                  <a:lnTo>
                    <a:pt x="122395" y="0"/>
                  </a:lnTo>
                  <a:lnTo>
                    <a:pt x="122395" y="223868"/>
                  </a:lnTo>
                  <a:lnTo>
                    <a:pt x="0" y="223868"/>
                  </a:lnTo>
                  <a:close/>
                </a:path>
              </a:pathLst>
            </a:custGeom>
            <a:solidFill>
              <a:srgbClr val="F6BD3B"/>
            </a:solidFill>
          </p:spPr>
        </p:sp>
        <p:sp>
          <p:nvSpPr>
            <p:cNvPr name="TextBox 17" id="17"/>
            <p:cNvSpPr txBox="true"/>
            <p:nvPr/>
          </p:nvSpPr>
          <p:spPr>
            <a:xfrm>
              <a:off x="0" y="19050"/>
              <a:ext cx="122395" cy="204818"/>
            </a:xfrm>
            <a:prstGeom prst="rect">
              <a:avLst/>
            </a:prstGeom>
          </p:spPr>
          <p:txBody>
            <a:bodyPr anchor="ctr" rtlCol="false" tIns="50800" lIns="50800" bIns="50800" rIns="50800"/>
            <a:lstStyle/>
            <a:p>
              <a:pPr algn="ctr">
                <a:lnSpc>
                  <a:spcPts val="2749"/>
                </a:lnSpc>
              </a:pPr>
            </a:p>
          </p:txBody>
        </p:sp>
      </p:grpSp>
      <p:sp>
        <p:nvSpPr>
          <p:cNvPr name="Freeform 18" id="18"/>
          <p:cNvSpPr/>
          <p:nvPr/>
        </p:nvSpPr>
        <p:spPr>
          <a:xfrm flipH="false" flipV="false" rot="0">
            <a:off x="1289646" y="6342672"/>
            <a:ext cx="16666980" cy="851828"/>
          </a:xfrm>
          <a:custGeom>
            <a:avLst/>
            <a:gdLst/>
            <a:ahLst/>
            <a:cxnLst/>
            <a:rect r="r" b="b" t="t" l="l"/>
            <a:pathLst>
              <a:path h="851828" w="16666980">
                <a:moveTo>
                  <a:pt x="0" y="0"/>
                </a:moveTo>
                <a:lnTo>
                  <a:pt x="16666981" y="0"/>
                </a:lnTo>
                <a:lnTo>
                  <a:pt x="16666981" y="851827"/>
                </a:lnTo>
                <a:lnTo>
                  <a:pt x="0" y="851827"/>
                </a:lnTo>
                <a:lnTo>
                  <a:pt x="0" y="0"/>
                </a:lnTo>
                <a:close/>
              </a:path>
            </a:pathLst>
          </a:custGeom>
          <a:blipFill>
            <a:blip r:embed="rId2"/>
            <a:stretch>
              <a:fillRect l="-6353" t="-875064" r="-4132" b="-201685"/>
            </a:stretch>
          </a:blipFill>
        </p:spPr>
      </p:sp>
      <p:sp>
        <p:nvSpPr>
          <p:cNvPr name="Freeform 19" id="19"/>
          <p:cNvSpPr/>
          <p:nvPr/>
        </p:nvSpPr>
        <p:spPr>
          <a:xfrm flipH="false" flipV="false" rot="-5400000">
            <a:off x="7194792" y="7346222"/>
            <a:ext cx="492549" cy="142839"/>
          </a:xfrm>
          <a:custGeom>
            <a:avLst/>
            <a:gdLst/>
            <a:ahLst/>
            <a:cxnLst/>
            <a:rect r="r" b="b" t="t" l="l"/>
            <a:pathLst>
              <a:path h="142839" w="492549">
                <a:moveTo>
                  <a:pt x="0" y="0"/>
                </a:moveTo>
                <a:lnTo>
                  <a:pt x="492550" y="0"/>
                </a:lnTo>
                <a:lnTo>
                  <a:pt x="492550" y="142839"/>
                </a:lnTo>
                <a:lnTo>
                  <a:pt x="0" y="1428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1" id="21"/>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2" id="22"/>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3" id="23"/>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4" id="24"/>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report()</a:t>
            </a:r>
          </a:p>
        </p:txBody>
      </p:sp>
      <p:grpSp>
        <p:nvGrpSpPr>
          <p:cNvPr name="Group 25" id="25"/>
          <p:cNvGrpSpPr/>
          <p:nvPr/>
        </p:nvGrpSpPr>
        <p:grpSpPr>
          <a:xfrm rot="0">
            <a:off x="11512361" y="2750962"/>
            <a:ext cx="6244585" cy="1750365"/>
            <a:chOff x="0" y="0"/>
            <a:chExt cx="8326114" cy="2333820"/>
          </a:xfrm>
        </p:grpSpPr>
        <p:grpSp>
          <p:nvGrpSpPr>
            <p:cNvPr name="Group 26" id="26"/>
            <p:cNvGrpSpPr/>
            <p:nvPr/>
          </p:nvGrpSpPr>
          <p:grpSpPr>
            <a:xfrm rot="0">
              <a:off x="0" y="0"/>
              <a:ext cx="8326114" cy="2333820"/>
              <a:chOff x="0" y="0"/>
              <a:chExt cx="1424682" cy="399340"/>
            </a:xfrm>
          </p:grpSpPr>
          <p:sp>
            <p:nvSpPr>
              <p:cNvPr name="Freeform 27" id="27"/>
              <p:cNvSpPr/>
              <p:nvPr/>
            </p:nvSpPr>
            <p:spPr>
              <a:xfrm flipH="false" flipV="false" rot="0">
                <a:off x="0" y="0"/>
                <a:ext cx="1424682" cy="399340"/>
              </a:xfrm>
              <a:custGeom>
                <a:avLst/>
                <a:gdLst/>
                <a:ahLst/>
                <a:cxnLst/>
                <a:rect r="r" b="b" t="t" l="l"/>
                <a:pathLst>
                  <a:path h="399340" w="1424682">
                    <a:moveTo>
                      <a:pt x="48351" y="0"/>
                    </a:moveTo>
                    <a:lnTo>
                      <a:pt x="1376331" y="0"/>
                    </a:lnTo>
                    <a:cubicBezTo>
                      <a:pt x="1403034" y="0"/>
                      <a:pt x="1424682" y="21648"/>
                      <a:pt x="1424682" y="48351"/>
                    </a:cubicBezTo>
                    <a:lnTo>
                      <a:pt x="1424682" y="350989"/>
                    </a:lnTo>
                    <a:cubicBezTo>
                      <a:pt x="1424682" y="363812"/>
                      <a:pt x="1419588" y="376111"/>
                      <a:pt x="1410520" y="385178"/>
                    </a:cubicBezTo>
                    <a:cubicBezTo>
                      <a:pt x="1401453" y="394246"/>
                      <a:pt x="1389154" y="399340"/>
                      <a:pt x="1376331" y="399340"/>
                    </a:cubicBezTo>
                    <a:lnTo>
                      <a:pt x="48351" y="399340"/>
                    </a:lnTo>
                    <a:cubicBezTo>
                      <a:pt x="21648" y="399340"/>
                      <a:pt x="0" y="377692"/>
                      <a:pt x="0" y="350989"/>
                    </a:cubicBezTo>
                    <a:lnTo>
                      <a:pt x="0" y="48351"/>
                    </a:lnTo>
                    <a:cubicBezTo>
                      <a:pt x="0" y="21648"/>
                      <a:pt x="21648" y="0"/>
                      <a:pt x="48351" y="0"/>
                    </a:cubicBezTo>
                    <a:close/>
                  </a:path>
                </a:pathLst>
              </a:custGeom>
              <a:solidFill>
                <a:srgbClr val="FFFFFF"/>
              </a:solidFill>
              <a:ln w="38100" cap="rnd">
                <a:solidFill>
                  <a:srgbClr val="FCE1B1"/>
                </a:solidFill>
                <a:prstDash val="solid"/>
                <a:round/>
              </a:ln>
            </p:spPr>
          </p:sp>
          <p:sp>
            <p:nvSpPr>
              <p:cNvPr name="TextBox 28" id="28"/>
              <p:cNvSpPr txBox="true"/>
              <p:nvPr/>
            </p:nvSpPr>
            <p:spPr>
              <a:xfrm>
                <a:off x="0" y="19050"/>
                <a:ext cx="1424682" cy="380290"/>
              </a:xfrm>
              <a:prstGeom prst="rect">
                <a:avLst/>
              </a:prstGeom>
            </p:spPr>
            <p:txBody>
              <a:bodyPr anchor="ctr" rtlCol="false" tIns="50800" lIns="50800" bIns="50800" rIns="50800"/>
              <a:lstStyle/>
              <a:p>
                <a:pPr algn="ctr">
                  <a:lnSpc>
                    <a:spcPts val="2694"/>
                  </a:lnSpc>
                </a:pPr>
              </a:p>
            </p:txBody>
          </p:sp>
        </p:grpSp>
        <p:sp>
          <p:nvSpPr>
            <p:cNvPr name="TextBox 29" id="29"/>
            <p:cNvSpPr txBox="true"/>
            <p:nvPr/>
          </p:nvSpPr>
          <p:spPr>
            <a:xfrm rot="0">
              <a:off x="103135" y="347326"/>
              <a:ext cx="8119844" cy="1309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ขั้นที่ 2 : ตัดเกรดได้ไหม?</a:t>
              </a:r>
            </a:p>
            <a:p>
              <a:pPr algn="ctr">
                <a:lnSpc>
                  <a:spcPts val="3809"/>
                </a:lnSpc>
                <a:spcBef>
                  <a:spcPct val="0"/>
                </a:spcBef>
              </a:pPr>
            </a:p>
          </p:txBody>
        </p:sp>
        <p:sp>
          <p:nvSpPr>
            <p:cNvPr name="TextBox 30" id="30"/>
            <p:cNvSpPr txBox="true"/>
            <p:nvPr/>
          </p:nvSpPr>
          <p:spPr>
            <a:xfrm rot="0">
              <a:off x="206269" y="1118886"/>
              <a:ext cx="7456315" cy="508354"/>
            </a:xfrm>
            <a:prstGeom prst="rect">
              <a:avLst/>
            </a:prstGeom>
          </p:spPr>
          <p:txBody>
            <a:bodyPr anchor="t" rtlCol="false" tIns="0" lIns="0" bIns="0" rIns="0">
              <a:spAutoFit/>
            </a:bodyPr>
            <a:lstStyle/>
            <a:p>
              <a:pPr algn="ctr">
                <a:lnSpc>
                  <a:spcPts val="2910"/>
                </a:lnSpc>
                <a:spcBef>
                  <a:spcPct val="0"/>
                </a:spcBef>
              </a:pPr>
              <a:r>
                <a:rPr lang="en-US" sz="2645">
                  <a:solidFill>
                    <a:srgbClr val="239521"/>
                  </a:solidFill>
                  <a:latin typeface="ไอติม"/>
                  <a:ea typeface="ไอติม"/>
                  <a:cs typeface="ไอติม"/>
                  <a:sym typeface="ไอติม"/>
                </a:rPr>
                <a:t>คะแนนถูก </a:t>
              </a:r>
              <a:r>
                <a:rPr lang="en-US" sz="2645">
                  <a:solidFill>
                    <a:srgbClr val="3C3C3C"/>
                  </a:solidFill>
                  <a:latin typeface="ไอติม"/>
                  <a:ea typeface="ไอติม"/>
                  <a:cs typeface="ไอติม"/>
                  <a:sym typeface="ไอติม"/>
                </a:rPr>
                <a:t>แสดงคะแนนพร้อมเกรด</a:t>
              </a:r>
            </a:p>
          </p:txBody>
        </p:sp>
        <p:sp>
          <p:nvSpPr>
            <p:cNvPr name="TextBox 31" id="31"/>
            <p:cNvSpPr txBox="true"/>
            <p:nvPr/>
          </p:nvSpPr>
          <p:spPr>
            <a:xfrm rot="0">
              <a:off x="206269" y="1675970"/>
              <a:ext cx="7456315" cy="508354"/>
            </a:xfrm>
            <a:prstGeom prst="rect">
              <a:avLst/>
            </a:prstGeom>
          </p:spPr>
          <p:txBody>
            <a:bodyPr anchor="t" rtlCol="false" tIns="0" lIns="0" bIns="0" rIns="0">
              <a:spAutoFit/>
            </a:bodyPr>
            <a:lstStyle/>
            <a:p>
              <a:pPr algn="ctr">
                <a:lnSpc>
                  <a:spcPts val="2910"/>
                </a:lnSpc>
                <a:spcBef>
                  <a:spcPct val="0"/>
                </a:spcBef>
              </a:pPr>
              <a:r>
                <a:rPr lang="en-US" sz="2645">
                  <a:solidFill>
                    <a:srgbClr val="990941"/>
                  </a:solidFill>
                  <a:latin typeface="ไอติม"/>
                  <a:ea typeface="ไอติม"/>
                  <a:cs typeface="ไอติม"/>
                  <a:sym typeface="ไอติม"/>
                </a:rPr>
                <a:t>คะแนนผิด</a:t>
              </a:r>
              <a:r>
                <a:rPr lang="en-US" sz="2645">
                  <a:solidFill>
                    <a:srgbClr val="3C3C3C"/>
                  </a:solidFill>
                  <a:latin typeface="ไอติม"/>
                  <a:ea typeface="ไอติม"/>
                  <a:cs typeface="ไอติม"/>
                  <a:sym typeface="ไอติม"/>
                </a:rPr>
                <a:t> แจ้งผลออกหน้าจอ</a:t>
              </a:r>
            </a:p>
          </p:txBody>
        </p:sp>
      </p:grpSp>
      <p:sp>
        <p:nvSpPr>
          <p:cNvPr name="TextBox 32" id="32"/>
          <p:cNvSpPr txBox="true"/>
          <p:nvPr/>
        </p:nvSpPr>
        <p:spPr>
          <a:xfrm rot="0">
            <a:off x="3430788" y="7736981"/>
            <a:ext cx="8191293" cy="636959"/>
          </a:xfrm>
          <a:prstGeom prst="rect">
            <a:avLst/>
          </a:prstGeom>
        </p:spPr>
        <p:txBody>
          <a:bodyPr anchor="t" rtlCol="false" tIns="0" lIns="0" bIns="0" rIns="0">
            <a:spAutoFit/>
          </a:bodyPr>
          <a:lstStyle/>
          <a:p>
            <a:pPr algn="ctr">
              <a:lnSpc>
                <a:spcPts val="2851"/>
              </a:lnSpc>
            </a:pPr>
            <a:r>
              <a:rPr lang="en-US" sz="2244">
                <a:solidFill>
                  <a:srgbClr val="000000"/>
                </a:solidFill>
                <a:latin typeface="ไอติม"/>
                <a:ea typeface="ไอติม"/>
                <a:cs typeface="ไอติม"/>
                <a:sym typeface="ไอติม"/>
              </a:rPr>
              <a:t> การจัดรูปแบบข้อความ </a:t>
            </a:r>
          </a:p>
          <a:p>
            <a:pPr algn="ctr">
              <a:lnSpc>
                <a:spcPts val="2035"/>
              </a:lnSpc>
              <a:spcBef>
                <a:spcPct val="0"/>
              </a:spcBef>
            </a:pPr>
            <a:r>
              <a:rPr lang="en-US" sz="1850">
                <a:solidFill>
                  <a:srgbClr val="777777"/>
                </a:solidFill>
                <a:latin typeface="ไอติม"/>
                <a:ea typeface="ไอติม"/>
                <a:cs typeface="ไอติม"/>
                <a:sym typeface="ไอติม"/>
              </a:rPr>
              <a:t>ให้แสดงผลกว้างอย่างน้อย 11 ตัวอักษร และชิดซ้าย</a:t>
            </a:r>
          </a:p>
        </p:txBody>
      </p:sp>
      <p:grpSp>
        <p:nvGrpSpPr>
          <p:cNvPr name="Group 33" id="33"/>
          <p:cNvGrpSpPr/>
          <p:nvPr/>
        </p:nvGrpSpPr>
        <p:grpSpPr>
          <a:xfrm rot="0">
            <a:off x="6576335" y="6753403"/>
            <a:ext cx="1485083" cy="441096"/>
            <a:chOff x="0" y="0"/>
            <a:chExt cx="338817" cy="100635"/>
          </a:xfrm>
        </p:grpSpPr>
        <p:sp>
          <p:nvSpPr>
            <p:cNvPr name="Freeform 34" id="34"/>
            <p:cNvSpPr/>
            <p:nvPr/>
          </p:nvSpPr>
          <p:spPr>
            <a:xfrm flipH="false" flipV="false" rot="0">
              <a:off x="0" y="0"/>
              <a:ext cx="338817" cy="100635"/>
            </a:xfrm>
            <a:custGeom>
              <a:avLst/>
              <a:gdLst/>
              <a:ahLst/>
              <a:cxnLst/>
              <a:rect r="r" b="b" t="t" l="l"/>
              <a:pathLst>
                <a:path h="100635" w="338817">
                  <a:moveTo>
                    <a:pt x="50317" y="0"/>
                  </a:moveTo>
                  <a:lnTo>
                    <a:pt x="288500" y="0"/>
                  </a:lnTo>
                  <a:cubicBezTo>
                    <a:pt x="301845" y="0"/>
                    <a:pt x="314643" y="5301"/>
                    <a:pt x="324079" y="14738"/>
                  </a:cubicBezTo>
                  <a:cubicBezTo>
                    <a:pt x="333516" y="24174"/>
                    <a:pt x="338817" y="36972"/>
                    <a:pt x="338817" y="50317"/>
                  </a:cubicBezTo>
                  <a:lnTo>
                    <a:pt x="338817" y="50317"/>
                  </a:lnTo>
                  <a:cubicBezTo>
                    <a:pt x="338817" y="63662"/>
                    <a:pt x="333516" y="76461"/>
                    <a:pt x="324079" y="85897"/>
                  </a:cubicBezTo>
                  <a:cubicBezTo>
                    <a:pt x="314643" y="95333"/>
                    <a:pt x="301845" y="100635"/>
                    <a:pt x="288500" y="100635"/>
                  </a:cubicBezTo>
                  <a:lnTo>
                    <a:pt x="50317" y="100635"/>
                  </a:lnTo>
                  <a:cubicBezTo>
                    <a:pt x="36972" y="100635"/>
                    <a:pt x="24174" y="95333"/>
                    <a:pt x="14738" y="85897"/>
                  </a:cubicBezTo>
                  <a:cubicBezTo>
                    <a:pt x="5301" y="76461"/>
                    <a:pt x="0" y="63662"/>
                    <a:pt x="0" y="50317"/>
                  </a:cubicBezTo>
                  <a:lnTo>
                    <a:pt x="0" y="50317"/>
                  </a:lnTo>
                  <a:cubicBezTo>
                    <a:pt x="0" y="36972"/>
                    <a:pt x="5301" y="24174"/>
                    <a:pt x="14738" y="14738"/>
                  </a:cubicBezTo>
                  <a:cubicBezTo>
                    <a:pt x="24174" y="5301"/>
                    <a:pt x="36972" y="0"/>
                    <a:pt x="50317" y="0"/>
                  </a:cubicBezTo>
                  <a:close/>
                </a:path>
              </a:pathLst>
            </a:custGeom>
            <a:solidFill>
              <a:srgbClr val="FFFFFF">
                <a:alpha val="25882"/>
              </a:srgbClr>
            </a:solidFill>
            <a:ln cap="rnd">
              <a:noFill/>
              <a:prstDash val="dash"/>
              <a:round/>
            </a:ln>
          </p:spPr>
        </p:sp>
        <p:sp>
          <p:nvSpPr>
            <p:cNvPr name="TextBox 35" id="35"/>
            <p:cNvSpPr txBox="true"/>
            <p:nvPr/>
          </p:nvSpPr>
          <p:spPr>
            <a:xfrm>
              <a:off x="0" y="19050"/>
              <a:ext cx="338817" cy="81585"/>
            </a:xfrm>
            <a:prstGeom prst="rect">
              <a:avLst/>
            </a:prstGeom>
          </p:spPr>
          <p:txBody>
            <a:bodyPr anchor="ctr" rtlCol="false" tIns="50800" lIns="50800" bIns="50800" rIns="50800"/>
            <a:lstStyle/>
            <a:p>
              <a:pPr algn="ctr">
                <a:lnSpc>
                  <a:spcPts val="2694"/>
                </a:lnSpc>
              </a:pPr>
            </a:p>
          </p:txBody>
        </p:sp>
      </p:grpSp>
      <p:grpSp>
        <p:nvGrpSpPr>
          <p:cNvPr name="Group 36" id="36"/>
          <p:cNvGrpSpPr/>
          <p:nvPr/>
        </p:nvGrpSpPr>
        <p:grpSpPr>
          <a:xfrm rot="0">
            <a:off x="169875" y="2922412"/>
            <a:ext cx="10323770" cy="679753"/>
            <a:chOff x="0" y="0"/>
            <a:chExt cx="13765027" cy="906337"/>
          </a:xfrm>
        </p:grpSpPr>
        <p:grpSp>
          <p:nvGrpSpPr>
            <p:cNvPr name="Group 37" id="37"/>
            <p:cNvGrpSpPr/>
            <p:nvPr/>
          </p:nvGrpSpPr>
          <p:grpSpPr>
            <a:xfrm rot="0">
              <a:off x="636872" y="0"/>
              <a:ext cx="12511204" cy="906337"/>
              <a:chOff x="0" y="0"/>
              <a:chExt cx="2140793" cy="155083"/>
            </a:xfrm>
          </p:grpSpPr>
          <p:sp>
            <p:nvSpPr>
              <p:cNvPr name="Freeform 38" id="38"/>
              <p:cNvSpPr/>
              <p:nvPr/>
            </p:nvSpPr>
            <p:spPr>
              <a:xfrm flipH="false" flipV="false" rot="0">
                <a:off x="0" y="0"/>
                <a:ext cx="2140793" cy="155083"/>
              </a:xfrm>
              <a:custGeom>
                <a:avLst/>
                <a:gdLst/>
                <a:ahLst/>
                <a:cxnLst/>
                <a:rect r="r" b="b" t="t" l="l"/>
                <a:pathLst>
                  <a:path h="155083" w="2140793">
                    <a:moveTo>
                      <a:pt x="32178" y="0"/>
                    </a:moveTo>
                    <a:lnTo>
                      <a:pt x="2108616" y="0"/>
                    </a:lnTo>
                    <a:cubicBezTo>
                      <a:pt x="2126387" y="0"/>
                      <a:pt x="2140793" y="14406"/>
                      <a:pt x="2140793" y="32178"/>
                    </a:cubicBezTo>
                    <a:lnTo>
                      <a:pt x="2140793" y="122906"/>
                    </a:lnTo>
                    <a:cubicBezTo>
                      <a:pt x="2140793" y="140677"/>
                      <a:pt x="2126387" y="155083"/>
                      <a:pt x="2108616" y="155083"/>
                    </a:cubicBezTo>
                    <a:lnTo>
                      <a:pt x="32178" y="155083"/>
                    </a:lnTo>
                    <a:cubicBezTo>
                      <a:pt x="14406" y="155083"/>
                      <a:pt x="0" y="140677"/>
                      <a:pt x="0" y="122906"/>
                    </a:cubicBezTo>
                    <a:lnTo>
                      <a:pt x="0" y="32178"/>
                    </a:lnTo>
                    <a:cubicBezTo>
                      <a:pt x="0" y="14406"/>
                      <a:pt x="14406" y="0"/>
                      <a:pt x="32178" y="0"/>
                    </a:cubicBezTo>
                    <a:close/>
                  </a:path>
                </a:pathLst>
              </a:custGeom>
              <a:solidFill>
                <a:srgbClr val="FFFFFF"/>
              </a:solidFill>
              <a:ln w="38100" cap="rnd">
                <a:solidFill>
                  <a:srgbClr val="FCE1B1"/>
                </a:solidFill>
                <a:prstDash val="solid"/>
                <a:round/>
              </a:ln>
            </p:spPr>
          </p:sp>
          <p:sp>
            <p:nvSpPr>
              <p:cNvPr name="TextBox 39" id="39"/>
              <p:cNvSpPr txBox="true"/>
              <p:nvPr/>
            </p:nvSpPr>
            <p:spPr>
              <a:xfrm>
                <a:off x="0" y="19050"/>
                <a:ext cx="2140793" cy="136033"/>
              </a:xfrm>
              <a:prstGeom prst="rect">
                <a:avLst/>
              </a:prstGeom>
            </p:spPr>
            <p:txBody>
              <a:bodyPr anchor="ctr" rtlCol="false" tIns="50800" lIns="50800" bIns="50800" rIns="50800"/>
              <a:lstStyle/>
              <a:p>
                <a:pPr algn="ctr">
                  <a:lnSpc>
                    <a:spcPts val="2694"/>
                  </a:lnSpc>
                </a:pPr>
              </a:p>
            </p:txBody>
          </p:sp>
        </p:grpSp>
        <p:sp>
          <p:nvSpPr>
            <p:cNvPr name="TextBox 40" id="40"/>
            <p:cNvSpPr txBox="true"/>
            <p:nvPr/>
          </p:nvSpPr>
          <p:spPr>
            <a:xfrm rot="0">
              <a:off x="0" y="94894"/>
              <a:ext cx="13765027"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รายงานผลคะแนนโดยตรวจสอบตามเงื่อนไข</a:t>
              </a:r>
            </a:p>
          </p:txBody>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63224"/>
            <a:ext cx="14381174" cy="6359597"/>
          </a:xfrm>
          <a:custGeom>
            <a:avLst/>
            <a:gdLst/>
            <a:ahLst/>
            <a:cxnLst/>
            <a:rect r="r" b="b" t="t" l="l"/>
            <a:pathLst>
              <a:path h="6359597" w="14381174">
                <a:moveTo>
                  <a:pt x="0" y="0"/>
                </a:moveTo>
                <a:lnTo>
                  <a:pt x="14381174" y="0"/>
                </a:lnTo>
                <a:lnTo>
                  <a:pt x="14381174" y="6359596"/>
                </a:lnTo>
                <a:lnTo>
                  <a:pt x="0" y="6359596"/>
                </a:lnTo>
                <a:lnTo>
                  <a:pt x="0" y="0"/>
                </a:lnTo>
                <a:close/>
              </a:path>
            </a:pathLst>
          </a:custGeom>
          <a:blipFill>
            <a:blip r:embed="rId2"/>
            <a:stretch>
              <a:fillRect l="-4769" t="-6565" r="-19778" b="-8330"/>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9" id="9"/>
          <p:cNvGrpSpPr/>
          <p:nvPr/>
        </p:nvGrpSpPr>
        <p:grpSpPr>
          <a:xfrm rot="0">
            <a:off x="852504" y="1962089"/>
            <a:ext cx="2947475" cy="763010"/>
            <a:chOff x="0" y="0"/>
            <a:chExt cx="728181" cy="188504"/>
          </a:xfrm>
        </p:grpSpPr>
        <p:sp>
          <p:nvSpPr>
            <p:cNvPr name="Freeform 10" id="10"/>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1" id="11"/>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2" id="12"/>
          <p:cNvSpPr/>
          <p:nvPr/>
        </p:nvSpPr>
        <p:spPr>
          <a:xfrm flipH="false" flipV="false" rot="0">
            <a:off x="1389315" y="4042673"/>
            <a:ext cx="12134676" cy="2459092"/>
          </a:xfrm>
          <a:custGeom>
            <a:avLst/>
            <a:gdLst/>
            <a:ahLst/>
            <a:cxnLst/>
            <a:rect r="r" b="b" t="t" l="l"/>
            <a:pathLst>
              <a:path h="2459092" w="12134676">
                <a:moveTo>
                  <a:pt x="0" y="0"/>
                </a:moveTo>
                <a:lnTo>
                  <a:pt x="12134677" y="0"/>
                </a:lnTo>
                <a:lnTo>
                  <a:pt x="12134677" y="2459091"/>
                </a:lnTo>
                <a:lnTo>
                  <a:pt x="0" y="2459091"/>
                </a:lnTo>
                <a:lnTo>
                  <a:pt x="0" y="0"/>
                </a:lnTo>
                <a:close/>
              </a:path>
            </a:pathLst>
          </a:custGeom>
          <a:blipFill>
            <a:blip r:embed="rId2">
              <a:alphaModFix amt="0"/>
            </a:blip>
            <a:stretch>
              <a:fillRect l="-8226" t="-58870" r="-28686" b="-116743"/>
            </a:stretch>
          </a:blipFill>
        </p:spPr>
      </p:sp>
      <p:sp>
        <p:nvSpPr>
          <p:cNvPr name="TextBox 13" id="13"/>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4" id="14"/>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5" id="15"/>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6" id="16"/>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7" id="17"/>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grpSp>
        <p:nvGrpSpPr>
          <p:cNvPr name="Group 18" id="18"/>
          <p:cNvGrpSpPr/>
          <p:nvPr/>
        </p:nvGrpSpPr>
        <p:grpSpPr>
          <a:xfrm rot="0">
            <a:off x="1028700" y="4042673"/>
            <a:ext cx="371942" cy="2459092"/>
            <a:chOff x="0" y="0"/>
            <a:chExt cx="97960" cy="647662"/>
          </a:xfrm>
        </p:grpSpPr>
        <p:sp>
          <p:nvSpPr>
            <p:cNvPr name="Freeform 19" id="19"/>
            <p:cNvSpPr/>
            <p:nvPr/>
          </p:nvSpPr>
          <p:spPr>
            <a:xfrm flipH="false" flipV="false" rot="0">
              <a:off x="0" y="0"/>
              <a:ext cx="97960" cy="647662"/>
            </a:xfrm>
            <a:custGeom>
              <a:avLst/>
              <a:gdLst/>
              <a:ahLst/>
              <a:cxnLst/>
              <a:rect r="r" b="b" t="t" l="l"/>
              <a:pathLst>
                <a:path h="647662" w="97960">
                  <a:moveTo>
                    <a:pt x="0" y="0"/>
                  </a:moveTo>
                  <a:lnTo>
                    <a:pt x="97960" y="0"/>
                  </a:lnTo>
                  <a:lnTo>
                    <a:pt x="97960" y="647662"/>
                  </a:lnTo>
                  <a:lnTo>
                    <a:pt x="0" y="647662"/>
                  </a:lnTo>
                  <a:close/>
                </a:path>
              </a:pathLst>
            </a:custGeom>
            <a:solidFill>
              <a:srgbClr val="FFD167">
                <a:alpha val="0"/>
              </a:srgbClr>
            </a:solidFill>
          </p:spPr>
        </p:sp>
        <p:sp>
          <p:nvSpPr>
            <p:cNvPr name="TextBox 20" id="20"/>
            <p:cNvSpPr txBox="true"/>
            <p:nvPr/>
          </p:nvSpPr>
          <p:spPr>
            <a:xfrm>
              <a:off x="0" y="19050"/>
              <a:ext cx="97960" cy="628612"/>
            </a:xfrm>
            <a:prstGeom prst="rect">
              <a:avLst/>
            </a:prstGeom>
          </p:spPr>
          <p:txBody>
            <a:bodyPr anchor="ctr" rtlCol="false" tIns="50800" lIns="50800" bIns="50800" rIns="50800"/>
            <a:lstStyle/>
            <a:p>
              <a:pPr algn="ctr">
                <a:lnSpc>
                  <a:spcPts val="2749"/>
                </a:lnSpc>
              </a:pPr>
            </a:p>
          </p:txBody>
        </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63224"/>
            <a:ext cx="14381174" cy="6359597"/>
          </a:xfrm>
          <a:custGeom>
            <a:avLst/>
            <a:gdLst/>
            <a:ahLst/>
            <a:cxnLst/>
            <a:rect r="r" b="b" t="t" l="l"/>
            <a:pathLst>
              <a:path h="6359597" w="14381174">
                <a:moveTo>
                  <a:pt x="0" y="0"/>
                </a:moveTo>
                <a:lnTo>
                  <a:pt x="14381174" y="0"/>
                </a:lnTo>
                <a:lnTo>
                  <a:pt x="14381174" y="6359596"/>
                </a:lnTo>
                <a:lnTo>
                  <a:pt x="0" y="6359596"/>
                </a:lnTo>
                <a:lnTo>
                  <a:pt x="0" y="0"/>
                </a:lnTo>
                <a:close/>
              </a:path>
            </a:pathLst>
          </a:custGeom>
          <a:blipFill>
            <a:blip r:embed="rId2">
              <a:alphaModFix amt="44999"/>
            </a:blip>
            <a:stretch>
              <a:fillRect l="-4769" t="-6565" r="-19778" b="-8330"/>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9" id="9"/>
          <p:cNvGrpSpPr/>
          <p:nvPr/>
        </p:nvGrpSpPr>
        <p:grpSpPr>
          <a:xfrm rot="0">
            <a:off x="852504" y="1962089"/>
            <a:ext cx="2947475" cy="763010"/>
            <a:chOff x="0" y="0"/>
            <a:chExt cx="728181" cy="188504"/>
          </a:xfrm>
        </p:grpSpPr>
        <p:sp>
          <p:nvSpPr>
            <p:cNvPr name="Freeform 10" id="10"/>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1" id="11"/>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2" id="12"/>
          <p:cNvSpPr/>
          <p:nvPr/>
        </p:nvSpPr>
        <p:spPr>
          <a:xfrm flipH="false" flipV="false" rot="0">
            <a:off x="1389315" y="4042673"/>
            <a:ext cx="12134676" cy="2459092"/>
          </a:xfrm>
          <a:custGeom>
            <a:avLst/>
            <a:gdLst/>
            <a:ahLst/>
            <a:cxnLst/>
            <a:rect r="r" b="b" t="t" l="l"/>
            <a:pathLst>
              <a:path h="2459092" w="12134676">
                <a:moveTo>
                  <a:pt x="0" y="0"/>
                </a:moveTo>
                <a:lnTo>
                  <a:pt x="12134677" y="0"/>
                </a:lnTo>
                <a:lnTo>
                  <a:pt x="12134677" y="2459091"/>
                </a:lnTo>
                <a:lnTo>
                  <a:pt x="0" y="2459091"/>
                </a:lnTo>
                <a:lnTo>
                  <a:pt x="0" y="0"/>
                </a:lnTo>
                <a:close/>
              </a:path>
            </a:pathLst>
          </a:custGeom>
          <a:blipFill>
            <a:blip r:embed="rId2"/>
            <a:stretch>
              <a:fillRect l="-8226" t="-58870" r="-28686" b="-116743"/>
            </a:stretch>
          </a:blipFill>
        </p:spPr>
      </p:sp>
      <p:sp>
        <p:nvSpPr>
          <p:cNvPr name="TextBox 13" id="13"/>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4" id="14"/>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5" id="15"/>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6" id="16"/>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7" id="17"/>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grpSp>
        <p:nvGrpSpPr>
          <p:cNvPr name="Group 18" id="18"/>
          <p:cNvGrpSpPr/>
          <p:nvPr/>
        </p:nvGrpSpPr>
        <p:grpSpPr>
          <a:xfrm rot="0">
            <a:off x="1028700" y="4042673"/>
            <a:ext cx="371942" cy="2459092"/>
            <a:chOff x="0" y="0"/>
            <a:chExt cx="97960" cy="647662"/>
          </a:xfrm>
        </p:grpSpPr>
        <p:sp>
          <p:nvSpPr>
            <p:cNvPr name="Freeform 19" id="19"/>
            <p:cNvSpPr/>
            <p:nvPr/>
          </p:nvSpPr>
          <p:spPr>
            <a:xfrm flipH="false" flipV="false" rot="0">
              <a:off x="0" y="0"/>
              <a:ext cx="97960" cy="647662"/>
            </a:xfrm>
            <a:custGeom>
              <a:avLst/>
              <a:gdLst/>
              <a:ahLst/>
              <a:cxnLst/>
              <a:rect r="r" b="b" t="t" l="l"/>
              <a:pathLst>
                <a:path h="647662" w="97960">
                  <a:moveTo>
                    <a:pt x="0" y="0"/>
                  </a:moveTo>
                  <a:lnTo>
                    <a:pt x="97960" y="0"/>
                  </a:lnTo>
                  <a:lnTo>
                    <a:pt x="97960" y="647662"/>
                  </a:lnTo>
                  <a:lnTo>
                    <a:pt x="0" y="647662"/>
                  </a:lnTo>
                  <a:close/>
                </a:path>
              </a:pathLst>
            </a:custGeom>
            <a:solidFill>
              <a:srgbClr val="F6BD3B"/>
            </a:solidFill>
          </p:spPr>
        </p:sp>
        <p:sp>
          <p:nvSpPr>
            <p:cNvPr name="TextBox 20" id="20"/>
            <p:cNvSpPr txBox="true"/>
            <p:nvPr/>
          </p:nvSpPr>
          <p:spPr>
            <a:xfrm>
              <a:off x="0" y="19050"/>
              <a:ext cx="97960" cy="628612"/>
            </a:xfrm>
            <a:prstGeom prst="rect">
              <a:avLst/>
            </a:prstGeom>
          </p:spPr>
          <p:txBody>
            <a:bodyPr anchor="ctr" rtlCol="false" tIns="50800" lIns="50800" bIns="50800" rIns="50800"/>
            <a:lstStyle/>
            <a:p>
              <a:pPr algn="ctr">
                <a:lnSpc>
                  <a:spcPts val="2749"/>
                </a:lnSpc>
              </a:pPr>
            </a:p>
          </p:txBody>
        </p:sp>
      </p:grpSp>
      <p:grpSp>
        <p:nvGrpSpPr>
          <p:cNvPr name="Group 21" id="21"/>
          <p:cNvGrpSpPr/>
          <p:nvPr/>
        </p:nvGrpSpPr>
        <p:grpSpPr>
          <a:xfrm rot="0">
            <a:off x="8351407" y="4703865"/>
            <a:ext cx="6566431" cy="1439622"/>
            <a:chOff x="0" y="0"/>
            <a:chExt cx="8755241" cy="1919496"/>
          </a:xfrm>
        </p:grpSpPr>
        <p:grpSp>
          <p:nvGrpSpPr>
            <p:cNvPr name="Group 22" id="22"/>
            <p:cNvGrpSpPr/>
            <p:nvPr/>
          </p:nvGrpSpPr>
          <p:grpSpPr>
            <a:xfrm rot="0">
              <a:off x="1569102" y="0"/>
              <a:ext cx="5373835" cy="1919496"/>
              <a:chOff x="0" y="0"/>
              <a:chExt cx="852785" cy="304609"/>
            </a:xfrm>
          </p:grpSpPr>
          <p:sp>
            <p:nvSpPr>
              <p:cNvPr name="Freeform 23" id="23"/>
              <p:cNvSpPr/>
              <p:nvPr/>
            </p:nvSpPr>
            <p:spPr>
              <a:xfrm flipH="false" flipV="false" rot="0">
                <a:off x="0" y="0"/>
                <a:ext cx="852785" cy="304609"/>
              </a:xfrm>
              <a:custGeom>
                <a:avLst/>
                <a:gdLst/>
                <a:ahLst/>
                <a:cxnLst/>
                <a:rect r="r" b="b" t="t" l="l"/>
                <a:pathLst>
                  <a:path h="304609" w="852785">
                    <a:moveTo>
                      <a:pt x="80777" y="0"/>
                    </a:moveTo>
                    <a:lnTo>
                      <a:pt x="772008" y="0"/>
                    </a:lnTo>
                    <a:cubicBezTo>
                      <a:pt x="793431" y="0"/>
                      <a:pt x="813977" y="8510"/>
                      <a:pt x="829126" y="23659"/>
                    </a:cubicBezTo>
                    <a:cubicBezTo>
                      <a:pt x="844275" y="38808"/>
                      <a:pt x="852785" y="59354"/>
                      <a:pt x="852785" y="80777"/>
                    </a:cubicBezTo>
                    <a:lnTo>
                      <a:pt x="852785" y="223832"/>
                    </a:lnTo>
                    <a:cubicBezTo>
                      <a:pt x="852785" y="245255"/>
                      <a:pt x="844275" y="265801"/>
                      <a:pt x="829126" y="280950"/>
                    </a:cubicBezTo>
                    <a:cubicBezTo>
                      <a:pt x="813977" y="296098"/>
                      <a:pt x="793431" y="304609"/>
                      <a:pt x="772008" y="304609"/>
                    </a:cubicBezTo>
                    <a:lnTo>
                      <a:pt x="80777" y="304609"/>
                    </a:lnTo>
                    <a:cubicBezTo>
                      <a:pt x="59354" y="304609"/>
                      <a:pt x="38808" y="296098"/>
                      <a:pt x="23659" y="280950"/>
                    </a:cubicBezTo>
                    <a:cubicBezTo>
                      <a:pt x="8510" y="265801"/>
                      <a:pt x="0" y="245255"/>
                      <a:pt x="0" y="223832"/>
                    </a:cubicBezTo>
                    <a:lnTo>
                      <a:pt x="0" y="80777"/>
                    </a:lnTo>
                    <a:cubicBezTo>
                      <a:pt x="0" y="59354"/>
                      <a:pt x="8510" y="38808"/>
                      <a:pt x="23659" y="23659"/>
                    </a:cubicBezTo>
                    <a:cubicBezTo>
                      <a:pt x="38808" y="8510"/>
                      <a:pt x="59354" y="0"/>
                      <a:pt x="80777"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852785" cy="285559"/>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0" y="283071"/>
              <a:ext cx="8755241" cy="1404038"/>
            </a:xfrm>
            <a:prstGeom prst="rect">
              <a:avLst/>
            </a:prstGeom>
          </p:spPr>
          <p:txBody>
            <a:bodyPr anchor="t" rtlCol="false" tIns="0" lIns="0" bIns="0" rIns="0">
              <a:spAutoFit/>
            </a:bodyPr>
            <a:lstStyle/>
            <a:p>
              <a:pPr algn="ctr">
                <a:lnSpc>
                  <a:spcPts val="4107"/>
                </a:lnSpc>
              </a:pPr>
              <a:r>
                <a:rPr lang="en-US" sz="3734">
                  <a:solidFill>
                    <a:srgbClr val="000000"/>
                  </a:solidFill>
                  <a:latin typeface="ไอติม"/>
                  <a:ea typeface="ไอติม"/>
                  <a:cs typeface="ไอติม"/>
                  <a:sym typeface="ไอติม"/>
                </a:rPr>
                <a:t>ข้อมูลนักศึกษา</a:t>
              </a:r>
            </a:p>
            <a:p>
              <a:pPr algn="ctr">
                <a:lnSpc>
                  <a:spcPts val="4107"/>
                </a:lnSpc>
                <a:spcBef>
                  <a:spcPct val="0"/>
                </a:spcBef>
              </a:pPr>
            </a:p>
          </p:txBody>
        </p:sp>
        <p:sp>
          <p:nvSpPr>
            <p:cNvPr name="TextBox 26" id="26"/>
            <p:cNvSpPr txBox="true"/>
            <p:nvPr/>
          </p:nvSpPr>
          <p:spPr>
            <a:xfrm rot="0">
              <a:off x="357726" y="1123972"/>
              <a:ext cx="8039790" cy="540099"/>
            </a:xfrm>
            <a:prstGeom prst="rect">
              <a:avLst/>
            </a:prstGeom>
          </p:spPr>
          <p:txBody>
            <a:bodyPr anchor="t" rtlCol="false" tIns="0" lIns="0" bIns="0" rIns="0">
              <a:spAutoFit/>
            </a:bodyPr>
            <a:lstStyle/>
            <a:p>
              <a:pPr algn="ctr">
                <a:lnSpc>
                  <a:spcPts val="3138"/>
                </a:lnSpc>
                <a:spcBef>
                  <a:spcPct val="0"/>
                </a:spcBef>
              </a:pPr>
              <a:r>
                <a:rPr lang="en-US" sz="2852">
                  <a:solidFill>
                    <a:srgbClr val="777777"/>
                  </a:solidFill>
                  <a:latin typeface="ไอติม"/>
                  <a:ea typeface="ไอติม"/>
                  <a:cs typeface="ไอติม"/>
                  <a:sym typeface="ไอติม"/>
                </a:rPr>
                <a:t>เก็บรายชื่อและคะแนน</a:t>
              </a:r>
            </a:p>
          </p:txBody>
        </p:sp>
      </p:grpSp>
      <p:sp>
        <p:nvSpPr>
          <p:cNvPr name="Freeform 27" id="27"/>
          <p:cNvSpPr/>
          <p:nvPr/>
        </p:nvSpPr>
        <p:spPr>
          <a:xfrm flipH="false" flipV="false" rot="-10800000">
            <a:off x="7443645" y="5227662"/>
            <a:ext cx="1553387" cy="450482"/>
          </a:xfrm>
          <a:custGeom>
            <a:avLst/>
            <a:gdLst/>
            <a:ahLst/>
            <a:cxnLst/>
            <a:rect r="r" b="b" t="t" l="l"/>
            <a:pathLst>
              <a:path h="450482" w="1553387">
                <a:moveTo>
                  <a:pt x="0" y="0"/>
                </a:moveTo>
                <a:lnTo>
                  <a:pt x="1553387" y="0"/>
                </a:lnTo>
                <a:lnTo>
                  <a:pt x="1553387" y="450482"/>
                </a:lnTo>
                <a:lnTo>
                  <a:pt x="0" y="450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963224"/>
            <a:ext cx="14383277" cy="6360526"/>
          </a:xfrm>
          <a:custGeom>
            <a:avLst/>
            <a:gdLst/>
            <a:ahLst/>
            <a:cxnLst/>
            <a:rect r="r" b="b" t="t" l="l"/>
            <a:pathLst>
              <a:path h="6360526" w="14383277">
                <a:moveTo>
                  <a:pt x="0" y="0"/>
                </a:moveTo>
                <a:lnTo>
                  <a:pt x="14383277" y="0"/>
                </a:lnTo>
                <a:lnTo>
                  <a:pt x="14383277" y="6360526"/>
                </a:lnTo>
                <a:lnTo>
                  <a:pt x="0" y="6360526"/>
                </a:lnTo>
                <a:lnTo>
                  <a:pt x="0" y="0"/>
                </a:lnTo>
                <a:close/>
              </a:path>
            </a:pathLst>
          </a:custGeom>
          <a:blipFill>
            <a:blip r:embed="rId2">
              <a:alphaModFix amt="50000"/>
            </a:blip>
            <a:stretch>
              <a:fillRect l="-4769" t="-6565" r="-19778" b="-8330"/>
            </a:stretch>
          </a:blipFill>
        </p:spPr>
      </p:sp>
      <p:grpSp>
        <p:nvGrpSpPr>
          <p:cNvPr name="Group 3" id="3"/>
          <p:cNvGrpSpPr/>
          <p:nvPr/>
        </p:nvGrpSpPr>
        <p:grpSpPr>
          <a:xfrm rot="0">
            <a:off x="818948" y="469668"/>
            <a:ext cx="2790681" cy="329552"/>
            <a:chOff x="0" y="0"/>
            <a:chExt cx="734994" cy="86796"/>
          </a:xfrm>
        </p:grpSpPr>
        <p:sp>
          <p:nvSpPr>
            <p:cNvPr name="Freeform 4" id="4"/>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5" id="5"/>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6" id="6"/>
          <p:cNvGrpSpPr/>
          <p:nvPr/>
        </p:nvGrpSpPr>
        <p:grpSpPr>
          <a:xfrm rot="0">
            <a:off x="644999" y="942095"/>
            <a:ext cx="7051947" cy="714748"/>
            <a:chOff x="0" y="0"/>
            <a:chExt cx="2645406" cy="268124"/>
          </a:xfrm>
        </p:grpSpPr>
        <p:sp>
          <p:nvSpPr>
            <p:cNvPr name="Freeform 7" id="7"/>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8" id="8"/>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9" id="9"/>
          <p:cNvGrpSpPr/>
          <p:nvPr/>
        </p:nvGrpSpPr>
        <p:grpSpPr>
          <a:xfrm rot="0">
            <a:off x="852504" y="1962089"/>
            <a:ext cx="2947475" cy="763010"/>
            <a:chOff x="0" y="0"/>
            <a:chExt cx="728181" cy="188504"/>
          </a:xfrm>
        </p:grpSpPr>
        <p:sp>
          <p:nvSpPr>
            <p:cNvPr name="Freeform 10" id="10"/>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1" id="11"/>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2" id="12"/>
          <p:cNvSpPr/>
          <p:nvPr/>
        </p:nvSpPr>
        <p:spPr>
          <a:xfrm flipH="false" flipV="false" rot="0">
            <a:off x="1417534" y="6681296"/>
            <a:ext cx="13994442" cy="2113713"/>
          </a:xfrm>
          <a:custGeom>
            <a:avLst/>
            <a:gdLst/>
            <a:ahLst/>
            <a:cxnLst/>
            <a:rect r="r" b="b" t="t" l="l"/>
            <a:pathLst>
              <a:path h="2113713" w="13994442">
                <a:moveTo>
                  <a:pt x="0" y="0"/>
                </a:moveTo>
                <a:lnTo>
                  <a:pt x="13994443" y="0"/>
                </a:lnTo>
                <a:lnTo>
                  <a:pt x="13994443" y="2113712"/>
                </a:lnTo>
                <a:lnTo>
                  <a:pt x="0" y="2113712"/>
                </a:lnTo>
                <a:lnTo>
                  <a:pt x="0" y="0"/>
                </a:lnTo>
                <a:close/>
              </a:path>
            </a:pathLst>
          </a:custGeom>
          <a:blipFill>
            <a:blip r:embed="rId2"/>
            <a:stretch>
              <a:fillRect l="-7691" t="-194686" r="-20316" b="-51054"/>
            </a:stretch>
          </a:blipFill>
        </p:spPr>
      </p:sp>
      <p:grpSp>
        <p:nvGrpSpPr>
          <p:cNvPr name="Group 13" id="13"/>
          <p:cNvGrpSpPr/>
          <p:nvPr/>
        </p:nvGrpSpPr>
        <p:grpSpPr>
          <a:xfrm rot="0">
            <a:off x="13182311" y="5345647"/>
            <a:ext cx="3072325" cy="749920"/>
            <a:chOff x="0" y="0"/>
            <a:chExt cx="4096434" cy="999894"/>
          </a:xfrm>
        </p:grpSpPr>
        <p:grpSp>
          <p:nvGrpSpPr>
            <p:cNvPr name="Group 14" id="14"/>
            <p:cNvGrpSpPr/>
            <p:nvPr/>
          </p:nvGrpSpPr>
          <p:grpSpPr>
            <a:xfrm rot="0">
              <a:off x="11371" y="0"/>
              <a:ext cx="4057235" cy="999894"/>
              <a:chOff x="0" y="0"/>
              <a:chExt cx="694234" cy="171092"/>
            </a:xfrm>
          </p:grpSpPr>
          <p:sp>
            <p:nvSpPr>
              <p:cNvPr name="Freeform 15" id="15"/>
              <p:cNvSpPr/>
              <p:nvPr/>
            </p:nvSpPr>
            <p:spPr>
              <a:xfrm flipH="false" flipV="false" rot="0">
                <a:off x="0" y="0"/>
                <a:ext cx="694234" cy="171092"/>
              </a:xfrm>
              <a:custGeom>
                <a:avLst/>
                <a:gdLst/>
                <a:ahLst/>
                <a:cxnLst/>
                <a:rect r="r" b="b" t="t" l="l"/>
                <a:pathLst>
                  <a:path h="171092" w="694234">
                    <a:moveTo>
                      <a:pt x="85546" y="0"/>
                    </a:moveTo>
                    <a:lnTo>
                      <a:pt x="608688" y="0"/>
                    </a:lnTo>
                    <a:cubicBezTo>
                      <a:pt x="655934" y="0"/>
                      <a:pt x="694234" y="38300"/>
                      <a:pt x="694234" y="85546"/>
                    </a:cubicBezTo>
                    <a:lnTo>
                      <a:pt x="694234" y="85546"/>
                    </a:lnTo>
                    <a:cubicBezTo>
                      <a:pt x="694234" y="108234"/>
                      <a:pt x="685221" y="129993"/>
                      <a:pt x="669178" y="146036"/>
                    </a:cubicBezTo>
                    <a:cubicBezTo>
                      <a:pt x="653135" y="162079"/>
                      <a:pt x="631376" y="171092"/>
                      <a:pt x="608688" y="171092"/>
                    </a:cubicBezTo>
                    <a:lnTo>
                      <a:pt x="85546" y="171092"/>
                    </a:lnTo>
                    <a:cubicBezTo>
                      <a:pt x="38300" y="171092"/>
                      <a:pt x="0" y="132792"/>
                      <a:pt x="0" y="85546"/>
                    </a:cubicBezTo>
                    <a:lnTo>
                      <a:pt x="0" y="85546"/>
                    </a:lnTo>
                    <a:cubicBezTo>
                      <a:pt x="0" y="38300"/>
                      <a:pt x="38300" y="0"/>
                      <a:pt x="85546" y="0"/>
                    </a:cubicBezTo>
                    <a:close/>
                  </a:path>
                </a:pathLst>
              </a:custGeom>
              <a:solidFill>
                <a:srgbClr val="FFFFFF"/>
              </a:solidFill>
              <a:ln w="38100" cap="rnd">
                <a:solidFill>
                  <a:srgbClr val="FCE1B1"/>
                </a:solidFill>
                <a:prstDash val="solid"/>
                <a:round/>
              </a:ln>
            </p:spPr>
          </p:sp>
          <p:sp>
            <p:nvSpPr>
              <p:cNvPr name="TextBox 16" id="16"/>
              <p:cNvSpPr txBox="true"/>
              <p:nvPr/>
            </p:nvSpPr>
            <p:spPr>
              <a:xfrm>
                <a:off x="0" y="19050"/>
                <a:ext cx="694234" cy="152042"/>
              </a:xfrm>
              <a:prstGeom prst="rect">
                <a:avLst/>
              </a:prstGeom>
            </p:spPr>
            <p:txBody>
              <a:bodyPr anchor="ctr" rtlCol="false" tIns="50800" lIns="50800" bIns="50800" rIns="50800"/>
              <a:lstStyle/>
              <a:p>
                <a:pPr algn="ctr">
                  <a:lnSpc>
                    <a:spcPts val="2694"/>
                  </a:lnSpc>
                </a:pPr>
              </a:p>
            </p:txBody>
          </p:sp>
        </p:grpSp>
        <p:sp>
          <p:nvSpPr>
            <p:cNvPr name="TextBox 17" id="17"/>
            <p:cNvSpPr txBox="true"/>
            <p:nvPr/>
          </p:nvSpPr>
          <p:spPr>
            <a:xfrm rot="0">
              <a:off x="0" y="196559"/>
              <a:ext cx="4096434"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ค้นหารายชื่อ</a:t>
              </a:r>
            </a:p>
          </p:txBody>
        </p:sp>
      </p:grpSp>
      <p:sp>
        <p:nvSpPr>
          <p:cNvPr name="Freeform 18" id="18"/>
          <p:cNvSpPr/>
          <p:nvPr/>
        </p:nvSpPr>
        <p:spPr>
          <a:xfrm flipH="false" flipV="false" rot="7509319">
            <a:off x="13748820" y="6348306"/>
            <a:ext cx="1045868" cy="303302"/>
          </a:xfrm>
          <a:custGeom>
            <a:avLst/>
            <a:gdLst/>
            <a:ahLst/>
            <a:cxnLst/>
            <a:rect r="r" b="b" t="t" l="l"/>
            <a:pathLst>
              <a:path h="303302" w="1045868">
                <a:moveTo>
                  <a:pt x="0" y="0"/>
                </a:moveTo>
                <a:lnTo>
                  <a:pt x="1045869" y="0"/>
                </a:lnTo>
                <a:lnTo>
                  <a:pt x="1045869" y="303302"/>
                </a:lnTo>
                <a:lnTo>
                  <a:pt x="0" y="303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6681296"/>
            <a:ext cx="371942" cy="2116047"/>
            <a:chOff x="0" y="0"/>
            <a:chExt cx="97960" cy="557313"/>
          </a:xfrm>
        </p:grpSpPr>
        <p:sp>
          <p:nvSpPr>
            <p:cNvPr name="Freeform 20" id="20"/>
            <p:cNvSpPr/>
            <p:nvPr/>
          </p:nvSpPr>
          <p:spPr>
            <a:xfrm flipH="false" flipV="false" rot="0">
              <a:off x="0" y="0"/>
              <a:ext cx="97960" cy="557313"/>
            </a:xfrm>
            <a:custGeom>
              <a:avLst/>
              <a:gdLst/>
              <a:ahLst/>
              <a:cxnLst/>
              <a:rect r="r" b="b" t="t" l="l"/>
              <a:pathLst>
                <a:path h="557313" w="97960">
                  <a:moveTo>
                    <a:pt x="0" y="0"/>
                  </a:moveTo>
                  <a:lnTo>
                    <a:pt x="97960" y="0"/>
                  </a:lnTo>
                  <a:lnTo>
                    <a:pt x="97960" y="557313"/>
                  </a:lnTo>
                  <a:lnTo>
                    <a:pt x="0" y="557313"/>
                  </a:lnTo>
                  <a:close/>
                </a:path>
              </a:pathLst>
            </a:custGeom>
            <a:solidFill>
              <a:srgbClr val="FFD167"/>
            </a:solidFill>
          </p:spPr>
        </p:sp>
        <p:sp>
          <p:nvSpPr>
            <p:cNvPr name="TextBox 21" id="21"/>
            <p:cNvSpPr txBox="true"/>
            <p:nvPr/>
          </p:nvSpPr>
          <p:spPr>
            <a:xfrm>
              <a:off x="0" y="19050"/>
              <a:ext cx="97960" cy="538263"/>
            </a:xfrm>
            <a:prstGeom prst="rect">
              <a:avLst/>
            </a:prstGeom>
          </p:spPr>
          <p:txBody>
            <a:bodyPr anchor="ctr" rtlCol="false" tIns="50800" lIns="50800" bIns="50800" rIns="50800"/>
            <a:lstStyle/>
            <a:p>
              <a:pPr algn="ctr">
                <a:lnSpc>
                  <a:spcPts val="2749"/>
                </a:lnSpc>
              </a:pPr>
            </a:p>
          </p:txBody>
        </p:sp>
      </p:grpSp>
      <p:sp>
        <p:nvSpPr>
          <p:cNvPr name="TextBox 22" id="2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3" id="2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4" id="2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5" id="25"/>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26" id="26"/>
          <p:cNvSpPr txBox="true"/>
          <p:nvPr/>
        </p:nvSpPr>
        <p:spPr>
          <a:xfrm rot="0">
            <a:off x="1221647" y="2115257"/>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grpSp>
        <p:nvGrpSpPr>
          <p:cNvPr name="Group 27" id="27"/>
          <p:cNvGrpSpPr/>
          <p:nvPr/>
        </p:nvGrpSpPr>
        <p:grpSpPr>
          <a:xfrm rot="0">
            <a:off x="6543313" y="7738152"/>
            <a:ext cx="3072325" cy="749920"/>
            <a:chOff x="0" y="0"/>
            <a:chExt cx="4096434" cy="999894"/>
          </a:xfrm>
        </p:grpSpPr>
        <p:grpSp>
          <p:nvGrpSpPr>
            <p:cNvPr name="Group 28" id="28"/>
            <p:cNvGrpSpPr/>
            <p:nvPr/>
          </p:nvGrpSpPr>
          <p:grpSpPr>
            <a:xfrm rot="0">
              <a:off x="374410" y="0"/>
              <a:ext cx="3308843" cy="999894"/>
              <a:chOff x="0" y="0"/>
              <a:chExt cx="566176" cy="171092"/>
            </a:xfrm>
          </p:grpSpPr>
          <p:sp>
            <p:nvSpPr>
              <p:cNvPr name="Freeform 29" id="29"/>
              <p:cNvSpPr/>
              <p:nvPr/>
            </p:nvSpPr>
            <p:spPr>
              <a:xfrm flipH="false" flipV="false" rot="0">
                <a:off x="0" y="0"/>
                <a:ext cx="566176" cy="171092"/>
              </a:xfrm>
              <a:custGeom>
                <a:avLst/>
                <a:gdLst/>
                <a:ahLst/>
                <a:cxnLst/>
                <a:rect r="r" b="b" t="t" l="l"/>
                <a:pathLst>
                  <a:path h="171092" w="566176">
                    <a:moveTo>
                      <a:pt x="85546" y="0"/>
                    </a:moveTo>
                    <a:lnTo>
                      <a:pt x="480630" y="0"/>
                    </a:lnTo>
                    <a:cubicBezTo>
                      <a:pt x="527876" y="0"/>
                      <a:pt x="566176" y="38300"/>
                      <a:pt x="566176" y="85546"/>
                    </a:cubicBezTo>
                    <a:lnTo>
                      <a:pt x="566176" y="85546"/>
                    </a:lnTo>
                    <a:cubicBezTo>
                      <a:pt x="566176" y="108234"/>
                      <a:pt x="557163" y="129993"/>
                      <a:pt x="541121" y="146036"/>
                    </a:cubicBezTo>
                    <a:cubicBezTo>
                      <a:pt x="525078" y="162079"/>
                      <a:pt x="503319" y="171092"/>
                      <a:pt x="480630" y="171092"/>
                    </a:cubicBezTo>
                    <a:lnTo>
                      <a:pt x="85546" y="171092"/>
                    </a:lnTo>
                    <a:cubicBezTo>
                      <a:pt x="38300" y="171092"/>
                      <a:pt x="0" y="132792"/>
                      <a:pt x="0" y="85546"/>
                    </a:cubicBezTo>
                    <a:lnTo>
                      <a:pt x="0" y="85546"/>
                    </a:lnTo>
                    <a:cubicBezTo>
                      <a:pt x="0" y="38300"/>
                      <a:pt x="38300" y="0"/>
                      <a:pt x="85546" y="0"/>
                    </a:cubicBezTo>
                    <a:close/>
                  </a:path>
                </a:pathLst>
              </a:custGeom>
              <a:solidFill>
                <a:srgbClr val="FFFFFF"/>
              </a:solidFill>
              <a:ln w="38100" cap="rnd">
                <a:solidFill>
                  <a:srgbClr val="FCE1B1"/>
                </a:solidFill>
                <a:prstDash val="solid"/>
                <a:round/>
              </a:ln>
            </p:spPr>
          </p:sp>
          <p:sp>
            <p:nvSpPr>
              <p:cNvPr name="TextBox 30" id="30"/>
              <p:cNvSpPr txBox="true"/>
              <p:nvPr/>
            </p:nvSpPr>
            <p:spPr>
              <a:xfrm>
                <a:off x="0" y="19050"/>
                <a:ext cx="566176" cy="152042"/>
              </a:xfrm>
              <a:prstGeom prst="rect">
                <a:avLst/>
              </a:prstGeom>
            </p:spPr>
            <p:txBody>
              <a:bodyPr anchor="ctr" rtlCol="false" tIns="50800" lIns="50800" bIns="50800" rIns="50800"/>
              <a:lstStyle/>
              <a:p>
                <a:pPr algn="ctr">
                  <a:lnSpc>
                    <a:spcPts val="2694"/>
                  </a:lnSpc>
                </a:pPr>
              </a:p>
            </p:txBody>
          </p:sp>
        </p:grpSp>
        <p:sp>
          <p:nvSpPr>
            <p:cNvPr name="TextBox 31" id="31"/>
            <p:cNvSpPr txBox="true"/>
            <p:nvPr/>
          </p:nvSpPr>
          <p:spPr>
            <a:xfrm rot="0">
              <a:off x="0" y="172175"/>
              <a:ext cx="4096434" cy="674594"/>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แสดงผล</a:t>
              </a:r>
            </a:p>
          </p:txBody>
        </p:sp>
      </p:grpSp>
      <p:sp>
        <p:nvSpPr>
          <p:cNvPr name="Freeform 32" id="32"/>
          <p:cNvSpPr/>
          <p:nvPr/>
        </p:nvSpPr>
        <p:spPr>
          <a:xfrm flipH="false" flipV="false" rot="-10800000">
            <a:off x="5796111" y="8009533"/>
            <a:ext cx="1045868" cy="303302"/>
          </a:xfrm>
          <a:custGeom>
            <a:avLst/>
            <a:gdLst/>
            <a:ahLst/>
            <a:cxnLst/>
            <a:rect r="r" b="b" t="t" l="l"/>
            <a:pathLst>
              <a:path h="303302" w="1045868">
                <a:moveTo>
                  <a:pt x="0" y="0"/>
                </a:moveTo>
                <a:lnTo>
                  <a:pt x="1045868" y="0"/>
                </a:lnTo>
                <a:lnTo>
                  <a:pt x="1045868" y="303302"/>
                </a:lnTo>
                <a:lnTo>
                  <a:pt x="0" y="3033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2947475" cy="763010"/>
            <a:chOff x="0" y="0"/>
            <a:chExt cx="728181" cy="188504"/>
          </a:xfrm>
        </p:grpSpPr>
        <p:sp>
          <p:nvSpPr>
            <p:cNvPr name="Freeform 9" id="9"/>
            <p:cNvSpPr/>
            <p:nvPr/>
          </p:nvSpPr>
          <p:spPr>
            <a:xfrm flipH="false" flipV="false" rot="0">
              <a:off x="0" y="0"/>
              <a:ext cx="728181" cy="188504"/>
            </a:xfrm>
            <a:custGeom>
              <a:avLst/>
              <a:gdLst/>
              <a:ahLst/>
              <a:cxnLst/>
              <a:rect r="r" b="b" t="t" l="l"/>
              <a:pathLst>
                <a:path h="188504" w="728181">
                  <a:moveTo>
                    <a:pt x="94252" y="0"/>
                  </a:moveTo>
                  <a:lnTo>
                    <a:pt x="633930" y="0"/>
                  </a:lnTo>
                  <a:cubicBezTo>
                    <a:pt x="658927" y="0"/>
                    <a:pt x="682900" y="9930"/>
                    <a:pt x="700576" y="27606"/>
                  </a:cubicBezTo>
                  <a:cubicBezTo>
                    <a:pt x="718251" y="45281"/>
                    <a:pt x="728181" y="69255"/>
                    <a:pt x="728181" y="94252"/>
                  </a:cubicBezTo>
                  <a:lnTo>
                    <a:pt x="728181" y="94252"/>
                  </a:lnTo>
                  <a:cubicBezTo>
                    <a:pt x="728181" y="119249"/>
                    <a:pt x="718251" y="143222"/>
                    <a:pt x="700576" y="160898"/>
                  </a:cubicBezTo>
                  <a:cubicBezTo>
                    <a:pt x="682900" y="178574"/>
                    <a:pt x="658927" y="188504"/>
                    <a:pt x="633930" y="188504"/>
                  </a:cubicBezTo>
                  <a:lnTo>
                    <a:pt x="94252" y="188504"/>
                  </a:lnTo>
                  <a:cubicBezTo>
                    <a:pt x="69255" y="188504"/>
                    <a:pt x="45281" y="178574"/>
                    <a:pt x="27606" y="160898"/>
                  </a:cubicBezTo>
                  <a:cubicBezTo>
                    <a:pt x="9930" y="143222"/>
                    <a:pt x="0" y="119249"/>
                    <a:pt x="0" y="94252"/>
                  </a:cubicBezTo>
                  <a:lnTo>
                    <a:pt x="0" y="94252"/>
                  </a:lnTo>
                  <a:cubicBezTo>
                    <a:pt x="0" y="69255"/>
                    <a:pt x="9930" y="45281"/>
                    <a:pt x="27606" y="27606"/>
                  </a:cubicBezTo>
                  <a:cubicBezTo>
                    <a:pt x="45281" y="9930"/>
                    <a:pt x="69255" y="0"/>
                    <a:pt x="94252" y="0"/>
                  </a:cubicBezTo>
                  <a:close/>
                </a:path>
              </a:pathLst>
            </a:custGeom>
            <a:solidFill>
              <a:srgbClr val="FBD172"/>
            </a:solidFill>
            <a:ln cap="rnd">
              <a:noFill/>
              <a:prstDash val="solid"/>
              <a:round/>
            </a:ln>
          </p:spPr>
        </p:sp>
        <p:sp>
          <p:nvSpPr>
            <p:cNvPr name="TextBox 10" id="10"/>
            <p:cNvSpPr txBox="true"/>
            <p:nvPr/>
          </p:nvSpPr>
          <p:spPr>
            <a:xfrm>
              <a:off x="0" y="19050"/>
              <a:ext cx="728181" cy="169454"/>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2024289" y="3991924"/>
            <a:ext cx="14605691" cy="3719293"/>
          </a:xfrm>
          <a:custGeom>
            <a:avLst/>
            <a:gdLst/>
            <a:ahLst/>
            <a:cxnLst/>
            <a:rect r="r" b="b" t="t" l="l"/>
            <a:pathLst>
              <a:path h="3719293" w="14605691">
                <a:moveTo>
                  <a:pt x="0" y="0"/>
                </a:moveTo>
                <a:lnTo>
                  <a:pt x="14605690" y="0"/>
                </a:lnTo>
                <a:lnTo>
                  <a:pt x="14605690" y="3719293"/>
                </a:lnTo>
                <a:lnTo>
                  <a:pt x="0" y="3719293"/>
                </a:lnTo>
                <a:lnTo>
                  <a:pt x="0" y="0"/>
                </a:lnTo>
                <a:close/>
              </a:path>
            </a:pathLst>
          </a:custGeom>
          <a:blipFill>
            <a:blip r:embed="rId2"/>
            <a:stretch>
              <a:fillRect l="0" t="0" r="0" b="0"/>
            </a:stretch>
          </a:blipFill>
        </p:spPr>
      </p:sp>
      <p:sp>
        <p:nvSpPr>
          <p:cNvPr name="TextBox 12" id="1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3" id="1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4" id="1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5" id="15"/>
          <p:cNvSpPr txBox="true"/>
          <p:nvPr/>
        </p:nvSpPr>
        <p:spPr>
          <a:xfrm rot="0">
            <a:off x="11431178" y="1104900"/>
            <a:ext cx="10397602" cy="604433"/>
          </a:xfrm>
          <a:prstGeom prst="rect">
            <a:avLst/>
          </a:prstGeom>
        </p:spPr>
        <p:txBody>
          <a:bodyPr anchor="t" rtlCol="false" tIns="0" lIns="0" bIns="0" rIns="0">
            <a:spAutoFit/>
          </a:bodyPr>
          <a:lstStyle/>
          <a:p>
            <a:pPr algn="l" marL="0" indent="0" lvl="0">
              <a:lnSpc>
                <a:spcPts val="4482"/>
              </a:lnSpc>
              <a:spcBef>
                <a:spcPct val="0"/>
              </a:spcBef>
            </a:pPr>
            <a:r>
              <a:rPr lang="en-US" sz="4482">
                <a:solidFill>
                  <a:srgbClr val="000000"/>
                </a:solidFill>
                <a:latin typeface="Aristotelica Pro Condensed"/>
                <a:ea typeface="Aristotelica Pro Condensed"/>
                <a:cs typeface="Aristotelica Pro Condensed"/>
                <a:sym typeface="Aristotelica Pro Condensed"/>
              </a:rPr>
              <a:t>  </a:t>
            </a:r>
            <a:r>
              <a:rPr lang="en-US" b="true" sz="4482">
                <a:solidFill>
                  <a:srgbClr val="000000"/>
                </a:solidFill>
                <a:latin typeface="Aristotelica Pro Condensed Bold"/>
                <a:ea typeface="Aristotelica Pro Condensed Bold"/>
                <a:cs typeface="Aristotelica Pro Condensed Bold"/>
                <a:sym typeface="Aristotelica Pro Condensed Bold"/>
              </a:rPr>
              <a:t>DEMO 1 - Grade_Checker </a:t>
            </a:r>
          </a:p>
        </p:txBody>
      </p:sp>
      <p:sp>
        <p:nvSpPr>
          <p:cNvPr name="TextBox 16" id="16"/>
          <p:cNvSpPr txBox="true"/>
          <p:nvPr/>
        </p:nvSpPr>
        <p:spPr>
          <a:xfrm rot="0">
            <a:off x="1221647" y="2107741"/>
            <a:ext cx="2578332"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[4] output</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2783108" y="3295210"/>
            <a:ext cx="12532436" cy="1053247"/>
            <a:chOff x="0" y="0"/>
            <a:chExt cx="3300724" cy="277398"/>
          </a:xfrm>
        </p:grpSpPr>
        <p:sp>
          <p:nvSpPr>
            <p:cNvPr name="Freeform 9" id="9"/>
            <p:cNvSpPr/>
            <p:nvPr/>
          </p:nvSpPr>
          <p:spPr>
            <a:xfrm flipH="false" flipV="false" rot="0">
              <a:off x="0" y="0"/>
              <a:ext cx="3300724" cy="277398"/>
            </a:xfrm>
            <a:custGeom>
              <a:avLst/>
              <a:gdLst/>
              <a:ahLst/>
              <a:cxnLst/>
              <a:rect r="r" b="b" t="t" l="l"/>
              <a:pathLst>
                <a:path h="277398" w="3300724">
                  <a:moveTo>
                    <a:pt x="43243" y="0"/>
                  </a:moveTo>
                  <a:lnTo>
                    <a:pt x="3257481" y="0"/>
                  </a:lnTo>
                  <a:cubicBezTo>
                    <a:pt x="3268950" y="0"/>
                    <a:pt x="3279949" y="4556"/>
                    <a:pt x="3288058" y="12665"/>
                  </a:cubicBezTo>
                  <a:cubicBezTo>
                    <a:pt x="3296168" y="20775"/>
                    <a:pt x="3300724" y="31774"/>
                    <a:pt x="3300724" y="43243"/>
                  </a:cubicBezTo>
                  <a:lnTo>
                    <a:pt x="3300724" y="234156"/>
                  </a:lnTo>
                  <a:cubicBezTo>
                    <a:pt x="3300724" y="258038"/>
                    <a:pt x="3281363" y="277398"/>
                    <a:pt x="3257481" y="277398"/>
                  </a:cubicBezTo>
                  <a:lnTo>
                    <a:pt x="43243" y="277398"/>
                  </a:lnTo>
                  <a:cubicBezTo>
                    <a:pt x="19360" y="277398"/>
                    <a:pt x="0" y="258038"/>
                    <a:pt x="0" y="234156"/>
                  </a:cubicBezTo>
                  <a:lnTo>
                    <a:pt x="0" y="43243"/>
                  </a:lnTo>
                  <a:cubicBezTo>
                    <a:pt x="0" y="19360"/>
                    <a:pt x="19360" y="0"/>
                    <a:pt x="43243" y="0"/>
                  </a:cubicBezTo>
                  <a:close/>
                </a:path>
              </a:pathLst>
            </a:custGeom>
            <a:solidFill>
              <a:srgbClr val="FFFFFF"/>
            </a:solidFill>
            <a:ln w="66675" cap="rnd">
              <a:solidFill>
                <a:srgbClr val="FFC153"/>
              </a:solidFill>
              <a:prstDash val="solid"/>
              <a:round/>
            </a:ln>
          </p:spPr>
        </p:sp>
        <p:sp>
          <p:nvSpPr>
            <p:cNvPr name="TextBox 10" id="10"/>
            <p:cNvSpPr txBox="true"/>
            <p:nvPr/>
          </p:nvSpPr>
          <p:spPr>
            <a:xfrm>
              <a:off x="0" y="19050"/>
              <a:ext cx="3300724" cy="258348"/>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347507" y="4805658"/>
            <a:ext cx="3269527" cy="3983953"/>
            <a:chOff x="0" y="0"/>
            <a:chExt cx="4359369" cy="5311937"/>
          </a:xfrm>
        </p:grpSpPr>
        <p:grpSp>
          <p:nvGrpSpPr>
            <p:cNvPr name="Group 12" id="12"/>
            <p:cNvGrpSpPr/>
            <p:nvPr/>
          </p:nvGrpSpPr>
          <p:grpSpPr>
            <a:xfrm rot="0">
              <a:off x="3386" y="0"/>
              <a:ext cx="4355983" cy="3596868"/>
              <a:chOff x="0" y="0"/>
              <a:chExt cx="1165095" cy="962161"/>
            </a:xfrm>
          </p:grpSpPr>
          <p:sp>
            <p:nvSpPr>
              <p:cNvPr name="Freeform 13" id="13"/>
              <p:cNvSpPr/>
              <p:nvPr/>
            </p:nvSpPr>
            <p:spPr>
              <a:xfrm flipH="false" flipV="false" rot="0">
                <a:off x="0" y="0"/>
                <a:ext cx="1165095" cy="962161"/>
              </a:xfrm>
              <a:custGeom>
                <a:avLst/>
                <a:gdLst/>
                <a:ahLst/>
                <a:cxnLst/>
                <a:rect r="r" b="b" t="t" l="l"/>
                <a:pathLst>
                  <a:path h="962161" w="1165095">
                    <a:moveTo>
                      <a:pt x="1165095" y="82941"/>
                    </a:moveTo>
                    <a:lnTo>
                      <a:pt x="1165095" y="879220"/>
                    </a:lnTo>
                    <a:cubicBezTo>
                      <a:pt x="1165095" y="925027"/>
                      <a:pt x="1127961" y="962161"/>
                      <a:pt x="1082154" y="962161"/>
                    </a:cubicBezTo>
                    <a:lnTo>
                      <a:pt x="82941" y="962161"/>
                    </a:lnTo>
                    <a:cubicBezTo>
                      <a:pt x="37134" y="962161"/>
                      <a:pt x="0" y="925027"/>
                      <a:pt x="0" y="879220"/>
                    </a:cubicBezTo>
                    <a:lnTo>
                      <a:pt x="0" y="82941"/>
                    </a:lnTo>
                    <a:cubicBezTo>
                      <a:pt x="0" y="37134"/>
                      <a:pt x="37134" y="0"/>
                      <a:pt x="82941" y="0"/>
                    </a:cubicBezTo>
                    <a:lnTo>
                      <a:pt x="1082154" y="0"/>
                    </a:lnTo>
                    <a:cubicBezTo>
                      <a:pt x="1127961" y="0"/>
                      <a:pt x="1165095" y="37134"/>
                      <a:pt x="1165095" y="82941"/>
                    </a:cubicBezTo>
                    <a:close/>
                  </a:path>
                </a:pathLst>
              </a:custGeom>
              <a:solidFill>
                <a:srgbClr val="990941"/>
              </a:solidFill>
              <a:ln cap="rnd">
                <a:noFill/>
                <a:prstDash val="solid"/>
                <a:round/>
              </a:ln>
            </p:spPr>
          </p:sp>
          <p:sp>
            <p:nvSpPr>
              <p:cNvPr name="TextBox 14" id="14"/>
              <p:cNvSpPr txBox="true"/>
              <p:nvPr/>
            </p:nvSpPr>
            <p:spPr>
              <a:xfrm>
                <a:off x="0" y="19050"/>
                <a:ext cx="1165095" cy="943111"/>
              </a:xfrm>
              <a:prstGeom prst="rect">
                <a:avLst/>
              </a:prstGeom>
            </p:spPr>
            <p:txBody>
              <a:bodyPr anchor="ctr" rtlCol="false" tIns="50800" lIns="50800" bIns="50800" rIns="50800"/>
              <a:lstStyle/>
              <a:p>
                <a:pPr algn="ctr">
                  <a:lnSpc>
                    <a:spcPts val="2694"/>
                  </a:lnSpc>
                </a:pPr>
              </a:p>
            </p:txBody>
          </p:sp>
        </p:grpSp>
        <p:grpSp>
          <p:nvGrpSpPr>
            <p:cNvPr name="Group 15" id="15"/>
            <p:cNvGrpSpPr/>
            <p:nvPr/>
          </p:nvGrpSpPr>
          <p:grpSpPr>
            <a:xfrm rot="0">
              <a:off x="0" y="180123"/>
              <a:ext cx="4355983" cy="5131814"/>
              <a:chOff x="0" y="0"/>
              <a:chExt cx="1165085" cy="1372595"/>
            </a:xfrm>
          </p:grpSpPr>
          <p:sp>
            <p:nvSpPr>
              <p:cNvPr name="Freeform 16" id="16"/>
              <p:cNvSpPr/>
              <p:nvPr/>
            </p:nvSpPr>
            <p:spPr>
              <a:xfrm flipH="false" flipV="false" rot="0">
                <a:off x="0" y="0"/>
                <a:ext cx="1165085" cy="1372595"/>
              </a:xfrm>
              <a:custGeom>
                <a:avLst/>
                <a:gdLst/>
                <a:ahLst/>
                <a:cxnLst/>
                <a:rect r="r" b="b" t="t" l="l"/>
                <a:pathLst>
                  <a:path h="1372595" w="1165085">
                    <a:moveTo>
                      <a:pt x="92420" y="0"/>
                    </a:moveTo>
                    <a:lnTo>
                      <a:pt x="1072665" y="0"/>
                    </a:lnTo>
                    <a:cubicBezTo>
                      <a:pt x="1123707" y="0"/>
                      <a:pt x="1165085" y="41378"/>
                      <a:pt x="1165085" y="92420"/>
                    </a:cubicBezTo>
                    <a:lnTo>
                      <a:pt x="1165085" y="1280175"/>
                    </a:lnTo>
                    <a:cubicBezTo>
                      <a:pt x="1165085" y="1304687"/>
                      <a:pt x="1155348" y="1328194"/>
                      <a:pt x="1138016" y="1345526"/>
                    </a:cubicBezTo>
                    <a:cubicBezTo>
                      <a:pt x="1120684" y="1362858"/>
                      <a:pt x="1097177" y="1372595"/>
                      <a:pt x="1072665" y="1372595"/>
                    </a:cubicBezTo>
                    <a:lnTo>
                      <a:pt x="92420" y="1372595"/>
                    </a:lnTo>
                    <a:cubicBezTo>
                      <a:pt x="67909" y="1372595"/>
                      <a:pt x="44401" y="1362858"/>
                      <a:pt x="27069" y="1345526"/>
                    </a:cubicBezTo>
                    <a:cubicBezTo>
                      <a:pt x="9737" y="1328194"/>
                      <a:pt x="0" y="1304687"/>
                      <a:pt x="0" y="1280175"/>
                    </a:cubicBezTo>
                    <a:lnTo>
                      <a:pt x="0" y="92420"/>
                    </a:lnTo>
                    <a:cubicBezTo>
                      <a:pt x="0" y="41378"/>
                      <a:pt x="41378" y="0"/>
                      <a:pt x="92420" y="0"/>
                    </a:cubicBezTo>
                    <a:close/>
                  </a:path>
                </a:pathLst>
              </a:custGeom>
              <a:solidFill>
                <a:srgbClr val="FFFFFF"/>
              </a:solidFill>
              <a:ln w="38100" cap="rnd">
                <a:solidFill>
                  <a:srgbClr val="FCE1B1"/>
                </a:solidFill>
                <a:prstDash val="solid"/>
                <a:round/>
              </a:ln>
            </p:spPr>
          </p:sp>
          <p:sp>
            <p:nvSpPr>
              <p:cNvPr name="TextBox 17" id="17"/>
              <p:cNvSpPr txBox="true"/>
              <p:nvPr/>
            </p:nvSpPr>
            <p:spPr>
              <a:xfrm>
                <a:off x="0" y="19050"/>
                <a:ext cx="1165085" cy="1353545"/>
              </a:xfrm>
              <a:prstGeom prst="rect">
                <a:avLst/>
              </a:prstGeom>
            </p:spPr>
            <p:txBody>
              <a:bodyPr anchor="ctr" rtlCol="false" tIns="50800" lIns="50800" bIns="50800" rIns="50800"/>
              <a:lstStyle/>
              <a:p>
                <a:pPr algn="ctr">
                  <a:lnSpc>
                    <a:spcPts val="2694"/>
                  </a:lnSpc>
                </a:pPr>
              </a:p>
            </p:txBody>
          </p:sp>
        </p:grpSp>
      </p:grpSp>
      <p:grpSp>
        <p:nvGrpSpPr>
          <p:cNvPr name="Group 18" id="18"/>
          <p:cNvGrpSpPr/>
          <p:nvPr/>
        </p:nvGrpSpPr>
        <p:grpSpPr>
          <a:xfrm rot="0">
            <a:off x="5397810" y="4736430"/>
            <a:ext cx="3325756" cy="3983953"/>
            <a:chOff x="0" y="0"/>
            <a:chExt cx="4434341" cy="5311937"/>
          </a:xfrm>
        </p:grpSpPr>
        <p:grpSp>
          <p:nvGrpSpPr>
            <p:cNvPr name="Group 19" id="19"/>
            <p:cNvGrpSpPr/>
            <p:nvPr/>
          </p:nvGrpSpPr>
          <p:grpSpPr>
            <a:xfrm rot="0">
              <a:off x="20618" y="0"/>
              <a:ext cx="4380111" cy="3596868"/>
              <a:chOff x="0" y="0"/>
              <a:chExt cx="1171548" cy="962161"/>
            </a:xfrm>
          </p:grpSpPr>
          <p:sp>
            <p:nvSpPr>
              <p:cNvPr name="Freeform 20" id="20"/>
              <p:cNvSpPr/>
              <p:nvPr/>
            </p:nvSpPr>
            <p:spPr>
              <a:xfrm flipH="false" flipV="false" rot="0">
                <a:off x="0" y="0"/>
                <a:ext cx="1171548" cy="962161"/>
              </a:xfrm>
              <a:custGeom>
                <a:avLst/>
                <a:gdLst/>
                <a:ahLst/>
                <a:cxnLst/>
                <a:rect r="r" b="b" t="t" l="l"/>
                <a:pathLst>
                  <a:path h="962161" w="1171548">
                    <a:moveTo>
                      <a:pt x="1171548" y="82484"/>
                    </a:moveTo>
                    <a:lnTo>
                      <a:pt x="1171548" y="879677"/>
                    </a:lnTo>
                    <a:cubicBezTo>
                      <a:pt x="1171548" y="901553"/>
                      <a:pt x="1162858" y="922533"/>
                      <a:pt x="1147389" y="938002"/>
                    </a:cubicBezTo>
                    <a:cubicBezTo>
                      <a:pt x="1131920" y="953471"/>
                      <a:pt x="1110940" y="962161"/>
                      <a:pt x="1089064" y="962161"/>
                    </a:cubicBezTo>
                    <a:lnTo>
                      <a:pt x="82484" y="962161"/>
                    </a:lnTo>
                    <a:cubicBezTo>
                      <a:pt x="60608" y="962161"/>
                      <a:pt x="39628" y="953471"/>
                      <a:pt x="24159" y="938002"/>
                    </a:cubicBezTo>
                    <a:cubicBezTo>
                      <a:pt x="8690" y="922533"/>
                      <a:pt x="0" y="901553"/>
                      <a:pt x="0" y="879677"/>
                    </a:cubicBezTo>
                    <a:lnTo>
                      <a:pt x="0" y="82484"/>
                    </a:lnTo>
                    <a:cubicBezTo>
                      <a:pt x="0" y="60608"/>
                      <a:pt x="8690" y="39628"/>
                      <a:pt x="24159" y="24159"/>
                    </a:cubicBezTo>
                    <a:cubicBezTo>
                      <a:pt x="39628" y="8690"/>
                      <a:pt x="60608" y="0"/>
                      <a:pt x="82484" y="0"/>
                    </a:cubicBezTo>
                    <a:lnTo>
                      <a:pt x="1089064" y="0"/>
                    </a:lnTo>
                    <a:cubicBezTo>
                      <a:pt x="1110940" y="0"/>
                      <a:pt x="1131920" y="8690"/>
                      <a:pt x="1147389" y="24159"/>
                    </a:cubicBezTo>
                    <a:cubicBezTo>
                      <a:pt x="1162858" y="39628"/>
                      <a:pt x="1171548" y="60608"/>
                      <a:pt x="1171548" y="82484"/>
                    </a:cubicBezTo>
                    <a:close/>
                  </a:path>
                </a:pathLst>
              </a:custGeom>
              <a:solidFill>
                <a:srgbClr val="990941"/>
              </a:solidFill>
              <a:ln cap="rnd">
                <a:noFill/>
                <a:prstDash val="solid"/>
                <a:round/>
              </a:ln>
            </p:spPr>
          </p:sp>
          <p:sp>
            <p:nvSpPr>
              <p:cNvPr name="TextBox 21" id="21"/>
              <p:cNvSpPr txBox="true"/>
              <p:nvPr/>
            </p:nvSpPr>
            <p:spPr>
              <a:xfrm>
                <a:off x="0" y="19050"/>
                <a:ext cx="1171548" cy="943111"/>
              </a:xfrm>
              <a:prstGeom prst="rect">
                <a:avLst/>
              </a:prstGeom>
            </p:spPr>
            <p:txBody>
              <a:bodyPr anchor="ctr" rtlCol="false" tIns="50800" lIns="50800" bIns="50800" rIns="50800"/>
              <a:lstStyle/>
              <a:p>
                <a:pPr algn="ctr">
                  <a:lnSpc>
                    <a:spcPts val="2694"/>
                  </a:lnSpc>
                </a:pPr>
              </a:p>
            </p:txBody>
          </p:sp>
        </p:grpSp>
        <p:grpSp>
          <p:nvGrpSpPr>
            <p:cNvPr name="Group 22" id="22"/>
            <p:cNvGrpSpPr/>
            <p:nvPr/>
          </p:nvGrpSpPr>
          <p:grpSpPr>
            <a:xfrm rot="0">
              <a:off x="0" y="180123"/>
              <a:ext cx="4434341" cy="5131814"/>
              <a:chOff x="0" y="0"/>
              <a:chExt cx="1186044" cy="1372595"/>
            </a:xfrm>
          </p:grpSpPr>
          <p:sp>
            <p:nvSpPr>
              <p:cNvPr name="Freeform 23" id="23"/>
              <p:cNvSpPr/>
              <p:nvPr/>
            </p:nvSpPr>
            <p:spPr>
              <a:xfrm flipH="false" flipV="false" rot="0">
                <a:off x="0" y="0"/>
                <a:ext cx="1186043" cy="1372595"/>
              </a:xfrm>
              <a:custGeom>
                <a:avLst/>
                <a:gdLst/>
                <a:ahLst/>
                <a:cxnLst/>
                <a:rect r="r" b="b" t="t" l="l"/>
                <a:pathLst>
                  <a:path h="1372595" w="1186043">
                    <a:moveTo>
                      <a:pt x="90787" y="0"/>
                    </a:moveTo>
                    <a:lnTo>
                      <a:pt x="1095257" y="0"/>
                    </a:lnTo>
                    <a:cubicBezTo>
                      <a:pt x="1119335" y="0"/>
                      <a:pt x="1142427" y="9565"/>
                      <a:pt x="1159453" y="26591"/>
                    </a:cubicBezTo>
                    <a:cubicBezTo>
                      <a:pt x="1176478" y="43617"/>
                      <a:pt x="1186043" y="66709"/>
                      <a:pt x="1186043" y="90787"/>
                    </a:cubicBezTo>
                    <a:lnTo>
                      <a:pt x="1186043" y="1281808"/>
                    </a:lnTo>
                    <a:cubicBezTo>
                      <a:pt x="1186043" y="1331949"/>
                      <a:pt x="1145397" y="1372595"/>
                      <a:pt x="1095257" y="1372595"/>
                    </a:cubicBezTo>
                    <a:lnTo>
                      <a:pt x="90787" y="1372595"/>
                    </a:lnTo>
                    <a:cubicBezTo>
                      <a:pt x="66709" y="1372595"/>
                      <a:pt x="43617" y="1363030"/>
                      <a:pt x="26591" y="1346004"/>
                    </a:cubicBezTo>
                    <a:cubicBezTo>
                      <a:pt x="9565" y="1328978"/>
                      <a:pt x="0" y="1305886"/>
                      <a:pt x="0" y="1281808"/>
                    </a:cubicBezTo>
                    <a:lnTo>
                      <a:pt x="0" y="90787"/>
                    </a:lnTo>
                    <a:cubicBezTo>
                      <a:pt x="0" y="40647"/>
                      <a:pt x="40647" y="0"/>
                      <a:pt x="90787" y="0"/>
                    </a:cubicBezTo>
                    <a:close/>
                  </a:path>
                </a:pathLst>
              </a:custGeom>
              <a:solidFill>
                <a:srgbClr val="FFFFFF"/>
              </a:solidFill>
              <a:ln w="38100" cap="rnd">
                <a:solidFill>
                  <a:srgbClr val="FCE1B1"/>
                </a:solidFill>
                <a:prstDash val="solid"/>
                <a:round/>
              </a:ln>
            </p:spPr>
          </p:sp>
          <p:sp>
            <p:nvSpPr>
              <p:cNvPr name="TextBox 24" id="24"/>
              <p:cNvSpPr txBox="true"/>
              <p:nvPr/>
            </p:nvSpPr>
            <p:spPr>
              <a:xfrm>
                <a:off x="0" y="19050"/>
                <a:ext cx="1186044" cy="1353545"/>
              </a:xfrm>
              <a:prstGeom prst="rect">
                <a:avLst/>
              </a:prstGeom>
            </p:spPr>
            <p:txBody>
              <a:bodyPr anchor="ctr" rtlCol="false" tIns="50800" lIns="50800" bIns="50800" rIns="50800"/>
              <a:lstStyle/>
              <a:p>
                <a:pPr algn="ctr">
                  <a:lnSpc>
                    <a:spcPts val="2694"/>
                  </a:lnSpc>
                </a:pPr>
              </a:p>
            </p:txBody>
          </p:sp>
        </p:grpSp>
      </p:grpSp>
      <p:grpSp>
        <p:nvGrpSpPr>
          <p:cNvPr name="Group 25" id="25"/>
          <p:cNvGrpSpPr/>
          <p:nvPr/>
        </p:nvGrpSpPr>
        <p:grpSpPr>
          <a:xfrm rot="0">
            <a:off x="9504616" y="4736430"/>
            <a:ext cx="3399561" cy="3983953"/>
            <a:chOff x="0" y="0"/>
            <a:chExt cx="4532748" cy="5311937"/>
          </a:xfrm>
        </p:grpSpPr>
        <p:grpSp>
          <p:nvGrpSpPr>
            <p:cNvPr name="Group 26" id="26"/>
            <p:cNvGrpSpPr/>
            <p:nvPr/>
          </p:nvGrpSpPr>
          <p:grpSpPr>
            <a:xfrm rot="0">
              <a:off x="0" y="0"/>
              <a:ext cx="4532748" cy="3596868"/>
              <a:chOff x="0" y="0"/>
              <a:chExt cx="1212374" cy="962161"/>
            </a:xfrm>
          </p:grpSpPr>
          <p:sp>
            <p:nvSpPr>
              <p:cNvPr name="Freeform 27" id="27"/>
              <p:cNvSpPr/>
              <p:nvPr/>
            </p:nvSpPr>
            <p:spPr>
              <a:xfrm flipH="false" flipV="false" rot="0">
                <a:off x="0" y="0"/>
                <a:ext cx="1212374" cy="962161"/>
              </a:xfrm>
              <a:custGeom>
                <a:avLst/>
                <a:gdLst/>
                <a:ahLst/>
                <a:cxnLst/>
                <a:rect r="r" b="b" t="t" l="l"/>
                <a:pathLst>
                  <a:path h="962161" w="1212374">
                    <a:moveTo>
                      <a:pt x="1212374" y="79707"/>
                    </a:moveTo>
                    <a:lnTo>
                      <a:pt x="1212374" y="882454"/>
                    </a:lnTo>
                    <a:cubicBezTo>
                      <a:pt x="1212374" y="903594"/>
                      <a:pt x="1203976" y="923868"/>
                      <a:pt x="1189028" y="938815"/>
                    </a:cubicBezTo>
                    <a:cubicBezTo>
                      <a:pt x="1174080" y="953763"/>
                      <a:pt x="1153807" y="962161"/>
                      <a:pt x="1132667" y="962161"/>
                    </a:cubicBezTo>
                    <a:lnTo>
                      <a:pt x="79707" y="962161"/>
                    </a:lnTo>
                    <a:cubicBezTo>
                      <a:pt x="58567" y="962161"/>
                      <a:pt x="38293" y="953763"/>
                      <a:pt x="23346" y="938815"/>
                    </a:cubicBezTo>
                    <a:cubicBezTo>
                      <a:pt x="8398" y="923868"/>
                      <a:pt x="0" y="903594"/>
                      <a:pt x="0" y="882454"/>
                    </a:cubicBezTo>
                    <a:lnTo>
                      <a:pt x="0" y="79707"/>
                    </a:lnTo>
                    <a:cubicBezTo>
                      <a:pt x="0" y="58567"/>
                      <a:pt x="8398" y="38293"/>
                      <a:pt x="23346" y="23346"/>
                    </a:cubicBezTo>
                    <a:cubicBezTo>
                      <a:pt x="38293" y="8398"/>
                      <a:pt x="58567" y="0"/>
                      <a:pt x="79707" y="0"/>
                    </a:cubicBezTo>
                    <a:lnTo>
                      <a:pt x="1132667" y="0"/>
                    </a:lnTo>
                    <a:cubicBezTo>
                      <a:pt x="1153807" y="0"/>
                      <a:pt x="1174080" y="8398"/>
                      <a:pt x="1189028" y="23346"/>
                    </a:cubicBezTo>
                    <a:cubicBezTo>
                      <a:pt x="1203976" y="38293"/>
                      <a:pt x="1212374" y="58567"/>
                      <a:pt x="1212374" y="79707"/>
                    </a:cubicBezTo>
                    <a:close/>
                  </a:path>
                </a:pathLst>
              </a:custGeom>
              <a:solidFill>
                <a:srgbClr val="990941"/>
              </a:solidFill>
              <a:ln cap="rnd">
                <a:noFill/>
                <a:prstDash val="solid"/>
                <a:round/>
              </a:ln>
            </p:spPr>
          </p:sp>
          <p:sp>
            <p:nvSpPr>
              <p:cNvPr name="TextBox 28" id="28"/>
              <p:cNvSpPr txBox="true"/>
              <p:nvPr/>
            </p:nvSpPr>
            <p:spPr>
              <a:xfrm>
                <a:off x="0" y="19050"/>
                <a:ext cx="1212374" cy="943111"/>
              </a:xfrm>
              <a:prstGeom prst="rect">
                <a:avLst/>
              </a:prstGeom>
            </p:spPr>
            <p:txBody>
              <a:bodyPr anchor="ctr" rtlCol="false" tIns="50800" lIns="50800" bIns="50800" rIns="50800"/>
              <a:lstStyle/>
              <a:p>
                <a:pPr algn="ctr">
                  <a:lnSpc>
                    <a:spcPts val="2694"/>
                  </a:lnSpc>
                </a:pPr>
              </a:p>
            </p:txBody>
          </p:sp>
        </p:grpSp>
        <p:grpSp>
          <p:nvGrpSpPr>
            <p:cNvPr name="Group 29" id="29"/>
            <p:cNvGrpSpPr/>
            <p:nvPr/>
          </p:nvGrpSpPr>
          <p:grpSpPr>
            <a:xfrm rot="0">
              <a:off x="0" y="180123"/>
              <a:ext cx="4532748" cy="5131814"/>
              <a:chOff x="0" y="0"/>
              <a:chExt cx="1212364" cy="1372595"/>
            </a:xfrm>
          </p:grpSpPr>
          <p:sp>
            <p:nvSpPr>
              <p:cNvPr name="Freeform 30" id="30"/>
              <p:cNvSpPr/>
              <p:nvPr/>
            </p:nvSpPr>
            <p:spPr>
              <a:xfrm flipH="false" flipV="false" rot="0">
                <a:off x="0" y="0"/>
                <a:ext cx="1212364" cy="1372595"/>
              </a:xfrm>
              <a:custGeom>
                <a:avLst/>
                <a:gdLst/>
                <a:ahLst/>
                <a:cxnLst/>
                <a:rect r="r" b="b" t="t" l="l"/>
                <a:pathLst>
                  <a:path h="1372595" w="1212364">
                    <a:moveTo>
                      <a:pt x="88816" y="0"/>
                    </a:moveTo>
                    <a:lnTo>
                      <a:pt x="1123548" y="0"/>
                    </a:lnTo>
                    <a:cubicBezTo>
                      <a:pt x="1147104" y="0"/>
                      <a:pt x="1169694" y="9357"/>
                      <a:pt x="1186351" y="26014"/>
                    </a:cubicBezTo>
                    <a:cubicBezTo>
                      <a:pt x="1203007" y="42670"/>
                      <a:pt x="1212364" y="65260"/>
                      <a:pt x="1212364" y="88816"/>
                    </a:cubicBezTo>
                    <a:lnTo>
                      <a:pt x="1212364" y="1283779"/>
                    </a:lnTo>
                    <a:cubicBezTo>
                      <a:pt x="1212364" y="1307335"/>
                      <a:pt x="1203007" y="1329925"/>
                      <a:pt x="1186351" y="1346582"/>
                    </a:cubicBezTo>
                    <a:cubicBezTo>
                      <a:pt x="1169694" y="1363238"/>
                      <a:pt x="1147104" y="1372595"/>
                      <a:pt x="1123548" y="1372595"/>
                    </a:cubicBezTo>
                    <a:lnTo>
                      <a:pt x="88816" y="1372595"/>
                    </a:lnTo>
                    <a:cubicBezTo>
                      <a:pt x="65260" y="1372595"/>
                      <a:pt x="42670" y="1363238"/>
                      <a:pt x="26014" y="1346582"/>
                    </a:cubicBezTo>
                    <a:cubicBezTo>
                      <a:pt x="9357" y="1329925"/>
                      <a:pt x="0" y="1307335"/>
                      <a:pt x="0" y="1283779"/>
                    </a:cubicBezTo>
                    <a:lnTo>
                      <a:pt x="0" y="88816"/>
                    </a:lnTo>
                    <a:cubicBezTo>
                      <a:pt x="0" y="65260"/>
                      <a:pt x="9357" y="42670"/>
                      <a:pt x="26014" y="26014"/>
                    </a:cubicBezTo>
                    <a:cubicBezTo>
                      <a:pt x="42670" y="9357"/>
                      <a:pt x="65260" y="0"/>
                      <a:pt x="88816" y="0"/>
                    </a:cubicBezTo>
                    <a:close/>
                  </a:path>
                </a:pathLst>
              </a:custGeom>
              <a:solidFill>
                <a:srgbClr val="FFFFFF"/>
              </a:solidFill>
              <a:ln w="38100" cap="rnd">
                <a:solidFill>
                  <a:srgbClr val="FCE1B1"/>
                </a:solidFill>
                <a:prstDash val="solid"/>
                <a:round/>
              </a:ln>
            </p:spPr>
          </p:sp>
          <p:sp>
            <p:nvSpPr>
              <p:cNvPr name="TextBox 31" id="31"/>
              <p:cNvSpPr txBox="true"/>
              <p:nvPr/>
            </p:nvSpPr>
            <p:spPr>
              <a:xfrm>
                <a:off x="0" y="19050"/>
                <a:ext cx="1212364" cy="1353545"/>
              </a:xfrm>
              <a:prstGeom prst="rect">
                <a:avLst/>
              </a:prstGeom>
            </p:spPr>
            <p:txBody>
              <a:bodyPr anchor="ctr" rtlCol="false" tIns="50800" lIns="50800" bIns="50800" rIns="50800"/>
              <a:lstStyle/>
              <a:p>
                <a:pPr algn="ctr">
                  <a:lnSpc>
                    <a:spcPts val="2694"/>
                  </a:lnSpc>
                </a:pPr>
              </a:p>
            </p:txBody>
          </p:sp>
        </p:grpSp>
      </p:grpSp>
      <p:sp>
        <p:nvSpPr>
          <p:cNvPr name="Freeform 32" id="32"/>
          <p:cNvSpPr/>
          <p:nvPr/>
        </p:nvSpPr>
        <p:spPr>
          <a:xfrm flipH="false" flipV="false" rot="0">
            <a:off x="4781986" y="6876996"/>
            <a:ext cx="450872" cy="412548"/>
          </a:xfrm>
          <a:custGeom>
            <a:avLst/>
            <a:gdLst/>
            <a:ahLst/>
            <a:cxnLst/>
            <a:rect r="r" b="b" t="t" l="l"/>
            <a:pathLst>
              <a:path h="412548" w="450872">
                <a:moveTo>
                  <a:pt x="0" y="0"/>
                </a:moveTo>
                <a:lnTo>
                  <a:pt x="450871" y="0"/>
                </a:lnTo>
                <a:lnTo>
                  <a:pt x="450871" y="412548"/>
                </a:lnTo>
                <a:lnTo>
                  <a:pt x="0" y="412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3" id="33"/>
          <p:cNvGrpSpPr/>
          <p:nvPr/>
        </p:nvGrpSpPr>
        <p:grpSpPr>
          <a:xfrm rot="0">
            <a:off x="13685226" y="4736430"/>
            <a:ext cx="3399561" cy="3981709"/>
            <a:chOff x="0" y="0"/>
            <a:chExt cx="4532748" cy="5308946"/>
          </a:xfrm>
        </p:grpSpPr>
        <p:grpSp>
          <p:nvGrpSpPr>
            <p:cNvPr name="Group 34" id="34"/>
            <p:cNvGrpSpPr/>
            <p:nvPr/>
          </p:nvGrpSpPr>
          <p:grpSpPr>
            <a:xfrm rot="0">
              <a:off x="0" y="0"/>
              <a:ext cx="4532748" cy="3596868"/>
              <a:chOff x="0" y="0"/>
              <a:chExt cx="1212374" cy="962161"/>
            </a:xfrm>
          </p:grpSpPr>
          <p:sp>
            <p:nvSpPr>
              <p:cNvPr name="Freeform 35" id="35"/>
              <p:cNvSpPr/>
              <p:nvPr/>
            </p:nvSpPr>
            <p:spPr>
              <a:xfrm flipH="false" flipV="false" rot="0">
                <a:off x="0" y="0"/>
                <a:ext cx="1212374" cy="962161"/>
              </a:xfrm>
              <a:custGeom>
                <a:avLst/>
                <a:gdLst/>
                <a:ahLst/>
                <a:cxnLst/>
                <a:rect r="r" b="b" t="t" l="l"/>
                <a:pathLst>
                  <a:path h="962161" w="1212374">
                    <a:moveTo>
                      <a:pt x="1212374" y="79707"/>
                    </a:moveTo>
                    <a:lnTo>
                      <a:pt x="1212374" y="882454"/>
                    </a:lnTo>
                    <a:cubicBezTo>
                      <a:pt x="1212374" y="903594"/>
                      <a:pt x="1203976" y="923868"/>
                      <a:pt x="1189028" y="938815"/>
                    </a:cubicBezTo>
                    <a:cubicBezTo>
                      <a:pt x="1174080" y="953763"/>
                      <a:pt x="1153807" y="962161"/>
                      <a:pt x="1132667" y="962161"/>
                    </a:cubicBezTo>
                    <a:lnTo>
                      <a:pt x="79707" y="962161"/>
                    </a:lnTo>
                    <a:cubicBezTo>
                      <a:pt x="58567" y="962161"/>
                      <a:pt x="38293" y="953763"/>
                      <a:pt x="23346" y="938815"/>
                    </a:cubicBezTo>
                    <a:cubicBezTo>
                      <a:pt x="8398" y="923868"/>
                      <a:pt x="0" y="903594"/>
                      <a:pt x="0" y="882454"/>
                    </a:cubicBezTo>
                    <a:lnTo>
                      <a:pt x="0" y="79707"/>
                    </a:lnTo>
                    <a:cubicBezTo>
                      <a:pt x="0" y="58567"/>
                      <a:pt x="8398" y="38293"/>
                      <a:pt x="23346" y="23346"/>
                    </a:cubicBezTo>
                    <a:cubicBezTo>
                      <a:pt x="38293" y="8398"/>
                      <a:pt x="58567" y="0"/>
                      <a:pt x="79707" y="0"/>
                    </a:cubicBezTo>
                    <a:lnTo>
                      <a:pt x="1132667" y="0"/>
                    </a:lnTo>
                    <a:cubicBezTo>
                      <a:pt x="1153807" y="0"/>
                      <a:pt x="1174080" y="8398"/>
                      <a:pt x="1189028" y="23346"/>
                    </a:cubicBezTo>
                    <a:cubicBezTo>
                      <a:pt x="1203976" y="38293"/>
                      <a:pt x="1212374" y="58567"/>
                      <a:pt x="1212374" y="79707"/>
                    </a:cubicBezTo>
                    <a:close/>
                  </a:path>
                </a:pathLst>
              </a:custGeom>
              <a:solidFill>
                <a:srgbClr val="990941"/>
              </a:solidFill>
              <a:ln cap="rnd">
                <a:noFill/>
                <a:prstDash val="solid"/>
                <a:round/>
              </a:ln>
            </p:spPr>
          </p:sp>
          <p:sp>
            <p:nvSpPr>
              <p:cNvPr name="TextBox 36" id="36"/>
              <p:cNvSpPr txBox="true"/>
              <p:nvPr/>
            </p:nvSpPr>
            <p:spPr>
              <a:xfrm>
                <a:off x="0" y="19050"/>
                <a:ext cx="1212374" cy="943111"/>
              </a:xfrm>
              <a:prstGeom prst="rect">
                <a:avLst/>
              </a:prstGeom>
            </p:spPr>
            <p:txBody>
              <a:bodyPr anchor="ctr" rtlCol="false" tIns="50800" lIns="50800" bIns="50800" rIns="50800"/>
              <a:lstStyle/>
              <a:p>
                <a:pPr algn="ctr">
                  <a:lnSpc>
                    <a:spcPts val="2694"/>
                  </a:lnSpc>
                </a:pPr>
              </a:p>
            </p:txBody>
          </p:sp>
        </p:grpSp>
        <p:grpSp>
          <p:nvGrpSpPr>
            <p:cNvPr name="Group 37" id="37"/>
            <p:cNvGrpSpPr/>
            <p:nvPr/>
          </p:nvGrpSpPr>
          <p:grpSpPr>
            <a:xfrm rot="0">
              <a:off x="0" y="177131"/>
              <a:ext cx="4532748" cy="5131814"/>
              <a:chOff x="0" y="0"/>
              <a:chExt cx="1212364" cy="1372595"/>
            </a:xfrm>
          </p:grpSpPr>
          <p:sp>
            <p:nvSpPr>
              <p:cNvPr name="Freeform 38" id="38"/>
              <p:cNvSpPr/>
              <p:nvPr/>
            </p:nvSpPr>
            <p:spPr>
              <a:xfrm flipH="false" flipV="false" rot="0">
                <a:off x="0" y="0"/>
                <a:ext cx="1212364" cy="1372595"/>
              </a:xfrm>
              <a:custGeom>
                <a:avLst/>
                <a:gdLst/>
                <a:ahLst/>
                <a:cxnLst/>
                <a:rect r="r" b="b" t="t" l="l"/>
                <a:pathLst>
                  <a:path h="1372595" w="1212364">
                    <a:moveTo>
                      <a:pt x="88816" y="0"/>
                    </a:moveTo>
                    <a:lnTo>
                      <a:pt x="1123548" y="0"/>
                    </a:lnTo>
                    <a:cubicBezTo>
                      <a:pt x="1147104" y="0"/>
                      <a:pt x="1169694" y="9357"/>
                      <a:pt x="1186351" y="26014"/>
                    </a:cubicBezTo>
                    <a:cubicBezTo>
                      <a:pt x="1203007" y="42670"/>
                      <a:pt x="1212364" y="65260"/>
                      <a:pt x="1212364" y="88816"/>
                    </a:cubicBezTo>
                    <a:lnTo>
                      <a:pt x="1212364" y="1283779"/>
                    </a:lnTo>
                    <a:cubicBezTo>
                      <a:pt x="1212364" y="1307335"/>
                      <a:pt x="1203007" y="1329925"/>
                      <a:pt x="1186351" y="1346582"/>
                    </a:cubicBezTo>
                    <a:cubicBezTo>
                      <a:pt x="1169694" y="1363238"/>
                      <a:pt x="1147104" y="1372595"/>
                      <a:pt x="1123548" y="1372595"/>
                    </a:cubicBezTo>
                    <a:lnTo>
                      <a:pt x="88816" y="1372595"/>
                    </a:lnTo>
                    <a:cubicBezTo>
                      <a:pt x="65260" y="1372595"/>
                      <a:pt x="42670" y="1363238"/>
                      <a:pt x="26014" y="1346582"/>
                    </a:cubicBezTo>
                    <a:cubicBezTo>
                      <a:pt x="9357" y="1329925"/>
                      <a:pt x="0" y="1307335"/>
                      <a:pt x="0" y="1283779"/>
                    </a:cubicBezTo>
                    <a:lnTo>
                      <a:pt x="0" y="88816"/>
                    </a:lnTo>
                    <a:cubicBezTo>
                      <a:pt x="0" y="65260"/>
                      <a:pt x="9357" y="42670"/>
                      <a:pt x="26014" y="26014"/>
                    </a:cubicBezTo>
                    <a:cubicBezTo>
                      <a:pt x="42670" y="9357"/>
                      <a:pt x="65260" y="0"/>
                      <a:pt x="88816" y="0"/>
                    </a:cubicBezTo>
                    <a:close/>
                  </a:path>
                </a:pathLst>
              </a:custGeom>
              <a:solidFill>
                <a:srgbClr val="FFFFFF"/>
              </a:solidFill>
              <a:ln w="38100" cap="rnd">
                <a:solidFill>
                  <a:srgbClr val="FCE1B1"/>
                </a:solidFill>
                <a:prstDash val="solid"/>
                <a:round/>
              </a:ln>
            </p:spPr>
          </p:sp>
          <p:sp>
            <p:nvSpPr>
              <p:cNvPr name="TextBox 39" id="39"/>
              <p:cNvSpPr txBox="true"/>
              <p:nvPr/>
            </p:nvSpPr>
            <p:spPr>
              <a:xfrm>
                <a:off x="0" y="19050"/>
                <a:ext cx="1212364" cy="1353545"/>
              </a:xfrm>
              <a:prstGeom prst="rect">
                <a:avLst/>
              </a:prstGeom>
            </p:spPr>
            <p:txBody>
              <a:bodyPr anchor="ctr" rtlCol="false" tIns="50800" lIns="50800" bIns="50800" rIns="50800"/>
              <a:lstStyle/>
              <a:p>
                <a:pPr algn="ctr">
                  <a:lnSpc>
                    <a:spcPts val="2694"/>
                  </a:lnSpc>
                </a:pPr>
              </a:p>
            </p:txBody>
          </p:sp>
        </p:grpSp>
      </p:grpSp>
      <p:sp>
        <p:nvSpPr>
          <p:cNvPr name="Freeform 40" id="40"/>
          <p:cNvSpPr/>
          <p:nvPr/>
        </p:nvSpPr>
        <p:spPr>
          <a:xfrm flipH="false" flipV="false" rot="0">
            <a:off x="2197410" y="5500581"/>
            <a:ext cx="2110702" cy="1635794"/>
          </a:xfrm>
          <a:custGeom>
            <a:avLst/>
            <a:gdLst/>
            <a:ahLst/>
            <a:cxnLst/>
            <a:rect r="r" b="b" t="t" l="l"/>
            <a:pathLst>
              <a:path h="1635794" w="2110702">
                <a:moveTo>
                  <a:pt x="0" y="0"/>
                </a:moveTo>
                <a:lnTo>
                  <a:pt x="2110702" y="0"/>
                </a:lnTo>
                <a:lnTo>
                  <a:pt x="2110702" y="1635795"/>
                </a:lnTo>
                <a:lnTo>
                  <a:pt x="0" y="1635795"/>
                </a:lnTo>
                <a:lnTo>
                  <a:pt x="0" y="0"/>
                </a:lnTo>
                <a:close/>
              </a:path>
            </a:pathLst>
          </a:custGeom>
          <a:blipFill>
            <a:blip r:embed="rId4"/>
            <a:stretch>
              <a:fillRect l="0" t="0" r="0" b="0"/>
            </a:stretch>
          </a:blipFill>
        </p:spPr>
      </p:sp>
      <p:sp>
        <p:nvSpPr>
          <p:cNvPr name="Freeform 41" id="41"/>
          <p:cNvSpPr/>
          <p:nvPr/>
        </p:nvSpPr>
        <p:spPr>
          <a:xfrm flipH="false" flipV="false" rot="0">
            <a:off x="10302830" y="5389314"/>
            <a:ext cx="1803132" cy="1640850"/>
          </a:xfrm>
          <a:custGeom>
            <a:avLst/>
            <a:gdLst/>
            <a:ahLst/>
            <a:cxnLst/>
            <a:rect r="r" b="b" t="t" l="l"/>
            <a:pathLst>
              <a:path h="1640850" w="1803132">
                <a:moveTo>
                  <a:pt x="0" y="0"/>
                </a:moveTo>
                <a:lnTo>
                  <a:pt x="1803132" y="0"/>
                </a:lnTo>
                <a:lnTo>
                  <a:pt x="1803132" y="1640850"/>
                </a:lnTo>
                <a:lnTo>
                  <a:pt x="0" y="1640850"/>
                </a:lnTo>
                <a:lnTo>
                  <a:pt x="0" y="0"/>
                </a:lnTo>
                <a:close/>
              </a:path>
            </a:pathLst>
          </a:custGeom>
          <a:blipFill>
            <a:blip r:embed="rId5"/>
            <a:stretch>
              <a:fillRect l="0" t="0" r="0" b="0"/>
            </a:stretch>
          </a:blipFill>
        </p:spPr>
      </p:sp>
      <p:sp>
        <p:nvSpPr>
          <p:cNvPr name="Freeform 42" id="42"/>
          <p:cNvSpPr/>
          <p:nvPr/>
        </p:nvSpPr>
        <p:spPr>
          <a:xfrm flipH="false" flipV="false" rot="0">
            <a:off x="6010874" y="5621843"/>
            <a:ext cx="2099627" cy="1175791"/>
          </a:xfrm>
          <a:custGeom>
            <a:avLst/>
            <a:gdLst/>
            <a:ahLst/>
            <a:cxnLst/>
            <a:rect r="r" b="b" t="t" l="l"/>
            <a:pathLst>
              <a:path h="1175791" w="2099627">
                <a:moveTo>
                  <a:pt x="0" y="0"/>
                </a:moveTo>
                <a:lnTo>
                  <a:pt x="2099627" y="0"/>
                </a:lnTo>
                <a:lnTo>
                  <a:pt x="2099627" y="1175791"/>
                </a:lnTo>
                <a:lnTo>
                  <a:pt x="0" y="1175791"/>
                </a:lnTo>
                <a:lnTo>
                  <a:pt x="0" y="0"/>
                </a:lnTo>
                <a:close/>
              </a:path>
            </a:pathLst>
          </a:custGeom>
          <a:blipFill>
            <a:blip r:embed="rId6"/>
            <a:stretch>
              <a:fillRect l="0" t="0" r="0" b="0"/>
            </a:stretch>
          </a:blipFill>
        </p:spPr>
      </p:sp>
      <p:sp>
        <p:nvSpPr>
          <p:cNvPr name="Freeform 43" id="43"/>
          <p:cNvSpPr/>
          <p:nvPr/>
        </p:nvSpPr>
        <p:spPr>
          <a:xfrm flipH="false" flipV="false" rot="0">
            <a:off x="14485326" y="5336208"/>
            <a:ext cx="1878561" cy="1747062"/>
          </a:xfrm>
          <a:custGeom>
            <a:avLst/>
            <a:gdLst/>
            <a:ahLst/>
            <a:cxnLst/>
            <a:rect r="r" b="b" t="t" l="l"/>
            <a:pathLst>
              <a:path h="1747062" w="1878561">
                <a:moveTo>
                  <a:pt x="0" y="0"/>
                </a:moveTo>
                <a:lnTo>
                  <a:pt x="1878561" y="0"/>
                </a:lnTo>
                <a:lnTo>
                  <a:pt x="1878561" y="1747062"/>
                </a:lnTo>
                <a:lnTo>
                  <a:pt x="0" y="1747062"/>
                </a:lnTo>
                <a:lnTo>
                  <a:pt x="0" y="0"/>
                </a:lnTo>
                <a:close/>
              </a:path>
            </a:pathLst>
          </a:custGeom>
          <a:blipFill>
            <a:blip r:embed="rId7"/>
            <a:stretch>
              <a:fillRect l="0" t="0" r="0" b="0"/>
            </a:stretch>
          </a:blipFill>
        </p:spPr>
      </p:sp>
      <p:sp>
        <p:nvSpPr>
          <p:cNvPr name="TextBox 44" id="44"/>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45" id="45"/>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46" id="46"/>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47" id="47"/>
          <p:cNvSpPr txBox="true"/>
          <p:nvPr/>
        </p:nvSpPr>
        <p:spPr>
          <a:xfrm rot="0">
            <a:off x="1133912" y="2266443"/>
            <a:ext cx="12951196" cy="752543"/>
          </a:xfrm>
          <a:prstGeom prst="rect">
            <a:avLst/>
          </a:prstGeom>
        </p:spPr>
        <p:txBody>
          <a:bodyPr anchor="t" rtlCol="false" tIns="0" lIns="0" bIns="0" rIns="0">
            <a:spAutoFit/>
          </a:bodyPr>
          <a:lstStyle/>
          <a:p>
            <a:pPr algn="l" marL="0" indent="0" lvl="0">
              <a:lnSpc>
                <a:spcPts val="5583"/>
              </a:lnSpc>
              <a:spcBef>
                <a:spcPct val="0"/>
              </a:spcBef>
            </a:pPr>
            <a:r>
              <a:rPr lang="en-US" sz="5583">
                <a:solidFill>
                  <a:srgbClr val="000000"/>
                </a:solidFill>
                <a:latin typeface="Aristotelica Pro Condensed"/>
                <a:ea typeface="Aristotelica Pro Condensed"/>
                <a:cs typeface="Aristotelica Pro Condensed"/>
                <a:sym typeface="Aristotelica Pro Condensed"/>
              </a:rPr>
              <a:t>  </a:t>
            </a:r>
            <a:r>
              <a:rPr lang="en-US" b="true" sz="5583">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48" id="48"/>
          <p:cNvSpPr txBox="true"/>
          <p:nvPr/>
        </p:nvSpPr>
        <p:spPr>
          <a:xfrm rot="0">
            <a:off x="4013545" y="3545287"/>
            <a:ext cx="10071563" cy="481747"/>
          </a:xfrm>
          <a:prstGeom prst="rect">
            <a:avLst/>
          </a:prstGeom>
        </p:spPr>
        <p:txBody>
          <a:bodyPr anchor="t" rtlCol="false" tIns="0" lIns="0" bIns="0" rIns="0">
            <a:spAutoFit/>
          </a:bodyPr>
          <a:lstStyle/>
          <a:p>
            <a:pPr algn="just">
              <a:lnSpc>
                <a:spcPts val="3762"/>
              </a:lnSpc>
              <a:spcBef>
                <a:spcPct val="0"/>
              </a:spcBef>
            </a:pPr>
            <a:r>
              <a:rPr lang="en-US" sz="3420">
                <a:solidFill>
                  <a:srgbClr val="000000"/>
                </a:solidFill>
                <a:latin typeface="ไอติม"/>
                <a:ea typeface="ไอติม"/>
                <a:cs typeface="ไอติม"/>
                <a:sym typeface="ไอติม"/>
              </a:rPr>
              <a:t>ติดตามสถานะพัสดุ ที่แต่ละสถานะมีการรับข้อมูลต่างกัน</a:t>
            </a:r>
          </a:p>
        </p:txBody>
      </p:sp>
      <p:sp>
        <p:nvSpPr>
          <p:cNvPr name="TextBox 49" id="49"/>
          <p:cNvSpPr txBox="true"/>
          <p:nvPr/>
        </p:nvSpPr>
        <p:spPr>
          <a:xfrm rot="0">
            <a:off x="2057846" y="7650726"/>
            <a:ext cx="1956683" cy="386913"/>
          </a:xfrm>
          <a:prstGeom prst="rect">
            <a:avLst/>
          </a:prstGeom>
        </p:spPr>
        <p:txBody>
          <a:bodyPr anchor="t" rtlCol="false" tIns="0" lIns="0" bIns="0" rIns="0">
            <a:spAutoFit/>
          </a:bodyPr>
          <a:lstStyle/>
          <a:p>
            <a:pPr algn="ctr">
              <a:lnSpc>
                <a:spcPts val="2987"/>
              </a:lnSpc>
              <a:spcBef>
                <a:spcPct val="0"/>
              </a:spcBef>
            </a:pPr>
            <a:r>
              <a:rPr lang="en-US" sz="2715">
                <a:solidFill>
                  <a:srgbClr val="000000"/>
                </a:solidFill>
                <a:latin typeface="ไอติม"/>
                <a:ea typeface="ไอติม"/>
                <a:cs typeface="ไอติม"/>
                <a:sym typeface="ไอติม"/>
              </a:rPr>
              <a:t>ORDERED</a:t>
            </a:r>
          </a:p>
        </p:txBody>
      </p:sp>
      <p:sp>
        <p:nvSpPr>
          <p:cNvPr name="TextBox 50" id="50"/>
          <p:cNvSpPr txBox="true"/>
          <p:nvPr/>
        </p:nvSpPr>
        <p:spPr>
          <a:xfrm rot="0">
            <a:off x="6401700" y="7650726"/>
            <a:ext cx="1472433" cy="386913"/>
          </a:xfrm>
          <a:prstGeom prst="rect">
            <a:avLst/>
          </a:prstGeom>
        </p:spPr>
        <p:txBody>
          <a:bodyPr anchor="t" rtlCol="false" tIns="0" lIns="0" bIns="0" rIns="0">
            <a:spAutoFit/>
          </a:bodyPr>
          <a:lstStyle/>
          <a:p>
            <a:pPr algn="ctr">
              <a:lnSpc>
                <a:spcPts val="2987"/>
              </a:lnSpc>
              <a:spcBef>
                <a:spcPct val="0"/>
              </a:spcBef>
            </a:pPr>
            <a:r>
              <a:rPr lang="en-US" sz="2715">
                <a:solidFill>
                  <a:srgbClr val="000000"/>
                </a:solidFill>
                <a:latin typeface="ไอติม"/>
                <a:ea typeface="ไอติม"/>
                <a:cs typeface="ไอติม"/>
                <a:sym typeface="ไอติม"/>
              </a:rPr>
              <a:t>SHIPPED</a:t>
            </a:r>
          </a:p>
        </p:txBody>
      </p:sp>
      <p:sp>
        <p:nvSpPr>
          <p:cNvPr name="TextBox 51" id="51"/>
          <p:cNvSpPr txBox="true"/>
          <p:nvPr/>
        </p:nvSpPr>
        <p:spPr>
          <a:xfrm rot="0">
            <a:off x="9648097" y="7667970"/>
            <a:ext cx="3255806" cy="758388"/>
          </a:xfrm>
          <a:prstGeom prst="rect">
            <a:avLst/>
          </a:prstGeom>
        </p:spPr>
        <p:txBody>
          <a:bodyPr anchor="t" rtlCol="false" tIns="0" lIns="0" bIns="0" rIns="0">
            <a:spAutoFit/>
          </a:bodyPr>
          <a:lstStyle/>
          <a:p>
            <a:pPr algn="ctr">
              <a:lnSpc>
                <a:spcPts val="2987"/>
              </a:lnSpc>
            </a:pPr>
            <a:r>
              <a:rPr lang="en-US" sz="2715">
                <a:solidFill>
                  <a:srgbClr val="000000"/>
                </a:solidFill>
                <a:latin typeface="ไอติม"/>
                <a:ea typeface="ไอติม"/>
                <a:cs typeface="ไอติม"/>
                <a:sym typeface="ไอติม"/>
              </a:rPr>
              <a:t>OUT FOR DELIVERY</a:t>
            </a:r>
          </a:p>
          <a:p>
            <a:pPr algn="ctr">
              <a:lnSpc>
                <a:spcPts val="2987"/>
              </a:lnSpc>
              <a:spcBef>
                <a:spcPct val="0"/>
              </a:spcBef>
            </a:pPr>
          </a:p>
        </p:txBody>
      </p:sp>
      <p:sp>
        <p:nvSpPr>
          <p:cNvPr name="TextBox 52" id="52"/>
          <p:cNvSpPr txBox="true"/>
          <p:nvPr/>
        </p:nvSpPr>
        <p:spPr>
          <a:xfrm rot="0">
            <a:off x="14141075" y="7667970"/>
            <a:ext cx="2487863" cy="758388"/>
          </a:xfrm>
          <a:prstGeom prst="rect">
            <a:avLst/>
          </a:prstGeom>
        </p:spPr>
        <p:txBody>
          <a:bodyPr anchor="t" rtlCol="false" tIns="0" lIns="0" bIns="0" rIns="0">
            <a:spAutoFit/>
          </a:bodyPr>
          <a:lstStyle/>
          <a:p>
            <a:pPr algn="ctr">
              <a:lnSpc>
                <a:spcPts val="2987"/>
              </a:lnSpc>
              <a:spcBef>
                <a:spcPct val="0"/>
              </a:spcBef>
            </a:pPr>
            <a:r>
              <a:rPr lang="en-US" sz="2715">
                <a:solidFill>
                  <a:srgbClr val="000000"/>
                </a:solidFill>
                <a:latin typeface="ไอติม"/>
                <a:ea typeface="ไอติม"/>
                <a:cs typeface="ไอติม"/>
                <a:sym typeface="ไอติม"/>
              </a:rPr>
              <a:t>DELIVERED</a:t>
            </a:r>
          </a:p>
          <a:p>
            <a:pPr algn="ctr">
              <a:lnSpc>
                <a:spcPts val="2987"/>
              </a:lnSpc>
              <a:spcBef>
                <a:spcPct val="0"/>
              </a:spcBef>
            </a:pPr>
          </a:p>
        </p:txBody>
      </p:sp>
      <p:sp>
        <p:nvSpPr>
          <p:cNvPr name="Freeform 53" id="53"/>
          <p:cNvSpPr/>
          <p:nvPr/>
        </p:nvSpPr>
        <p:spPr>
          <a:xfrm flipH="false" flipV="false" rot="0">
            <a:off x="8885491" y="6823890"/>
            <a:ext cx="450872" cy="412548"/>
          </a:xfrm>
          <a:custGeom>
            <a:avLst/>
            <a:gdLst/>
            <a:ahLst/>
            <a:cxnLst/>
            <a:rect r="r" b="b" t="t" l="l"/>
            <a:pathLst>
              <a:path h="412548" w="450872">
                <a:moveTo>
                  <a:pt x="0" y="0"/>
                </a:moveTo>
                <a:lnTo>
                  <a:pt x="450871" y="0"/>
                </a:lnTo>
                <a:lnTo>
                  <a:pt x="450871" y="412548"/>
                </a:lnTo>
                <a:lnTo>
                  <a:pt x="0" y="412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607844" cy="788873"/>
            <a:chOff x="0" y="0"/>
            <a:chExt cx="1138380" cy="194893"/>
          </a:xfrm>
        </p:grpSpPr>
        <p:sp>
          <p:nvSpPr>
            <p:cNvPr name="Freeform 9" id="9"/>
            <p:cNvSpPr/>
            <p:nvPr/>
          </p:nvSpPr>
          <p:spPr>
            <a:xfrm flipH="false" flipV="false" rot="0">
              <a:off x="0" y="0"/>
              <a:ext cx="1138380" cy="194893"/>
            </a:xfrm>
            <a:custGeom>
              <a:avLst/>
              <a:gdLst/>
              <a:ahLst/>
              <a:cxnLst/>
              <a:rect r="r" b="b" t="t" l="l"/>
              <a:pathLst>
                <a:path h="194893" w="1138380">
                  <a:moveTo>
                    <a:pt x="65526" y="0"/>
                  </a:moveTo>
                  <a:lnTo>
                    <a:pt x="1072854" y="0"/>
                  </a:lnTo>
                  <a:cubicBezTo>
                    <a:pt x="1109043" y="0"/>
                    <a:pt x="1138380" y="29337"/>
                    <a:pt x="1138380" y="65526"/>
                  </a:cubicBezTo>
                  <a:lnTo>
                    <a:pt x="1138380" y="129367"/>
                  </a:lnTo>
                  <a:cubicBezTo>
                    <a:pt x="1138380" y="165556"/>
                    <a:pt x="1109043" y="194893"/>
                    <a:pt x="1072854" y="194893"/>
                  </a:cubicBezTo>
                  <a:lnTo>
                    <a:pt x="65526" y="194893"/>
                  </a:lnTo>
                  <a:cubicBezTo>
                    <a:pt x="29337" y="194893"/>
                    <a:pt x="0" y="165556"/>
                    <a:pt x="0" y="129367"/>
                  </a:cubicBezTo>
                  <a:lnTo>
                    <a:pt x="0" y="65526"/>
                  </a:lnTo>
                  <a:cubicBezTo>
                    <a:pt x="0" y="29337"/>
                    <a:pt x="29337" y="0"/>
                    <a:pt x="65526" y="0"/>
                  </a:cubicBezTo>
                  <a:close/>
                </a:path>
              </a:pathLst>
            </a:custGeom>
            <a:solidFill>
              <a:srgbClr val="FBD172"/>
            </a:solidFill>
            <a:ln cap="rnd">
              <a:noFill/>
              <a:prstDash val="solid"/>
              <a:round/>
            </a:ln>
          </p:spPr>
        </p:sp>
        <p:sp>
          <p:nvSpPr>
            <p:cNvPr name="TextBox 10" id="10"/>
            <p:cNvSpPr txBox="true"/>
            <p:nvPr/>
          </p:nvSpPr>
          <p:spPr>
            <a:xfrm>
              <a:off x="0" y="19050"/>
              <a:ext cx="1138380" cy="175843"/>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221647" y="3236737"/>
            <a:ext cx="9939007" cy="1090151"/>
            <a:chOff x="0" y="0"/>
            <a:chExt cx="2306480" cy="252984"/>
          </a:xfrm>
        </p:grpSpPr>
        <p:sp>
          <p:nvSpPr>
            <p:cNvPr name="Freeform 12" id="12"/>
            <p:cNvSpPr/>
            <p:nvPr/>
          </p:nvSpPr>
          <p:spPr>
            <a:xfrm flipH="false" flipV="false" rot="0">
              <a:off x="0" y="0"/>
              <a:ext cx="2306480" cy="252984"/>
            </a:xfrm>
            <a:custGeom>
              <a:avLst/>
              <a:gdLst/>
              <a:ahLst/>
              <a:cxnLst/>
              <a:rect r="r" b="b" t="t" l="l"/>
              <a:pathLst>
                <a:path h="252984" w="2306480">
                  <a:moveTo>
                    <a:pt x="0" y="0"/>
                  </a:moveTo>
                  <a:lnTo>
                    <a:pt x="2306480" y="0"/>
                  </a:lnTo>
                  <a:lnTo>
                    <a:pt x="2306480" y="252984"/>
                  </a:lnTo>
                  <a:lnTo>
                    <a:pt x="0" y="252984"/>
                  </a:lnTo>
                  <a:close/>
                </a:path>
              </a:pathLst>
            </a:custGeom>
            <a:solidFill>
              <a:srgbClr val="1C1827"/>
            </a:solidFill>
            <a:ln cap="sq">
              <a:noFill/>
              <a:prstDash val="solid"/>
              <a:miter/>
            </a:ln>
          </p:spPr>
        </p:sp>
        <p:sp>
          <p:nvSpPr>
            <p:cNvPr name="TextBox 13" id="13"/>
            <p:cNvSpPr txBox="true"/>
            <p:nvPr/>
          </p:nvSpPr>
          <p:spPr>
            <a:xfrm>
              <a:off x="0" y="19050"/>
              <a:ext cx="2306480" cy="233934"/>
            </a:xfrm>
            <a:prstGeom prst="rect">
              <a:avLst/>
            </a:prstGeom>
          </p:spPr>
          <p:txBody>
            <a:bodyPr anchor="ctr" rtlCol="false" tIns="49943" lIns="49943" bIns="49943" rIns="49943"/>
            <a:lstStyle/>
            <a:p>
              <a:pPr algn="ctr">
                <a:lnSpc>
                  <a:spcPts val="2694"/>
                </a:lnSpc>
              </a:pPr>
            </a:p>
          </p:txBody>
        </p:sp>
      </p:grpSp>
      <p:sp>
        <p:nvSpPr>
          <p:cNvPr name="Freeform 14" id="14"/>
          <p:cNvSpPr/>
          <p:nvPr/>
        </p:nvSpPr>
        <p:spPr>
          <a:xfrm flipH="false" flipV="false" rot="0">
            <a:off x="1221647" y="3448444"/>
            <a:ext cx="9939007" cy="5555640"/>
          </a:xfrm>
          <a:custGeom>
            <a:avLst/>
            <a:gdLst/>
            <a:ahLst/>
            <a:cxnLst/>
            <a:rect r="r" b="b" t="t" l="l"/>
            <a:pathLst>
              <a:path h="5555640" w="9939007">
                <a:moveTo>
                  <a:pt x="0" y="0"/>
                </a:moveTo>
                <a:lnTo>
                  <a:pt x="9939008" y="0"/>
                </a:lnTo>
                <a:lnTo>
                  <a:pt x="9939008" y="5555640"/>
                </a:lnTo>
                <a:lnTo>
                  <a:pt x="0" y="5555640"/>
                </a:lnTo>
                <a:lnTo>
                  <a:pt x="0" y="0"/>
                </a:lnTo>
                <a:close/>
              </a:path>
            </a:pathLst>
          </a:custGeom>
          <a:blipFill>
            <a:blip r:embed="rId2"/>
            <a:stretch>
              <a:fillRect l="0" t="0" r="0" b="-2035"/>
            </a:stretch>
          </a:blipFill>
        </p:spPr>
      </p:sp>
      <p:sp>
        <p:nvSpPr>
          <p:cNvPr name="TextBox 15" id="15"/>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grpSp>
        <p:nvGrpSpPr>
          <p:cNvPr name="Group 16" id="16"/>
          <p:cNvGrpSpPr/>
          <p:nvPr/>
        </p:nvGrpSpPr>
        <p:grpSpPr>
          <a:xfrm rot="0">
            <a:off x="12182827" y="4492451"/>
            <a:ext cx="5646071" cy="1032666"/>
            <a:chOff x="0" y="0"/>
            <a:chExt cx="7528095" cy="1376888"/>
          </a:xfrm>
        </p:grpSpPr>
        <p:grpSp>
          <p:nvGrpSpPr>
            <p:cNvPr name="Group 17" id="17"/>
            <p:cNvGrpSpPr/>
            <p:nvPr/>
          </p:nvGrpSpPr>
          <p:grpSpPr>
            <a:xfrm rot="0">
              <a:off x="0" y="0"/>
              <a:ext cx="7528095" cy="1376888"/>
              <a:chOff x="0" y="0"/>
              <a:chExt cx="1288133" cy="235599"/>
            </a:xfrm>
          </p:grpSpPr>
          <p:sp>
            <p:nvSpPr>
              <p:cNvPr name="Freeform 18" id="18"/>
              <p:cNvSpPr/>
              <p:nvPr/>
            </p:nvSpPr>
            <p:spPr>
              <a:xfrm flipH="false" flipV="false" rot="0">
                <a:off x="0" y="0"/>
                <a:ext cx="1288133" cy="235599"/>
              </a:xfrm>
              <a:custGeom>
                <a:avLst/>
                <a:gdLst/>
                <a:ahLst/>
                <a:cxnLst/>
                <a:rect r="r" b="b" t="t" l="l"/>
                <a:pathLst>
                  <a:path h="235599" w="1288133">
                    <a:moveTo>
                      <a:pt x="53477" y="0"/>
                    </a:moveTo>
                    <a:lnTo>
                      <a:pt x="1234656" y="0"/>
                    </a:lnTo>
                    <a:cubicBezTo>
                      <a:pt x="1264191" y="0"/>
                      <a:pt x="1288133" y="23942"/>
                      <a:pt x="1288133" y="53477"/>
                    </a:cubicBezTo>
                    <a:lnTo>
                      <a:pt x="1288133" y="182122"/>
                    </a:lnTo>
                    <a:cubicBezTo>
                      <a:pt x="1288133" y="211657"/>
                      <a:pt x="1264191" y="235599"/>
                      <a:pt x="1234656" y="235599"/>
                    </a:cubicBezTo>
                    <a:lnTo>
                      <a:pt x="53477" y="235599"/>
                    </a:lnTo>
                    <a:cubicBezTo>
                      <a:pt x="39294" y="235599"/>
                      <a:pt x="25692" y="229965"/>
                      <a:pt x="15663" y="219936"/>
                    </a:cubicBezTo>
                    <a:cubicBezTo>
                      <a:pt x="5634" y="209908"/>
                      <a:pt x="0" y="196305"/>
                      <a:pt x="0" y="182122"/>
                    </a:cubicBezTo>
                    <a:lnTo>
                      <a:pt x="0" y="53477"/>
                    </a:lnTo>
                    <a:cubicBezTo>
                      <a:pt x="0" y="23942"/>
                      <a:pt x="23942" y="0"/>
                      <a:pt x="53477" y="0"/>
                    </a:cubicBezTo>
                    <a:close/>
                  </a:path>
                </a:pathLst>
              </a:custGeom>
              <a:solidFill>
                <a:srgbClr val="FFFFFF"/>
              </a:solidFill>
              <a:ln w="76200" cap="rnd">
                <a:solidFill>
                  <a:srgbClr val="FCE1B1"/>
                </a:solidFill>
                <a:prstDash val="solid"/>
                <a:round/>
              </a:ln>
            </p:spPr>
          </p:sp>
          <p:sp>
            <p:nvSpPr>
              <p:cNvPr name="TextBox 19" id="19"/>
              <p:cNvSpPr txBox="true"/>
              <p:nvPr/>
            </p:nvSpPr>
            <p:spPr>
              <a:xfrm>
                <a:off x="0" y="19050"/>
                <a:ext cx="1288133" cy="216549"/>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314215" y="336045"/>
              <a:ext cx="7162913"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#1 สร้าง ENUM </a:t>
              </a:r>
            </a:p>
          </p:txBody>
        </p:sp>
      </p:grpSp>
      <p:sp>
        <p:nvSpPr>
          <p:cNvPr name="TextBox 21" id="21"/>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2" id="22"/>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3" id="23"/>
          <p:cNvSpPr txBox="true"/>
          <p:nvPr/>
        </p:nvSpPr>
        <p:spPr>
          <a:xfrm rot="0">
            <a:off x="11875963" y="6003997"/>
            <a:ext cx="6259798" cy="1608118"/>
          </a:xfrm>
          <a:prstGeom prst="rect">
            <a:avLst/>
          </a:prstGeom>
        </p:spPr>
        <p:txBody>
          <a:bodyPr anchor="t" rtlCol="false" tIns="0" lIns="0" bIns="0" rIns="0">
            <a:spAutoFit/>
          </a:bodyPr>
          <a:lstStyle/>
          <a:p>
            <a:pPr algn="ctr">
              <a:lnSpc>
                <a:spcPts val="3160"/>
              </a:lnSpc>
            </a:pPr>
            <a:r>
              <a:rPr lang="en-US" sz="2873">
                <a:solidFill>
                  <a:srgbClr val="000000"/>
                </a:solidFill>
                <a:latin typeface="ไอติม"/>
                <a:ea typeface="ไอติม"/>
                <a:cs typeface="ไอติม"/>
                <a:sym typeface="ไอติม"/>
              </a:rPr>
              <a:t>สร้างสถานะของพัสดุที่สามารถเป็นไปได้</a:t>
            </a:r>
          </a:p>
          <a:p>
            <a:pPr algn="ctr">
              <a:lnSpc>
                <a:spcPts val="3160"/>
              </a:lnSpc>
            </a:pPr>
            <a:r>
              <a:rPr lang="en-US" sz="2873">
                <a:solidFill>
                  <a:srgbClr val="000000"/>
                </a:solidFill>
                <a:latin typeface="ไอติม"/>
                <a:ea typeface="ไอติม"/>
                <a:cs typeface="ไอติม"/>
                <a:sym typeface="ไอติม"/>
              </a:rPr>
              <a:t>โดยมี 3 VARIANT</a:t>
            </a:r>
          </a:p>
          <a:p>
            <a:pPr algn="ctr">
              <a:lnSpc>
                <a:spcPts val="3160"/>
              </a:lnSpc>
            </a:pPr>
          </a:p>
          <a:p>
            <a:pPr algn="ctr">
              <a:lnSpc>
                <a:spcPts val="3160"/>
              </a:lnSpc>
              <a:spcBef>
                <a:spcPct val="0"/>
              </a:spcBef>
            </a:pPr>
            <a:r>
              <a:rPr lang="en-US" sz="2873">
                <a:solidFill>
                  <a:srgbClr val="F05E5E"/>
                </a:solidFill>
                <a:latin typeface="ไอติม"/>
                <a:ea typeface="ไอติม"/>
                <a:cs typeface="ไอติม"/>
                <a:sym typeface="ไอติม"/>
              </a:rPr>
              <a:t>**</a:t>
            </a:r>
            <a:r>
              <a:rPr lang="en-US" sz="2873">
                <a:solidFill>
                  <a:srgbClr val="000000"/>
                </a:solidFill>
                <a:latin typeface="ไอติม"/>
                <a:ea typeface="ไอติม"/>
                <a:cs typeface="ไอติม"/>
                <a:sym typeface="ไอติม"/>
              </a:rPr>
              <a:t>ต้องตั้งชื่อขึ้นต้นด้วยตัวใหญ่เท่านั้น</a:t>
            </a:r>
            <a:r>
              <a:rPr lang="en-US" sz="2873">
                <a:solidFill>
                  <a:srgbClr val="F05E5E"/>
                </a:solidFill>
                <a:latin typeface="ไอติม"/>
                <a:ea typeface="ไอติม"/>
                <a:cs typeface="ไอติม"/>
                <a:sym typeface="ไอติม"/>
              </a:rPr>
              <a:t>**</a:t>
            </a:r>
          </a:p>
        </p:txBody>
      </p:sp>
      <p:sp>
        <p:nvSpPr>
          <p:cNvPr name="TextBox 24" id="24"/>
          <p:cNvSpPr txBox="true"/>
          <p:nvPr/>
        </p:nvSpPr>
        <p:spPr>
          <a:xfrm rot="0">
            <a:off x="1221647" y="21152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[1] PackageStatus</a:t>
            </a:r>
          </a:p>
        </p:txBody>
      </p:sp>
      <p:sp>
        <p:nvSpPr>
          <p:cNvPr name="TextBox 25" id="25"/>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AutoShape 26" id="26"/>
          <p:cNvSpPr/>
          <p:nvPr/>
        </p:nvSpPr>
        <p:spPr>
          <a:xfrm flipH="true">
            <a:off x="5346690" y="4298684"/>
            <a:ext cx="3662026" cy="28204"/>
          </a:xfrm>
          <a:prstGeom prst="line">
            <a:avLst/>
          </a:prstGeom>
          <a:ln cap="flat" w="66675">
            <a:solidFill>
              <a:srgbClr val="CF4327"/>
            </a:solidFill>
            <a:prstDash val="solid"/>
            <a:headEnd type="none" len="sm" w="sm"/>
            <a:tailEnd type="triangle" len="med" w="lg"/>
          </a:ln>
        </p:spPr>
      </p:sp>
      <p:sp>
        <p:nvSpPr>
          <p:cNvPr name="Freeform 27" id="27"/>
          <p:cNvSpPr/>
          <p:nvPr/>
        </p:nvSpPr>
        <p:spPr>
          <a:xfrm>
            <a:off x="5460348" y="4298684"/>
            <a:ext cx="6579957" cy="3551744"/>
          </a:xfrm>
          <a:custGeom>
            <a:avLst/>
            <a:gdLst/>
            <a:ahLst/>
            <a:cxnLst/>
            <a:rect r="r" b="b" t="t" l="l"/>
            <a:pathLst>
              <a:path h="3551744" w="6579957">
                <a:moveTo>
                  <a:pt x="5863309" y="0"/>
                </a:moveTo>
                <a:lnTo>
                  <a:pt x="6351357" y="0"/>
                </a:lnTo>
                <a:cubicBezTo>
                  <a:pt x="6411985" y="0"/>
                  <a:pt x="6470131" y="24085"/>
                  <a:pt x="6513001" y="66955"/>
                </a:cubicBezTo>
                <a:cubicBezTo>
                  <a:pt x="6555872" y="109826"/>
                  <a:pt x="6579957" y="167972"/>
                  <a:pt x="6579957" y="228600"/>
                </a:cubicBezTo>
                <a:lnTo>
                  <a:pt x="6579957" y="3323144"/>
                </a:lnTo>
                <a:cubicBezTo>
                  <a:pt x="6579957" y="3449396"/>
                  <a:pt x="6477609" y="3551744"/>
                  <a:pt x="6351357" y="3551744"/>
                </a:cubicBezTo>
                <a:lnTo>
                  <a:pt x="0" y="3551744"/>
                </a:lnTo>
              </a:path>
            </a:pathLst>
          </a:custGeom>
          <a:ln cap="flat" w="66675">
            <a:solidFill>
              <a:srgbClr val="CF4327"/>
            </a:solidFill>
            <a:prstDash val="solid"/>
            <a:headEnd type="none" len="sm" w="sm"/>
            <a:tailEnd type="triangle" len="med" w="lg"/>
          </a:ln>
        </p:spPr>
      </p:sp>
      <p:grpSp>
        <p:nvGrpSpPr>
          <p:cNvPr name="Group 28" id="28"/>
          <p:cNvGrpSpPr/>
          <p:nvPr/>
        </p:nvGrpSpPr>
        <p:grpSpPr>
          <a:xfrm rot="0">
            <a:off x="8220590" y="4031142"/>
            <a:ext cx="3917472" cy="535085"/>
            <a:chOff x="0" y="0"/>
            <a:chExt cx="5223296" cy="713446"/>
          </a:xfrm>
        </p:grpSpPr>
        <p:grpSp>
          <p:nvGrpSpPr>
            <p:cNvPr name="Group 29" id="29"/>
            <p:cNvGrpSpPr/>
            <p:nvPr/>
          </p:nvGrpSpPr>
          <p:grpSpPr>
            <a:xfrm rot="0">
              <a:off x="1050833" y="0"/>
              <a:ext cx="3086589" cy="713446"/>
              <a:chOff x="0" y="0"/>
              <a:chExt cx="541454" cy="125154"/>
            </a:xfrm>
          </p:grpSpPr>
          <p:sp>
            <p:nvSpPr>
              <p:cNvPr name="Freeform 30" id="30"/>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990941"/>
                </a:solidFill>
                <a:prstDash val="solid"/>
                <a:round/>
              </a:ln>
            </p:spPr>
          </p:sp>
          <p:sp>
            <p:nvSpPr>
              <p:cNvPr name="TextBox 31" id="31"/>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2" id="32"/>
            <p:cNvSpPr txBox="true"/>
            <p:nvPr/>
          </p:nvSpPr>
          <p:spPr>
            <a:xfrm rot="0">
              <a:off x="0" y="121466"/>
              <a:ext cx="5223296"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Itim"/>
                  <a:ea typeface="Itim"/>
                  <a:cs typeface="Itim"/>
                  <a:sym typeface="Itim"/>
                </a:rPr>
                <a:t>Unit Variant</a:t>
              </a:r>
            </a:p>
          </p:txBody>
        </p:sp>
      </p:grpSp>
      <p:grpSp>
        <p:nvGrpSpPr>
          <p:cNvPr name="Group 33" id="33"/>
          <p:cNvGrpSpPr/>
          <p:nvPr/>
        </p:nvGrpSpPr>
        <p:grpSpPr>
          <a:xfrm rot="0">
            <a:off x="8207450" y="4717117"/>
            <a:ext cx="3917472" cy="535085"/>
            <a:chOff x="0" y="0"/>
            <a:chExt cx="5223296" cy="713446"/>
          </a:xfrm>
        </p:grpSpPr>
        <p:grpSp>
          <p:nvGrpSpPr>
            <p:cNvPr name="Group 34" id="34"/>
            <p:cNvGrpSpPr/>
            <p:nvPr/>
          </p:nvGrpSpPr>
          <p:grpSpPr>
            <a:xfrm rot="0">
              <a:off x="1068353" y="0"/>
              <a:ext cx="3086589" cy="713446"/>
              <a:chOff x="0" y="0"/>
              <a:chExt cx="541454" cy="125154"/>
            </a:xfrm>
          </p:grpSpPr>
          <p:sp>
            <p:nvSpPr>
              <p:cNvPr name="Freeform 35" id="35"/>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145DA0"/>
                </a:solidFill>
                <a:prstDash val="solid"/>
                <a:round/>
              </a:ln>
            </p:spPr>
          </p:sp>
          <p:sp>
            <p:nvSpPr>
              <p:cNvPr name="TextBox 36" id="36"/>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7" id="37"/>
            <p:cNvSpPr txBox="true"/>
            <p:nvPr/>
          </p:nvSpPr>
          <p:spPr>
            <a:xfrm rot="0">
              <a:off x="0" y="119441"/>
              <a:ext cx="5223296"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ไอติม"/>
                  <a:ea typeface="ไอติม"/>
                  <a:cs typeface="ไอติม"/>
                  <a:sym typeface="ไอติม"/>
                </a:rPr>
                <a:t>Tuple Variant</a:t>
              </a:r>
            </a:p>
          </p:txBody>
        </p:sp>
      </p:grpSp>
      <p:grpSp>
        <p:nvGrpSpPr>
          <p:cNvPr name="Group 38" id="38"/>
          <p:cNvGrpSpPr/>
          <p:nvPr/>
        </p:nvGrpSpPr>
        <p:grpSpPr>
          <a:xfrm rot="0">
            <a:off x="8220590" y="5979856"/>
            <a:ext cx="3917472" cy="591493"/>
            <a:chOff x="0" y="0"/>
            <a:chExt cx="5223296" cy="788658"/>
          </a:xfrm>
        </p:grpSpPr>
        <p:grpSp>
          <p:nvGrpSpPr>
            <p:cNvPr name="Group 39" id="39"/>
            <p:cNvGrpSpPr/>
            <p:nvPr/>
          </p:nvGrpSpPr>
          <p:grpSpPr>
            <a:xfrm rot="0">
              <a:off x="905658" y="0"/>
              <a:ext cx="3411979" cy="788658"/>
              <a:chOff x="0" y="0"/>
              <a:chExt cx="541454" cy="125154"/>
            </a:xfrm>
          </p:grpSpPr>
          <p:sp>
            <p:nvSpPr>
              <p:cNvPr name="Freeform 40" id="40"/>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31B753"/>
                </a:solidFill>
                <a:prstDash val="solid"/>
                <a:round/>
              </a:ln>
            </p:spPr>
          </p:sp>
          <p:sp>
            <p:nvSpPr>
              <p:cNvPr name="TextBox 41" id="41"/>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42" id="42"/>
            <p:cNvSpPr txBox="true"/>
            <p:nvPr/>
          </p:nvSpPr>
          <p:spPr>
            <a:xfrm rot="0">
              <a:off x="0" y="162220"/>
              <a:ext cx="5223296"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Itim"/>
                  <a:ea typeface="Itim"/>
                  <a:cs typeface="Itim"/>
                  <a:sym typeface="Itim"/>
                </a:rPr>
                <a:t>Struct Variant</a:t>
              </a:r>
            </a:p>
          </p:txBody>
        </p:sp>
      </p:grpSp>
      <p:sp>
        <p:nvSpPr>
          <p:cNvPr name="AutoShape 43" id="43"/>
          <p:cNvSpPr/>
          <p:nvPr/>
        </p:nvSpPr>
        <p:spPr>
          <a:xfrm flipH="true" flipV="true">
            <a:off x="6727719" y="4994095"/>
            <a:ext cx="2281541" cy="0"/>
          </a:xfrm>
          <a:prstGeom prst="line">
            <a:avLst/>
          </a:prstGeom>
          <a:ln cap="flat" w="66675">
            <a:solidFill>
              <a:srgbClr val="27AAE1"/>
            </a:solidFill>
            <a:prstDash val="solid"/>
            <a:headEnd type="none" len="sm" w="sm"/>
            <a:tailEnd type="triangle" len="med" w="lg"/>
          </a:ln>
        </p:spPr>
      </p:sp>
      <p:sp>
        <p:nvSpPr>
          <p:cNvPr name="Freeform 44" id="44"/>
          <p:cNvSpPr/>
          <p:nvPr/>
        </p:nvSpPr>
        <p:spPr>
          <a:xfrm>
            <a:off x="6488486" y="5578923"/>
            <a:ext cx="3690840" cy="400933"/>
          </a:xfrm>
          <a:custGeom>
            <a:avLst/>
            <a:gdLst/>
            <a:ahLst/>
            <a:cxnLst/>
            <a:rect r="r" b="b" t="t" l="l"/>
            <a:pathLst>
              <a:path h="400933" w="3690840">
                <a:moveTo>
                  <a:pt x="3690840" y="400933"/>
                </a:moveTo>
                <a:lnTo>
                  <a:pt x="3690840" y="200467"/>
                </a:lnTo>
                <a:cubicBezTo>
                  <a:pt x="3690840" y="89752"/>
                  <a:pt x="3601088" y="0"/>
                  <a:pt x="3490373" y="0"/>
                </a:cubicBezTo>
                <a:lnTo>
                  <a:pt x="0" y="0"/>
                </a:lnTo>
              </a:path>
            </a:pathLst>
          </a:custGeom>
          <a:ln cap="flat" w="66675">
            <a:solidFill>
              <a:srgbClr val="31B753"/>
            </a:solidFill>
            <a:prstDash val="solid"/>
            <a:headEnd type="none" len="sm" w="sm"/>
            <a:tailEnd type="triangle" len="med" w="lg"/>
          </a:ln>
        </p:spPr>
      </p:sp>
    </p:spTree>
  </p:cSld>
  <p:clrMapOvr>
    <a:masterClrMapping/>
  </p:clrMapOvr>
  <p:transition spd="fast">
    <p:push dir="l"/>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21988" y="3160537"/>
            <a:ext cx="17044023" cy="3510502"/>
          </a:xfrm>
          <a:custGeom>
            <a:avLst/>
            <a:gdLst/>
            <a:ahLst/>
            <a:cxnLst/>
            <a:rect r="r" b="b" t="t" l="l"/>
            <a:pathLst>
              <a:path h="3510502" w="17044023">
                <a:moveTo>
                  <a:pt x="0" y="0"/>
                </a:moveTo>
                <a:lnTo>
                  <a:pt x="17044024" y="0"/>
                </a:lnTo>
                <a:lnTo>
                  <a:pt x="17044024" y="3510503"/>
                </a:lnTo>
                <a:lnTo>
                  <a:pt x="0" y="3510503"/>
                </a:lnTo>
                <a:lnTo>
                  <a:pt x="0" y="0"/>
                </a:lnTo>
                <a:close/>
              </a:path>
            </a:pathLst>
          </a:custGeom>
          <a:blipFill>
            <a:blip r:embed="rId2"/>
            <a:stretch>
              <a:fillRect l="0" t="0" r="-2296" b="0"/>
            </a:stretch>
          </a:blipFill>
        </p:spPr>
      </p:sp>
      <p:grpSp>
        <p:nvGrpSpPr>
          <p:cNvPr name="Group 12" id="12"/>
          <p:cNvGrpSpPr/>
          <p:nvPr/>
        </p:nvGrpSpPr>
        <p:grpSpPr>
          <a:xfrm rot="0">
            <a:off x="155" y="7066019"/>
            <a:ext cx="8188794" cy="1032666"/>
            <a:chOff x="0" y="0"/>
            <a:chExt cx="10918392" cy="1376888"/>
          </a:xfrm>
        </p:grpSpPr>
        <p:grpSp>
          <p:nvGrpSpPr>
            <p:cNvPr name="Group 13" id="13"/>
            <p:cNvGrpSpPr/>
            <p:nvPr/>
          </p:nvGrpSpPr>
          <p:grpSpPr>
            <a:xfrm rot="0">
              <a:off x="1671922" y="0"/>
              <a:ext cx="7528095" cy="1376888"/>
              <a:chOff x="0" y="0"/>
              <a:chExt cx="1288133" cy="235599"/>
            </a:xfrm>
          </p:grpSpPr>
          <p:sp>
            <p:nvSpPr>
              <p:cNvPr name="Freeform 14" id="14"/>
              <p:cNvSpPr/>
              <p:nvPr/>
            </p:nvSpPr>
            <p:spPr>
              <a:xfrm flipH="false" flipV="false" rot="0">
                <a:off x="0" y="0"/>
                <a:ext cx="1288133" cy="235599"/>
              </a:xfrm>
              <a:custGeom>
                <a:avLst/>
                <a:gdLst/>
                <a:ahLst/>
                <a:cxnLst/>
                <a:rect r="r" b="b" t="t" l="l"/>
                <a:pathLst>
                  <a:path h="235599" w="1288133">
                    <a:moveTo>
                      <a:pt x="53477" y="0"/>
                    </a:moveTo>
                    <a:lnTo>
                      <a:pt x="1234656" y="0"/>
                    </a:lnTo>
                    <a:cubicBezTo>
                      <a:pt x="1264191" y="0"/>
                      <a:pt x="1288133" y="23942"/>
                      <a:pt x="1288133" y="53477"/>
                    </a:cubicBezTo>
                    <a:lnTo>
                      <a:pt x="1288133" y="182122"/>
                    </a:lnTo>
                    <a:cubicBezTo>
                      <a:pt x="1288133" y="211657"/>
                      <a:pt x="1264191" y="235599"/>
                      <a:pt x="1234656" y="235599"/>
                    </a:cubicBezTo>
                    <a:lnTo>
                      <a:pt x="53477" y="235599"/>
                    </a:lnTo>
                    <a:cubicBezTo>
                      <a:pt x="39294" y="235599"/>
                      <a:pt x="25692" y="229965"/>
                      <a:pt x="15663" y="219936"/>
                    </a:cubicBezTo>
                    <a:cubicBezTo>
                      <a:pt x="5634" y="209908"/>
                      <a:pt x="0" y="196305"/>
                      <a:pt x="0" y="182122"/>
                    </a:cubicBezTo>
                    <a:lnTo>
                      <a:pt x="0" y="53477"/>
                    </a:lnTo>
                    <a:cubicBezTo>
                      <a:pt x="0" y="23942"/>
                      <a:pt x="23942" y="0"/>
                      <a:pt x="53477" y="0"/>
                    </a:cubicBezTo>
                    <a:close/>
                  </a:path>
                </a:pathLst>
              </a:custGeom>
              <a:solidFill>
                <a:srgbClr val="FFFFFF"/>
              </a:solidFill>
              <a:ln w="76200" cap="rnd">
                <a:solidFill>
                  <a:srgbClr val="FCE1B1"/>
                </a:solidFill>
                <a:prstDash val="solid"/>
                <a:round/>
              </a:ln>
            </p:spPr>
          </p:sp>
          <p:sp>
            <p:nvSpPr>
              <p:cNvPr name="TextBox 15" id="15"/>
              <p:cNvSpPr txBox="true"/>
              <p:nvPr/>
            </p:nvSpPr>
            <p:spPr>
              <a:xfrm>
                <a:off x="0" y="19050"/>
                <a:ext cx="1288133" cy="216549"/>
              </a:xfrm>
              <a:prstGeom prst="rect">
                <a:avLst/>
              </a:prstGeom>
            </p:spPr>
            <p:txBody>
              <a:bodyPr anchor="ctr" rtlCol="false" tIns="50800" lIns="50800" bIns="50800" rIns="50800"/>
              <a:lstStyle/>
              <a:p>
                <a:pPr algn="ctr">
                  <a:lnSpc>
                    <a:spcPts val="2694"/>
                  </a:lnSpc>
                </a:pPr>
              </a:p>
            </p:txBody>
          </p:sp>
        </p:grpSp>
        <p:sp>
          <p:nvSpPr>
            <p:cNvPr name="TextBox 16" id="16"/>
            <p:cNvSpPr txBox="true"/>
            <p:nvPr/>
          </p:nvSpPr>
          <p:spPr>
            <a:xfrm rot="0">
              <a:off x="0" y="291377"/>
              <a:ext cx="9279762" cy="684677"/>
            </a:xfrm>
            <a:prstGeom prst="rect">
              <a:avLst/>
            </a:prstGeom>
          </p:spPr>
          <p:txBody>
            <a:bodyPr anchor="t" rtlCol="false" tIns="0" lIns="0" bIns="0" rIns="0">
              <a:spAutoFit/>
            </a:bodyPr>
            <a:lstStyle/>
            <a:p>
              <a:pPr algn="ctr">
                <a:lnSpc>
                  <a:spcPts val="3809"/>
                </a:lnSpc>
                <a:spcBef>
                  <a:spcPct val="0"/>
                </a:spcBef>
              </a:pPr>
              <a:r>
                <a:rPr lang="en-US" sz="3463">
                  <a:solidFill>
                    <a:srgbClr val="000000"/>
                  </a:solidFill>
                  <a:latin typeface="ไอติม"/>
                  <a:ea typeface="ไอติม"/>
                  <a:cs typeface="ไอติม"/>
                  <a:sym typeface="ไอติม"/>
                </a:rPr>
                <a:t>#2                แต่ละ    </a:t>
              </a:r>
            </a:p>
          </p:txBody>
        </p:sp>
        <p:sp>
          <p:nvSpPr>
            <p:cNvPr name="TextBox 17" id="17"/>
            <p:cNvSpPr txBox="true"/>
            <p:nvPr/>
          </p:nvSpPr>
          <p:spPr>
            <a:xfrm rot="0">
              <a:off x="3318494" y="345376"/>
              <a:ext cx="7599898" cy="630678"/>
            </a:xfrm>
            <a:prstGeom prst="rect">
              <a:avLst/>
            </a:prstGeom>
          </p:spPr>
          <p:txBody>
            <a:bodyPr anchor="t" rtlCol="false" tIns="0" lIns="0" bIns="0" rIns="0">
              <a:spAutoFit/>
            </a:bodyPr>
            <a:lstStyle/>
            <a:p>
              <a:pPr algn="l" marL="0" indent="0" lvl="0">
                <a:lnSpc>
                  <a:spcPts val="3434"/>
                </a:lnSpc>
                <a:spcBef>
                  <a:spcPct val="0"/>
                </a:spcBef>
              </a:pPr>
              <a:r>
                <a:rPr lang="en-US" sz="3434">
                  <a:solidFill>
                    <a:srgbClr val="280C07"/>
                  </a:solidFill>
                  <a:latin typeface="ไอติม"/>
                  <a:ea typeface="ไอติม"/>
                  <a:cs typeface="ไอติม"/>
                  <a:sym typeface="ไอติม"/>
                </a:rPr>
                <a:t>match             variant</a:t>
              </a:r>
            </a:p>
          </p:txBody>
        </p:sp>
      </p:grpSp>
      <p:sp>
        <p:nvSpPr>
          <p:cNvPr name="Freeform 18" id="18"/>
          <p:cNvSpPr/>
          <p:nvPr/>
        </p:nvSpPr>
        <p:spPr>
          <a:xfrm flipH="false" flipV="false" rot="0">
            <a:off x="644999" y="3222385"/>
            <a:ext cx="9720134" cy="385532"/>
          </a:xfrm>
          <a:custGeom>
            <a:avLst/>
            <a:gdLst/>
            <a:ahLst/>
            <a:cxnLst/>
            <a:rect r="r" b="b" t="t" l="l"/>
            <a:pathLst>
              <a:path h="385532" w="9720134">
                <a:moveTo>
                  <a:pt x="0" y="0"/>
                </a:moveTo>
                <a:lnTo>
                  <a:pt x="9720134" y="0"/>
                </a:lnTo>
                <a:lnTo>
                  <a:pt x="9720134" y="385532"/>
                </a:lnTo>
                <a:lnTo>
                  <a:pt x="0" y="385532"/>
                </a:lnTo>
                <a:lnTo>
                  <a:pt x="0" y="0"/>
                </a:lnTo>
                <a:close/>
              </a:path>
            </a:pathLst>
          </a:custGeom>
          <a:blipFill>
            <a:blip r:embed="rId2"/>
            <a:stretch>
              <a:fillRect l="0" t="0" r="-79375" b="-810560"/>
            </a:stretch>
          </a:blipFill>
        </p:spPr>
      </p:sp>
      <p:grpSp>
        <p:nvGrpSpPr>
          <p:cNvPr name="Group 19" id="19"/>
          <p:cNvGrpSpPr/>
          <p:nvPr/>
        </p:nvGrpSpPr>
        <p:grpSpPr>
          <a:xfrm rot="0">
            <a:off x="644999" y="3222385"/>
            <a:ext cx="207506" cy="385532"/>
            <a:chOff x="0" y="0"/>
            <a:chExt cx="54652" cy="101539"/>
          </a:xfrm>
        </p:grpSpPr>
        <p:sp>
          <p:nvSpPr>
            <p:cNvPr name="Freeform 20" id="20"/>
            <p:cNvSpPr/>
            <p:nvPr/>
          </p:nvSpPr>
          <p:spPr>
            <a:xfrm flipH="false" flipV="false" rot="0">
              <a:off x="0" y="0"/>
              <a:ext cx="54652" cy="101539"/>
            </a:xfrm>
            <a:custGeom>
              <a:avLst/>
              <a:gdLst/>
              <a:ahLst/>
              <a:cxnLst/>
              <a:rect r="r" b="b" t="t" l="l"/>
              <a:pathLst>
                <a:path h="101539" w="54652">
                  <a:moveTo>
                    <a:pt x="0" y="0"/>
                  </a:moveTo>
                  <a:lnTo>
                    <a:pt x="54652" y="0"/>
                  </a:lnTo>
                  <a:lnTo>
                    <a:pt x="54652" y="101539"/>
                  </a:lnTo>
                  <a:lnTo>
                    <a:pt x="0" y="101539"/>
                  </a:lnTo>
                  <a:close/>
                </a:path>
              </a:pathLst>
            </a:custGeom>
            <a:solidFill>
              <a:srgbClr val="145DA0">
                <a:alpha val="0"/>
              </a:srgbClr>
            </a:solidFill>
          </p:spPr>
        </p:sp>
        <p:sp>
          <p:nvSpPr>
            <p:cNvPr name="TextBox 21" id="21"/>
            <p:cNvSpPr txBox="true"/>
            <p:nvPr/>
          </p:nvSpPr>
          <p:spPr>
            <a:xfrm>
              <a:off x="0" y="19050"/>
              <a:ext cx="54652" cy="82489"/>
            </a:xfrm>
            <a:prstGeom prst="rect">
              <a:avLst/>
            </a:prstGeom>
          </p:spPr>
          <p:txBody>
            <a:bodyPr anchor="ctr" rtlCol="false" tIns="50800" lIns="50800" bIns="50800" rIns="50800"/>
            <a:lstStyle/>
            <a:p>
              <a:pPr algn="ctr">
                <a:lnSpc>
                  <a:spcPts val="2694"/>
                </a:lnSpc>
              </a:pPr>
            </a:p>
          </p:txBody>
        </p:sp>
      </p:grpSp>
      <p:sp>
        <p:nvSpPr>
          <p:cNvPr name="TextBox 22" id="2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3" id="2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4" id="2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5" id="25"/>
          <p:cNvSpPr txBox="true"/>
          <p:nvPr/>
        </p:nvSpPr>
        <p:spPr>
          <a:xfrm rot="0">
            <a:off x="1221647" y="21152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6" id="26"/>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7" id="27"/>
          <p:cNvGrpSpPr/>
          <p:nvPr/>
        </p:nvGrpSpPr>
        <p:grpSpPr>
          <a:xfrm rot="0">
            <a:off x="198583" y="8350272"/>
            <a:ext cx="11251945" cy="902983"/>
            <a:chOff x="0" y="0"/>
            <a:chExt cx="15002593" cy="1203978"/>
          </a:xfrm>
        </p:grpSpPr>
        <p:sp>
          <p:nvSpPr>
            <p:cNvPr name="TextBox 28" id="28"/>
            <p:cNvSpPr txBox="true"/>
            <p:nvPr/>
          </p:nvSpPr>
          <p:spPr>
            <a:xfrm rot="0">
              <a:off x="0" y="28575"/>
              <a:ext cx="15002593" cy="1127640"/>
            </a:xfrm>
            <a:prstGeom prst="rect">
              <a:avLst/>
            </a:prstGeom>
          </p:spPr>
          <p:txBody>
            <a:bodyPr anchor="t" rtlCol="false" tIns="0" lIns="0" bIns="0" rIns="0">
              <a:spAutoFit/>
            </a:bodyPr>
            <a:lstStyle/>
            <a:p>
              <a:pPr algn="ctr">
                <a:lnSpc>
                  <a:spcPts val="3265"/>
                </a:lnSpc>
              </a:pPr>
              <a:r>
                <a:rPr lang="en-US" sz="2968">
                  <a:solidFill>
                    <a:srgbClr val="000000"/>
                  </a:solidFill>
                  <a:latin typeface="ไอติม"/>
                  <a:ea typeface="ไอติม"/>
                  <a:cs typeface="ไอติม"/>
                  <a:sym typeface="ไอติม"/>
                </a:rPr>
                <a:t>รับสถานะพัสดุจากนั้นคืนข้อความบอกลูกค้า </a:t>
              </a:r>
            </a:p>
            <a:p>
              <a:pPr algn="ctr">
                <a:lnSpc>
                  <a:spcPts val="3265"/>
                </a:lnSpc>
                <a:spcBef>
                  <a:spcPct val="0"/>
                </a:spcBef>
              </a:pPr>
              <a:r>
                <a:rPr lang="en-US" sz="2968">
                  <a:solidFill>
                    <a:srgbClr val="000000"/>
                  </a:solidFill>
                  <a:latin typeface="ไอติม"/>
                  <a:ea typeface="ไอติม"/>
                  <a:cs typeface="ไอติม"/>
                  <a:sym typeface="ไอติม"/>
                </a:rPr>
                <a:t>ผ่านการ              แยกตามชนิดของสถานะ</a:t>
              </a:r>
            </a:p>
          </p:txBody>
        </p:sp>
        <p:sp>
          <p:nvSpPr>
            <p:cNvPr name="TextBox 29" id="29"/>
            <p:cNvSpPr txBox="true"/>
            <p:nvPr/>
          </p:nvSpPr>
          <p:spPr>
            <a:xfrm rot="0">
              <a:off x="5338532" y="625733"/>
              <a:ext cx="4325530" cy="578245"/>
            </a:xfrm>
            <a:prstGeom prst="rect">
              <a:avLst/>
            </a:prstGeom>
          </p:spPr>
          <p:txBody>
            <a:bodyPr anchor="t" rtlCol="false" tIns="0" lIns="0" bIns="0" rIns="0">
              <a:spAutoFit/>
            </a:bodyPr>
            <a:lstStyle/>
            <a:p>
              <a:pPr algn="l" marL="0" indent="0" lvl="0">
                <a:lnSpc>
                  <a:spcPts val="3088"/>
                </a:lnSpc>
                <a:spcBef>
                  <a:spcPct val="0"/>
                </a:spcBef>
              </a:pPr>
              <a:r>
                <a:rPr lang="en-US" sz="3088">
                  <a:solidFill>
                    <a:srgbClr val="280C07"/>
                  </a:solidFill>
                  <a:latin typeface="Aristotelica Pro Condensed"/>
                  <a:ea typeface="Aristotelica Pro Condensed"/>
                  <a:cs typeface="Aristotelica Pro Condensed"/>
                  <a:sym typeface="Aristotelica Pro Condensed"/>
                </a:rPr>
                <a:t>match</a:t>
              </a:r>
            </a:p>
          </p:txBody>
        </p:sp>
      </p:grpSp>
      <p:grpSp>
        <p:nvGrpSpPr>
          <p:cNvPr name="Group 30" id="30"/>
          <p:cNvGrpSpPr/>
          <p:nvPr/>
        </p:nvGrpSpPr>
        <p:grpSpPr>
          <a:xfrm rot="0">
            <a:off x="9714993" y="8050198"/>
            <a:ext cx="7118539" cy="1375369"/>
            <a:chOff x="0" y="0"/>
            <a:chExt cx="9491385" cy="1833825"/>
          </a:xfrm>
        </p:grpSpPr>
        <p:grpSp>
          <p:nvGrpSpPr>
            <p:cNvPr name="Group 31" id="31"/>
            <p:cNvGrpSpPr/>
            <p:nvPr/>
          </p:nvGrpSpPr>
          <p:grpSpPr>
            <a:xfrm rot="0">
              <a:off x="1068353" y="0"/>
              <a:ext cx="3086589" cy="713446"/>
              <a:chOff x="0" y="0"/>
              <a:chExt cx="541454" cy="125154"/>
            </a:xfrm>
          </p:grpSpPr>
          <p:sp>
            <p:nvSpPr>
              <p:cNvPr name="Freeform 32" id="32"/>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990941"/>
                </a:solidFill>
                <a:prstDash val="solid"/>
                <a:round/>
              </a:ln>
            </p:spPr>
          </p:sp>
          <p:sp>
            <p:nvSpPr>
              <p:cNvPr name="TextBox 33" id="33"/>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4" id="34"/>
            <p:cNvSpPr txBox="true"/>
            <p:nvPr/>
          </p:nvSpPr>
          <p:spPr>
            <a:xfrm rot="0">
              <a:off x="0" y="119441"/>
              <a:ext cx="5223296"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ไอติม"/>
                  <a:ea typeface="ไอติม"/>
                  <a:cs typeface="ไอติม"/>
                  <a:sym typeface="ไอติม"/>
                </a:rPr>
                <a:t>Ordered</a:t>
              </a:r>
            </a:p>
          </p:txBody>
        </p:sp>
        <p:grpSp>
          <p:nvGrpSpPr>
            <p:cNvPr name="Group 35" id="35"/>
            <p:cNvGrpSpPr/>
            <p:nvPr/>
          </p:nvGrpSpPr>
          <p:grpSpPr>
            <a:xfrm rot="0">
              <a:off x="1068353" y="1045167"/>
              <a:ext cx="3086589" cy="713446"/>
              <a:chOff x="0" y="0"/>
              <a:chExt cx="541454" cy="125154"/>
            </a:xfrm>
          </p:grpSpPr>
          <p:sp>
            <p:nvSpPr>
              <p:cNvPr name="Freeform 36" id="36"/>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145DA0"/>
                </a:solidFill>
                <a:prstDash val="solid"/>
                <a:round/>
              </a:ln>
            </p:spPr>
          </p:sp>
          <p:sp>
            <p:nvSpPr>
              <p:cNvPr name="TextBox 37" id="37"/>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38" id="38"/>
            <p:cNvSpPr txBox="true"/>
            <p:nvPr/>
          </p:nvSpPr>
          <p:spPr>
            <a:xfrm rot="0">
              <a:off x="0" y="1164608"/>
              <a:ext cx="5223296"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ไอติม"/>
                  <a:ea typeface="ไอติม"/>
                  <a:cs typeface="ไอติม"/>
                  <a:sym typeface="ไอติม"/>
                </a:rPr>
                <a:t>Shipped</a:t>
              </a:r>
            </a:p>
          </p:txBody>
        </p:sp>
        <p:grpSp>
          <p:nvGrpSpPr>
            <p:cNvPr name="Group 39" id="39"/>
            <p:cNvGrpSpPr/>
            <p:nvPr/>
          </p:nvGrpSpPr>
          <p:grpSpPr>
            <a:xfrm rot="0">
              <a:off x="5173748" y="0"/>
              <a:ext cx="3411979" cy="788658"/>
              <a:chOff x="0" y="0"/>
              <a:chExt cx="541454" cy="125154"/>
            </a:xfrm>
          </p:grpSpPr>
          <p:sp>
            <p:nvSpPr>
              <p:cNvPr name="Freeform 40" id="40"/>
              <p:cNvSpPr/>
              <p:nvPr/>
            </p:nvSpPr>
            <p:spPr>
              <a:xfrm flipH="false" flipV="false" rot="0">
                <a:off x="0" y="0"/>
                <a:ext cx="541454" cy="125154"/>
              </a:xfrm>
              <a:custGeom>
                <a:avLst/>
                <a:gdLst/>
                <a:ahLst/>
                <a:cxnLst/>
                <a:rect r="r" b="b" t="t" l="l"/>
                <a:pathLst>
                  <a:path h="125154" w="541454">
                    <a:moveTo>
                      <a:pt x="62577" y="0"/>
                    </a:moveTo>
                    <a:lnTo>
                      <a:pt x="478877" y="0"/>
                    </a:lnTo>
                    <a:cubicBezTo>
                      <a:pt x="513437" y="0"/>
                      <a:pt x="541454" y="28017"/>
                      <a:pt x="541454" y="62577"/>
                    </a:cubicBezTo>
                    <a:lnTo>
                      <a:pt x="541454" y="62577"/>
                    </a:lnTo>
                    <a:cubicBezTo>
                      <a:pt x="541454" y="79173"/>
                      <a:pt x="534861" y="95090"/>
                      <a:pt x="523126" y="106825"/>
                    </a:cubicBezTo>
                    <a:cubicBezTo>
                      <a:pt x="511390" y="118561"/>
                      <a:pt x="495473" y="125154"/>
                      <a:pt x="47887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31B753"/>
                </a:solidFill>
                <a:prstDash val="solid"/>
                <a:round/>
              </a:ln>
            </p:spPr>
          </p:sp>
          <p:sp>
            <p:nvSpPr>
              <p:cNvPr name="TextBox 41" id="41"/>
              <p:cNvSpPr txBox="true"/>
              <p:nvPr/>
            </p:nvSpPr>
            <p:spPr>
              <a:xfrm>
                <a:off x="0" y="19050"/>
                <a:ext cx="541454" cy="106104"/>
              </a:xfrm>
              <a:prstGeom prst="rect">
                <a:avLst/>
              </a:prstGeom>
            </p:spPr>
            <p:txBody>
              <a:bodyPr anchor="ctr" rtlCol="false" tIns="54775" lIns="54775" bIns="54775" rIns="54775"/>
              <a:lstStyle/>
              <a:p>
                <a:pPr algn="ctr">
                  <a:lnSpc>
                    <a:spcPts val="2694"/>
                  </a:lnSpc>
                </a:pPr>
              </a:p>
            </p:txBody>
          </p:sp>
        </p:grpSp>
        <p:sp>
          <p:nvSpPr>
            <p:cNvPr name="TextBox 42" id="42"/>
            <p:cNvSpPr txBox="true"/>
            <p:nvPr/>
          </p:nvSpPr>
          <p:spPr>
            <a:xfrm rot="0">
              <a:off x="4268090" y="162220"/>
              <a:ext cx="5223296"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ไอติม"/>
                  <a:ea typeface="ไอติม"/>
                  <a:cs typeface="ไอติม"/>
                  <a:sym typeface="ไอติม"/>
                </a:rPr>
                <a:t>Out For Delivery</a:t>
              </a:r>
            </a:p>
          </p:txBody>
        </p:sp>
        <p:grpSp>
          <p:nvGrpSpPr>
            <p:cNvPr name="Group 43" id="43"/>
            <p:cNvGrpSpPr/>
            <p:nvPr/>
          </p:nvGrpSpPr>
          <p:grpSpPr>
            <a:xfrm rot="0">
              <a:off x="5421051" y="1045167"/>
              <a:ext cx="2917374" cy="788658"/>
              <a:chOff x="0" y="0"/>
              <a:chExt cx="462964" cy="125154"/>
            </a:xfrm>
          </p:grpSpPr>
          <p:sp>
            <p:nvSpPr>
              <p:cNvPr name="Freeform 44" id="44"/>
              <p:cNvSpPr/>
              <p:nvPr/>
            </p:nvSpPr>
            <p:spPr>
              <a:xfrm flipH="false" flipV="false" rot="0">
                <a:off x="0" y="0"/>
                <a:ext cx="462964" cy="125154"/>
              </a:xfrm>
              <a:custGeom>
                <a:avLst/>
                <a:gdLst/>
                <a:ahLst/>
                <a:cxnLst/>
                <a:rect r="r" b="b" t="t" l="l"/>
                <a:pathLst>
                  <a:path h="125154" w="462964">
                    <a:moveTo>
                      <a:pt x="62577" y="0"/>
                    </a:moveTo>
                    <a:lnTo>
                      <a:pt x="400387" y="0"/>
                    </a:lnTo>
                    <a:cubicBezTo>
                      <a:pt x="416984" y="0"/>
                      <a:pt x="432900" y="6593"/>
                      <a:pt x="444636" y="18328"/>
                    </a:cubicBezTo>
                    <a:cubicBezTo>
                      <a:pt x="456371" y="30064"/>
                      <a:pt x="462964" y="45980"/>
                      <a:pt x="462964" y="62577"/>
                    </a:cubicBezTo>
                    <a:lnTo>
                      <a:pt x="462964" y="62577"/>
                    </a:lnTo>
                    <a:cubicBezTo>
                      <a:pt x="462964" y="97137"/>
                      <a:pt x="434947" y="125154"/>
                      <a:pt x="400387" y="125154"/>
                    </a:cubicBezTo>
                    <a:lnTo>
                      <a:pt x="62577" y="125154"/>
                    </a:lnTo>
                    <a:cubicBezTo>
                      <a:pt x="28017" y="125154"/>
                      <a:pt x="0" y="97137"/>
                      <a:pt x="0" y="62577"/>
                    </a:cubicBezTo>
                    <a:lnTo>
                      <a:pt x="0" y="62577"/>
                    </a:lnTo>
                    <a:cubicBezTo>
                      <a:pt x="0" y="28017"/>
                      <a:pt x="28017" y="0"/>
                      <a:pt x="62577" y="0"/>
                    </a:cubicBezTo>
                    <a:close/>
                  </a:path>
                </a:pathLst>
              </a:custGeom>
              <a:solidFill>
                <a:srgbClr val="FFFFFF"/>
              </a:solidFill>
              <a:ln w="38100" cap="rnd">
                <a:solidFill>
                  <a:srgbClr val="CF4327"/>
                </a:solidFill>
                <a:prstDash val="solid"/>
                <a:round/>
              </a:ln>
            </p:spPr>
          </p:sp>
          <p:sp>
            <p:nvSpPr>
              <p:cNvPr name="TextBox 45" id="45"/>
              <p:cNvSpPr txBox="true"/>
              <p:nvPr/>
            </p:nvSpPr>
            <p:spPr>
              <a:xfrm>
                <a:off x="0" y="19050"/>
                <a:ext cx="462964" cy="106104"/>
              </a:xfrm>
              <a:prstGeom prst="rect">
                <a:avLst/>
              </a:prstGeom>
            </p:spPr>
            <p:txBody>
              <a:bodyPr anchor="ctr" rtlCol="false" tIns="54775" lIns="54775" bIns="54775" rIns="54775"/>
              <a:lstStyle/>
              <a:p>
                <a:pPr algn="ctr">
                  <a:lnSpc>
                    <a:spcPts val="2694"/>
                  </a:lnSpc>
                </a:pPr>
              </a:p>
            </p:txBody>
          </p:sp>
        </p:grpSp>
        <p:sp>
          <p:nvSpPr>
            <p:cNvPr name="TextBox 46" id="46"/>
            <p:cNvSpPr txBox="true"/>
            <p:nvPr/>
          </p:nvSpPr>
          <p:spPr>
            <a:xfrm rot="0">
              <a:off x="4646678" y="1207387"/>
              <a:ext cx="4466119" cy="493614"/>
            </a:xfrm>
            <a:prstGeom prst="rect">
              <a:avLst/>
            </a:prstGeom>
          </p:spPr>
          <p:txBody>
            <a:bodyPr anchor="t" rtlCol="false" tIns="0" lIns="0" bIns="0" rIns="0">
              <a:spAutoFit/>
            </a:bodyPr>
            <a:lstStyle/>
            <a:p>
              <a:pPr algn="ctr">
                <a:lnSpc>
                  <a:spcPts val="2777"/>
                </a:lnSpc>
                <a:spcBef>
                  <a:spcPct val="0"/>
                </a:spcBef>
              </a:pPr>
              <a:r>
                <a:rPr lang="en-US" sz="2525">
                  <a:solidFill>
                    <a:srgbClr val="000000"/>
                  </a:solidFill>
                  <a:latin typeface="ไอติม"/>
                  <a:ea typeface="ไอติม"/>
                  <a:cs typeface="ไอติม"/>
                  <a:sym typeface="ไอติม"/>
                </a:rPr>
                <a:t>Derivered</a:t>
              </a:r>
            </a:p>
          </p:txBody>
        </p:sp>
      </p:gr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3222385"/>
            <a:ext cx="9720134" cy="385532"/>
          </a:xfrm>
          <a:custGeom>
            <a:avLst/>
            <a:gdLst/>
            <a:ahLst/>
            <a:cxnLst/>
            <a:rect r="r" b="b" t="t" l="l"/>
            <a:pathLst>
              <a:path h="385532" w="9720134">
                <a:moveTo>
                  <a:pt x="0" y="0"/>
                </a:moveTo>
                <a:lnTo>
                  <a:pt x="9720134" y="0"/>
                </a:lnTo>
                <a:lnTo>
                  <a:pt x="9720134" y="385532"/>
                </a:lnTo>
                <a:lnTo>
                  <a:pt x="0" y="385532"/>
                </a:lnTo>
                <a:lnTo>
                  <a:pt x="0" y="0"/>
                </a:lnTo>
                <a:close/>
              </a:path>
            </a:pathLst>
          </a:custGeom>
          <a:blipFill>
            <a:blip r:embed="rId2"/>
            <a:stretch>
              <a:fillRect l="0" t="0" r="-79375" b="-810560"/>
            </a:stretch>
          </a:blipFill>
        </p:spPr>
      </p:sp>
      <p:grpSp>
        <p:nvGrpSpPr>
          <p:cNvPr name="Group 13" id="13"/>
          <p:cNvGrpSpPr/>
          <p:nvPr/>
        </p:nvGrpSpPr>
        <p:grpSpPr>
          <a:xfrm rot="0">
            <a:off x="644999" y="3222385"/>
            <a:ext cx="207506" cy="385532"/>
            <a:chOff x="0" y="0"/>
            <a:chExt cx="54652" cy="101539"/>
          </a:xfrm>
        </p:grpSpPr>
        <p:sp>
          <p:nvSpPr>
            <p:cNvPr name="Freeform 14" id="14"/>
            <p:cNvSpPr/>
            <p:nvPr/>
          </p:nvSpPr>
          <p:spPr>
            <a:xfrm flipH="false" flipV="false" rot="0">
              <a:off x="0" y="0"/>
              <a:ext cx="54652" cy="101539"/>
            </a:xfrm>
            <a:custGeom>
              <a:avLst/>
              <a:gdLst/>
              <a:ahLst/>
              <a:cxnLst/>
              <a:rect r="r" b="b" t="t" l="l"/>
              <a:pathLst>
                <a:path h="101539" w="54652">
                  <a:moveTo>
                    <a:pt x="0" y="0"/>
                  </a:moveTo>
                  <a:lnTo>
                    <a:pt x="54652" y="0"/>
                  </a:lnTo>
                  <a:lnTo>
                    <a:pt x="54652" y="101539"/>
                  </a:lnTo>
                  <a:lnTo>
                    <a:pt x="0" y="101539"/>
                  </a:lnTo>
                  <a:close/>
                </a:path>
              </a:pathLst>
            </a:custGeom>
            <a:solidFill>
              <a:srgbClr val="89C471"/>
            </a:solidFill>
          </p:spPr>
        </p:sp>
        <p:sp>
          <p:nvSpPr>
            <p:cNvPr name="TextBox 15" id="15"/>
            <p:cNvSpPr txBox="true"/>
            <p:nvPr/>
          </p:nvSpPr>
          <p:spPr>
            <a:xfrm>
              <a:off x="0" y="19050"/>
              <a:ext cx="54652" cy="82489"/>
            </a:xfrm>
            <a:prstGeom prst="rect">
              <a:avLst/>
            </a:prstGeom>
          </p:spPr>
          <p:txBody>
            <a:bodyPr anchor="ctr" rtlCol="false" tIns="50800" lIns="50800" bIns="50800" rIns="50800"/>
            <a:lstStyle/>
            <a:p>
              <a:pPr algn="ctr">
                <a:lnSpc>
                  <a:spcPts val="2694"/>
                </a:lnSpc>
              </a:pPr>
            </a:p>
          </p:txBody>
        </p:sp>
      </p:grpSp>
      <p:sp>
        <p:nvSpPr>
          <p:cNvPr name="TextBox 16" id="16"/>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7" id="17"/>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1221647" y="21152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0" id="20"/>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1" id="21"/>
          <p:cNvGrpSpPr/>
          <p:nvPr/>
        </p:nvGrpSpPr>
        <p:grpSpPr>
          <a:xfrm rot="0">
            <a:off x="9384559" y="7049113"/>
            <a:ext cx="8104973" cy="967393"/>
            <a:chOff x="0" y="0"/>
            <a:chExt cx="10806630" cy="1289858"/>
          </a:xfrm>
        </p:grpSpPr>
        <p:grpSp>
          <p:nvGrpSpPr>
            <p:cNvPr name="Group 22" id="22"/>
            <p:cNvGrpSpPr/>
            <p:nvPr/>
          </p:nvGrpSpPr>
          <p:grpSpPr>
            <a:xfrm rot="0">
              <a:off x="0" y="0"/>
              <a:ext cx="10806630" cy="1289858"/>
              <a:chOff x="0" y="0"/>
              <a:chExt cx="1481805" cy="176865"/>
            </a:xfrm>
          </p:grpSpPr>
          <p:sp>
            <p:nvSpPr>
              <p:cNvPr name="Freeform 23" id="23"/>
              <p:cNvSpPr/>
              <p:nvPr/>
            </p:nvSpPr>
            <p:spPr>
              <a:xfrm flipH="false" flipV="false" rot="0">
                <a:off x="0" y="0"/>
                <a:ext cx="1481805" cy="176865"/>
              </a:xfrm>
              <a:custGeom>
                <a:avLst/>
                <a:gdLst/>
                <a:ahLst/>
                <a:cxnLst/>
                <a:rect r="r" b="b" t="t" l="l"/>
                <a:pathLst>
                  <a:path h="176865" w="1481805">
                    <a:moveTo>
                      <a:pt x="46488" y="0"/>
                    </a:moveTo>
                    <a:lnTo>
                      <a:pt x="1435317" y="0"/>
                    </a:lnTo>
                    <a:cubicBezTo>
                      <a:pt x="1460992" y="0"/>
                      <a:pt x="1481805" y="20813"/>
                      <a:pt x="1481805" y="46488"/>
                    </a:cubicBezTo>
                    <a:lnTo>
                      <a:pt x="1481805" y="130378"/>
                    </a:lnTo>
                    <a:cubicBezTo>
                      <a:pt x="1481805" y="142707"/>
                      <a:pt x="1476907" y="154531"/>
                      <a:pt x="1468189" y="163249"/>
                    </a:cubicBezTo>
                    <a:cubicBezTo>
                      <a:pt x="1459471" y="171968"/>
                      <a:pt x="1447647" y="176865"/>
                      <a:pt x="1435317" y="176865"/>
                    </a:cubicBezTo>
                    <a:lnTo>
                      <a:pt x="46488" y="176865"/>
                    </a:lnTo>
                    <a:cubicBezTo>
                      <a:pt x="20813" y="176865"/>
                      <a:pt x="0" y="156052"/>
                      <a:pt x="0" y="130378"/>
                    </a:cubicBezTo>
                    <a:lnTo>
                      <a:pt x="0" y="46488"/>
                    </a:lnTo>
                    <a:cubicBezTo>
                      <a:pt x="0" y="20813"/>
                      <a:pt x="20813" y="0"/>
                      <a:pt x="46488" y="0"/>
                    </a:cubicBezTo>
                    <a:close/>
                  </a:path>
                </a:pathLst>
              </a:custGeom>
              <a:solidFill>
                <a:srgbClr val="FFFFFF"/>
              </a:solidFill>
              <a:ln w="57150" cap="rnd">
                <a:solidFill>
                  <a:srgbClr val="31B753"/>
                </a:solidFill>
                <a:prstDash val="solid"/>
                <a:round/>
              </a:ln>
            </p:spPr>
          </p:sp>
          <p:sp>
            <p:nvSpPr>
              <p:cNvPr name="TextBox 24" id="24"/>
              <p:cNvSpPr txBox="true"/>
              <p:nvPr/>
            </p:nvSpPr>
            <p:spPr>
              <a:xfrm>
                <a:off x="0" y="19050"/>
                <a:ext cx="1481805" cy="157815"/>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626913" y="363384"/>
              <a:ext cx="10179717" cy="634443"/>
            </a:xfrm>
            <a:prstGeom prst="rect">
              <a:avLst/>
            </a:prstGeom>
          </p:spPr>
          <p:txBody>
            <a:bodyPr anchor="t" rtlCol="false" tIns="0" lIns="0" bIns="0" rIns="0">
              <a:spAutoFit/>
            </a:bodyPr>
            <a:lstStyle/>
            <a:p>
              <a:pPr algn="l" marL="0" indent="0" lvl="0">
                <a:lnSpc>
                  <a:spcPts val="3452"/>
                </a:lnSpc>
                <a:spcBef>
                  <a:spcPct val="0"/>
                </a:spcBef>
              </a:pPr>
              <a:r>
                <a:rPr lang="en-US" sz="3452">
                  <a:solidFill>
                    <a:srgbClr val="280C07"/>
                  </a:solidFill>
                  <a:latin typeface="ไอติม"/>
                  <a:ea typeface="ไอติม"/>
                  <a:cs typeface="ไอติม"/>
                  <a:sym typeface="ไอติม"/>
                </a:rPr>
                <a:t>ยืมข้อมูลมาดูชั่วคราว ไม่ต้องการเป็นเจ้าของ</a:t>
              </a:r>
            </a:p>
          </p:txBody>
        </p:sp>
      </p:grpSp>
      <p:grpSp>
        <p:nvGrpSpPr>
          <p:cNvPr name="Group 26" id="26"/>
          <p:cNvGrpSpPr/>
          <p:nvPr/>
        </p:nvGrpSpPr>
        <p:grpSpPr>
          <a:xfrm rot="0">
            <a:off x="4662809" y="3172125"/>
            <a:ext cx="2099518" cy="441096"/>
            <a:chOff x="0" y="0"/>
            <a:chExt cx="478998" cy="100635"/>
          </a:xfrm>
        </p:grpSpPr>
        <p:sp>
          <p:nvSpPr>
            <p:cNvPr name="Freeform 27" id="27"/>
            <p:cNvSpPr/>
            <p:nvPr/>
          </p:nvSpPr>
          <p:spPr>
            <a:xfrm flipH="false" flipV="false" rot="0">
              <a:off x="0" y="0"/>
              <a:ext cx="478998" cy="100635"/>
            </a:xfrm>
            <a:custGeom>
              <a:avLst/>
              <a:gdLst/>
              <a:ahLst/>
              <a:cxnLst/>
              <a:rect r="r" b="b" t="t" l="l"/>
              <a:pathLst>
                <a:path h="100635" w="478998">
                  <a:moveTo>
                    <a:pt x="50317" y="0"/>
                  </a:moveTo>
                  <a:lnTo>
                    <a:pt x="428681" y="0"/>
                  </a:lnTo>
                  <a:cubicBezTo>
                    <a:pt x="442026" y="0"/>
                    <a:pt x="454824" y="5301"/>
                    <a:pt x="464261" y="14738"/>
                  </a:cubicBezTo>
                  <a:cubicBezTo>
                    <a:pt x="473697" y="24174"/>
                    <a:pt x="478998" y="36972"/>
                    <a:pt x="478998" y="50317"/>
                  </a:cubicBezTo>
                  <a:lnTo>
                    <a:pt x="478998" y="50317"/>
                  </a:lnTo>
                  <a:cubicBezTo>
                    <a:pt x="478998" y="63662"/>
                    <a:pt x="473697" y="76461"/>
                    <a:pt x="464261" y="85897"/>
                  </a:cubicBezTo>
                  <a:cubicBezTo>
                    <a:pt x="454824" y="95333"/>
                    <a:pt x="442026" y="100635"/>
                    <a:pt x="428681" y="100635"/>
                  </a:cubicBezTo>
                  <a:lnTo>
                    <a:pt x="50317" y="100635"/>
                  </a:lnTo>
                  <a:cubicBezTo>
                    <a:pt x="36972" y="100635"/>
                    <a:pt x="24174" y="95333"/>
                    <a:pt x="14738" y="85897"/>
                  </a:cubicBezTo>
                  <a:cubicBezTo>
                    <a:pt x="5301" y="76461"/>
                    <a:pt x="0" y="63662"/>
                    <a:pt x="0" y="50317"/>
                  </a:cubicBezTo>
                  <a:lnTo>
                    <a:pt x="0" y="50317"/>
                  </a:lnTo>
                  <a:cubicBezTo>
                    <a:pt x="0" y="36972"/>
                    <a:pt x="5301" y="24174"/>
                    <a:pt x="14738" y="14738"/>
                  </a:cubicBezTo>
                  <a:cubicBezTo>
                    <a:pt x="24174" y="5301"/>
                    <a:pt x="36972" y="0"/>
                    <a:pt x="50317" y="0"/>
                  </a:cubicBezTo>
                  <a:close/>
                </a:path>
              </a:pathLst>
            </a:custGeom>
            <a:solidFill>
              <a:srgbClr val="9CFF73">
                <a:alpha val="25882"/>
              </a:srgbClr>
            </a:solidFill>
            <a:ln cap="rnd">
              <a:noFill/>
              <a:prstDash val="dash"/>
              <a:round/>
            </a:ln>
          </p:spPr>
        </p:sp>
        <p:sp>
          <p:nvSpPr>
            <p:cNvPr name="TextBox 28" id="28"/>
            <p:cNvSpPr txBox="true"/>
            <p:nvPr/>
          </p:nvSpPr>
          <p:spPr>
            <a:xfrm>
              <a:off x="0" y="19050"/>
              <a:ext cx="478998" cy="81585"/>
            </a:xfrm>
            <a:prstGeom prst="rect">
              <a:avLst/>
            </a:prstGeom>
          </p:spPr>
          <p:txBody>
            <a:bodyPr anchor="ctr" rtlCol="false" tIns="50800" lIns="50800" bIns="50800" rIns="50800"/>
            <a:lstStyle/>
            <a:p>
              <a:pPr algn="ctr">
                <a:lnSpc>
                  <a:spcPts val="2694"/>
                </a:lnSpc>
              </a:pPr>
            </a:p>
          </p:txBody>
        </p:sp>
      </p:grpSp>
      <p:sp>
        <p:nvSpPr>
          <p:cNvPr name="Freeform 29" id="29"/>
          <p:cNvSpPr/>
          <p:nvPr/>
        </p:nvSpPr>
        <p:spPr>
          <a:xfrm>
            <a:off x="5743684" y="2865808"/>
            <a:ext cx="7693361" cy="4183305"/>
          </a:xfrm>
          <a:custGeom>
            <a:avLst/>
            <a:gdLst/>
            <a:ahLst/>
            <a:cxnLst/>
            <a:rect r="r" b="b" t="t" l="l"/>
            <a:pathLst>
              <a:path h="4183305" w="7693361">
                <a:moveTo>
                  <a:pt x="7693361" y="4183305"/>
                </a:moveTo>
                <a:lnTo>
                  <a:pt x="7693361" y="228600"/>
                </a:lnTo>
                <a:cubicBezTo>
                  <a:pt x="7693361" y="102347"/>
                  <a:pt x="7591014" y="0"/>
                  <a:pt x="7464761" y="0"/>
                </a:cubicBezTo>
                <a:lnTo>
                  <a:pt x="178289" y="0"/>
                </a:lnTo>
                <a:cubicBezTo>
                  <a:pt x="79823" y="0"/>
                  <a:pt x="0" y="79822"/>
                  <a:pt x="0" y="178289"/>
                </a:cubicBezTo>
                <a:lnTo>
                  <a:pt x="0" y="356577"/>
                </a:lnTo>
              </a:path>
            </a:pathLst>
          </a:custGeom>
          <a:ln cap="flat" w="66675">
            <a:solidFill>
              <a:srgbClr val="31B753"/>
            </a:solidFill>
            <a:prstDash val="solid"/>
            <a:headEnd type="none" len="sm" w="sm"/>
            <a:tailEnd type="triangle" len="med" w="lg"/>
          </a:ln>
        </p:spPr>
      </p:sp>
      <p:sp>
        <p:nvSpPr>
          <p:cNvPr name="TextBox 30" id="30"/>
          <p:cNvSpPr txBox="true"/>
          <p:nvPr/>
        </p:nvSpPr>
        <p:spPr>
          <a:xfrm rot="0">
            <a:off x="10387473" y="8202834"/>
            <a:ext cx="7090251" cy="389449"/>
          </a:xfrm>
          <a:prstGeom prst="rect">
            <a:avLst/>
          </a:prstGeom>
        </p:spPr>
        <p:txBody>
          <a:bodyPr anchor="t" rtlCol="false" tIns="0" lIns="0" bIns="0" rIns="0">
            <a:spAutoFit/>
          </a:bodyPr>
          <a:lstStyle/>
          <a:p>
            <a:pPr algn="l" marL="0" indent="0" lvl="0">
              <a:lnSpc>
                <a:spcPts val="2973"/>
              </a:lnSpc>
              <a:spcBef>
                <a:spcPct val="0"/>
              </a:spcBef>
            </a:pPr>
            <a:r>
              <a:rPr lang="en-US" sz="2973">
                <a:solidFill>
                  <a:srgbClr val="777777"/>
                </a:solidFill>
                <a:latin typeface="ไอติม"/>
                <a:ea typeface="ไอติม"/>
                <a:cs typeface="ไอติม"/>
                <a:sym typeface="ไอติม"/>
              </a:rPr>
              <a:t>เนื้อหาเพิ่มเติม  Ownership &amp; Borrowing</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3581700"/>
            <a:ext cx="17044023" cy="693318"/>
          </a:xfrm>
          <a:custGeom>
            <a:avLst/>
            <a:gdLst/>
            <a:ahLst/>
            <a:cxnLst/>
            <a:rect r="r" b="b" t="t" l="l"/>
            <a:pathLst>
              <a:path h="693318" w="17044023">
                <a:moveTo>
                  <a:pt x="0" y="0"/>
                </a:moveTo>
                <a:lnTo>
                  <a:pt x="17044023" y="0"/>
                </a:lnTo>
                <a:lnTo>
                  <a:pt x="17044023" y="693318"/>
                </a:lnTo>
                <a:lnTo>
                  <a:pt x="0" y="693318"/>
                </a:lnTo>
                <a:lnTo>
                  <a:pt x="0" y="0"/>
                </a:lnTo>
                <a:close/>
              </a:path>
            </a:pathLst>
          </a:custGeom>
          <a:blipFill>
            <a:blip r:embed="rId2"/>
            <a:stretch>
              <a:fillRect l="0" t="-51825" r="-2296" b="-354508"/>
            </a:stretch>
          </a:blipFill>
        </p:spPr>
      </p:sp>
      <p:grpSp>
        <p:nvGrpSpPr>
          <p:cNvPr name="Group 13" id="13"/>
          <p:cNvGrpSpPr/>
          <p:nvPr/>
        </p:nvGrpSpPr>
        <p:grpSpPr>
          <a:xfrm rot="0">
            <a:off x="644999" y="3581700"/>
            <a:ext cx="207506" cy="693318"/>
            <a:chOff x="0" y="0"/>
            <a:chExt cx="54652" cy="182602"/>
          </a:xfrm>
        </p:grpSpPr>
        <p:sp>
          <p:nvSpPr>
            <p:cNvPr name="Freeform 14" id="14"/>
            <p:cNvSpPr/>
            <p:nvPr/>
          </p:nvSpPr>
          <p:spPr>
            <a:xfrm flipH="false" flipV="false" rot="0">
              <a:off x="0" y="0"/>
              <a:ext cx="54652" cy="182602"/>
            </a:xfrm>
            <a:custGeom>
              <a:avLst/>
              <a:gdLst/>
              <a:ahLst/>
              <a:cxnLst/>
              <a:rect r="r" b="b" t="t" l="l"/>
              <a:pathLst>
                <a:path h="182602" w="54652">
                  <a:moveTo>
                    <a:pt x="0" y="0"/>
                  </a:moveTo>
                  <a:lnTo>
                    <a:pt x="54652" y="0"/>
                  </a:lnTo>
                  <a:lnTo>
                    <a:pt x="54652" y="182602"/>
                  </a:lnTo>
                  <a:lnTo>
                    <a:pt x="0" y="182602"/>
                  </a:lnTo>
                  <a:close/>
                </a:path>
              </a:pathLst>
            </a:custGeom>
            <a:solidFill>
              <a:srgbClr val="89C471"/>
            </a:solidFill>
          </p:spPr>
        </p:sp>
        <p:sp>
          <p:nvSpPr>
            <p:cNvPr name="TextBox 15" id="15"/>
            <p:cNvSpPr txBox="true"/>
            <p:nvPr/>
          </p:nvSpPr>
          <p:spPr>
            <a:xfrm>
              <a:off x="0" y="19050"/>
              <a:ext cx="54652" cy="163552"/>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10424016" y="6300730"/>
            <a:ext cx="6835284" cy="864316"/>
            <a:chOff x="0" y="0"/>
            <a:chExt cx="9113711" cy="1152421"/>
          </a:xfrm>
        </p:grpSpPr>
        <p:grpSp>
          <p:nvGrpSpPr>
            <p:cNvPr name="Group 17" id="17"/>
            <p:cNvGrpSpPr/>
            <p:nvPr/>
          </p:nvGrpSpPr>
          <p:grpSpPr>
            <a:xfrm rot="0">
              <a:off x="0" y="0"/>
              <a:ext cx="9113711" cy="1152421"/>
              <a:chOff x="0" y="0"/>
              <a:chExt cx="1394239" cy="176300"/>
            </a:xfrm>
          </p:grpSpPr>
          <p:sp>
            <p:nvSpPr>
              <p:cNvPr name="Freeform 18" id="18"/>
              <p:cNvSpPr/>
              <p:nvPr/>
            </p:nvSpPr>
            <p:spPr>
              <a:xfrm flipH="false" flipV="false" rot="0">
                <a:off x="0" y="0"/>
                <a:ext cx="1394239" cy="176300"/>
              </a:xfrm>
              <a:custGeom>
                <a:avLst/>
                <a:gdLst/>
                <a:ahLst/>
                <a:cxnLst/>
                <a:rect r="r" b="b" t="t" l="l"/>
                <a:pathLst>
                  <a:path h="176300" w="1394239">
                    <a:moveTo>
                      <a:pt x="49407" y="0"/>
                    </a:moveTo>
                    <a:lnTo>
                      <a:pt x="1344832" y="0"/>
                    </a:lnTo>
                    <a:cubicBezTo>
                      <a:pt x="1372119" y="0"/>
                      <a:pt x="1394239" y="22120"/>
                      <a:pt x="1394239" y="49407"/>
                    </a:cubicBezTo>
                    <a:lnTo>
                      <a:pt x="1394239" y="126893"/>
                    </a:lnTo>
                    <a:cubicBezTo>
                      <a:pt x="1394239" y="154180"/>
                      <a:pt x="1372119" y="176300"/>
                      <a:pt x="1344832" y="176300"/>
                    </a:cubicBezTo>
                    <a:lnTo>
                      <a:pt x="49407" y="176300"/>
                    </a:lnTo>
                    <a:cubicBezTo>
                      <a:pt x="22120" y="176300"/>
                      <a:pt x="0" y="154180"/>
                      <a:pt x="0" y="126893"/>
                    </a:cubicBezTo>
                    <a:lnTo>
                      <a:pt x="0" y="49407"/>
                    </a:lnTo>
                    <a:cubicBezTo>
                      <a:pt x="0" y="22120"/>
                      <a:pt x="22120" y="0"/>
                      <a:pt x="49407" y="0"/>
                    </a:cubicBezTo>
                    <a:close/>
                  </a:path>
                </a:pathLst>
              </a:custGeom>
              <a:solidFill>
                <a:srgbClr val="FFFFFF"/>
              </a:solidFill>
              <a:ln w="57150" cap="rnd">
                <a:solidFill>
                  <a:srgbClr val="31B753"/>
                </a:solidFill>
                <a:prstDash val="solid"/>
                <a:round/>
              </a:ln>
            </p:spPr>
          </p:sp>
          <p:sp>
            <p:nvSpPr>
              <p:cNvPr name="TextBox 19" id="19"/>
              <p:cNvSpPr txBox="true"/>
              <p:nvPr/>
            </p:nvSpPr>
            <p:spPr>
              <a:xfrm>
                <a:off x="0" y="19050"/>
                <a:ext cx="1394239" cy="157250"/>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528704" y="331631"/>
              <a:ext cx="8585007" cy="559040"/>
            </a:xfrm>
            <a:prstGeom prst="rect">
              <a:avLst/>
            </a:prstGeom>
          </p:spPr>
          <p:txBody>
            <a:bodyPr anchor="t" rtlCol="false" tIns="0" lIns="0" bIns="0" rIns="0">
              <a:spAutoFit/>
            </a:bodyPr>
            <a:lstStyle/>
            <a:p>
              <a:pPr algn="l" marL="0" indent="0" lvl="0">
                <a:lnSpc>
                  <a:spcPts val="3094"/>
                </a:lnSpc>
                <a:spcBef>
                  <a:spcPct val="0"/>
                </a:spcBef>
              </a:pPr>
              <a:r>
                <a:rPr lang="en-US" sz="3094">
                  <a:solidFill>
                    <a:srgbClr val="280C07"/>
                  </a:solidFill>
                  <a:latin typeface="ไอติม"/>
                  <a:ea typeface="ไอติม"/>
                  <a:cs typeface="ไอติม"/>
                  <a:sym typeface="ไอติม"/>
                </a:rPr>
                <a:t>Unit Varaint ไม่มีค่าที่ต้องดึงออกมาใช้</a:t>
              </a:r>
            </a:p>
          </p:txBody>
        </p:sp>
      </p:grpSp>
      <p:sp>
        <p:nvSpPr>
          <p:cNvPr name="Freeform 21" id="21"/>
          <p:cNvSpPr/>
          <p:nvPr/>
        </p:nvSpPr>
        <p:spPr>
          <a:xfrm flipH="false" flipV="false" rot="0">
            <a:off x="1414755" y="7534658"/>
            <a:ext cx="465515" cy="442239"/>
          </a:xfrm>
          <a:custGeom>
            <a:avLst/>
            <a:gdLst/>
            <a:ahLst/>
            <a:cxnLst/>
            <a:rect r="r" b="b" t="t" l="l"/>
            <a:pathLst>
              <a:path h="442239" w="465515">
                <a:moveTo>
                  <a:pt x="0" y="0"/>
                </a:moveTo>
                <a:lnTo>
                  <a:pt x="465515" y="0"/>
                </a:lnTo>
                <a:lnTo>
                  <a:pt x="465515" y="442239"/>
                </a:lnTo>
                <a:lnTo>
                  <a:pt x="0" y="4422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3" id="23"/>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4" id="24"/>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5" id="25"/>
          <p:cNvSpPr txBox="true"/>
          <p:nvPr/>
        </p:nvSpPr>
        <p:spPr>
          <a:xfrm rot="0">
            <a:off x="1221647" y="21152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6" id="26"/>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27" id="27"/>
          <p:cNvSpPr txBox="true"/>
          <p:nvPr/>
        </p:nvSpPr>
        <p:spPr>
          <a:xfrm rot="0">
            <a:off x="2019749" y="7499915"/>
            <a:ext cx="12881545" cy="1486961"/>
          </a:xfrm>
          <a:prstGeom prst="rect">
            <a:avLst/>
          </a:prstGeom>
        </p:spPr>
        <p:txBody>
          <a:bodyPr anchor="t" rtlCol="false" tIns="0" lIns="0" bIns="0" rIns="0">
            <a:spAutoFit/>
          </a:bodyPr>
          <a:lstStyle/>
          <a:p>
            <a:pPr algn="l">
              <a:lnSpc>
                <a:spcPts val="3930"/>
              </a:lnSpc>
            </a:pPr>
            <a:r>
              <a:rPr lang="en-US" sz="3094">
                <a:solidFill>
                  <a:srgbClr val="280C07"/>
                </a:solidFill>
                <a:latin typeface="ไอติม"/>
                <a:ea typeface="ไอติม"/>
                <a:cs typeface="ไอติม"/>
                <a:sym typeface="ไอติม"/>
              </a:rPr>
              <a:t>format!() คือ macro ที่สร้างข้อความ (String) จากแม่แบบ สามารถใช้ .to_string() </a:t>
            </a:r>
          </a:p>
          <a:p>
            <a:pPr algn="l">
              <a:lnSpc>
                <a:spcPts val="3930"/>
              </a:lnSpc>
            </a:pPr>
            <a:r>
              <a:rPr lang="en-US" sz="3094">
                <a:solidFill>
                  <a:srgbClr val="280C07"/>
                </a:solidFill>
                <a:latin typeface="ไอติม"/>
                <a:ea typeface="ไอติม"/>
                <a:cs typeface="ไอติม"/>
                <a:sym typeface="ไอติม"/>
              </a:rPr>
              <a:t>                   ต่อท้ายข้อความแทนก็ได้ (เพราะฟังก์ชันต้องส่งค่า String คืนกลับไป)</a:t>
            </a:r>
          </a:p>
          <a:p>
            <a:pPr algn="l" marL="0" indent="0" lvl="0">
              <a:lnSpc>
                <a:spcPts val="3930"/>
              </a:lnSpc>
            </a:pPr>
            <a:r>
              <a:rPr lang="en-US" sz="3094">
                <a:solidFill>
                  <a:srgbClr val="280C07"/>
                </a:solidFill>
                <a:latin typeface="ไอติม"/>
                <a:ea typeface="ไอติม"/>
                <a:cs typeface="ไอติม"/>
                <a:sym typeface="ไอติม"/>
              </a:rPr>
              <a:t>ข้อสังเกต:  คล้ายกับ println!() แต่แค่ไม่ได้พิมพ์ข้อความออกมา</a:t>
            </a:r>
          </a:p>
        </p:txBody>
      </p:sp>
      <p:sp>
        <p:nvSpPr>
          <p:cNvPr name="Freeform 28" id="28"/>
          <p:cNvSpPr/>
          <p:nvPr/>
        </p:nvSpPr>
        <p:spPr>
          <a:xfrm flipH="false" flipV="false" rot="0">
            <a:off x="644999" y="5360105"/>
            <a:ext cx="17021880" cy="390091"/>
          </a:xfrm>
          <a:custGeom>
            <a:avLst/>
            <a:gdLst/>
            <a:ahLst/>
            <a:cxnLst/>
            <a:rect r="r" b="b" t="t" l="l"/>
            <a:pathLst>
              <a:path h="390091" w="17021880">
                <a:moveTo>
                  <a:pt x="0" y="0"/>
                </a:moveTo>
                <a:lnTo>
                  <a:pt x="17021880" y="0"/>
                </a:lnTo>
                <a:lnTo>
                  <a:pt x="17021880" y="390091"/>
                </a:lnTo>
                <a:lnTo>
                  <a:pt x="0" y="390091"/>
                </a:lnTo>
                <a:lnTo>
                  <a:pt x="0" y="0"/>
                </a:lnTo>
                <a:close/>
              </a:path>
            </a:pathLst>
          </a:custGeom>
          <a:blipFill>
            <a:blip r:embed="rId2"/>
            <a:stretch>
              <a:fillRect l="0" t="-532744" r="-3219" b="-274115"/>
            </a:stretch>
          </a:blipFill>
        </p:spPr>
      </p:sp>
      <p:grpSp>
        <p:nvGrpSpPr>
          <p:cNvPr name="Group 29" id="29"/>
          <p:cNvGrpSpPr/>
          <p:nvPr/>
        </p:nvGrpSpPr>
        <p:grpSpPr>
          <a:xfrm rot="0">
            <a:off x="644999" y="5360105"/>
            <a:ext cx="207506" cy="412435"/>
            <a:chOff x="0" y="0"/>
            <a:chExt cx="54652" cy="108625"/>
          </a:xfrm>
        </p:grpSpPr>
        <p:sp>
          <p:nvSpPr>
            <p:cNvPr name="Freeform 30" id="30"/>
            <p:cNvSpPr/>
            <p:nvPr/>
          </p:nvSpPr>
          <p:spPr>
            <a:xfrm flipH="false" flipV="false" rot="0">
              <a:off x="0" y="0"/>
              <a:ext cx="54652" cy="108625"/>
            </a:xfrm>
            <a:custGeom>
              <a:avLst/>
              <a:gdLst/>
              <a:ahLst/>
              <a:cxnLst/>
              <a:rect r="r" b="b" t="t" l="l"/>
              <a:pathLst>
                <a:path h="108625" w="54652">
                  <a:moveTo>
                    <a:pt x="0" y="0"/>
                  </a:moveTo>
                  <a:lnTo>
                    <a:pt x="54652" y="0"/>
                  </a:lnTo>
                  <a:lnTo>
                    <a:pt x="54652" y="108625"/>
                  </a:lnTo>
                  <a:lnTo>
                    <a:pt x="0" y="108625"/>
                  </a:lnTo>
                  <a:close/>
                </a:path>
              </a:pathLst>
            </a:custGeom>
            <a:solidFill>
              <a:srgbClr val="89C471"/>
            </a:solidFill>
          </p:spPr>
        </p:sp>
        <p:sp>
          <p:nvSpPr>
            <p:cNvPr name="TextBox 31" id="31"/>
            <p:cNvSpPr txBox="true"/>
            <p:nvPr/>
          </p:nvSpPr>
          <p:spPr>
            <a:xfrm>
              <a:off x="0" y="19050"/>
              <a:ext cx="54652" cy="89575"/>
            </a:xfrm>
            <a:prstGeom prst="rect">
              <a:avLst/>
            </a:prstGeom>
          </p:spPr>
          <p:txBody>
            <a:bodyPr anchor="ctr" rtlCol="false" tIns="50800" lIns="50800" bIns="50800" rIns="50800"/>
            <a:lstStyle/>
            <a:p>
              <a:pPr algn="ctr">
                <a:lnSpc>
                  <a:spcPts val="2694"/>
                </a:lnSpc>
              </a:pPr>
            </a:p>
          </p:txBody>
        </p:sp>
      </p:gr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4191723"/>
            <a:ext cx="17005101" cy="509394"/>
          </a:xfrm>
          <a:custGeom>
            <a:avLst/>
            <a:gdLst/>
            <a:ahLst/>
            <a:cxnLst/>
            <a:rect r="r" b="b" t="t" l="l"/>
            <a:pathLst>
              <a:path h="509394" w="17005101">
                <a:moveTo>
                  <a:pt x="0" y="0"/>
                </a:moveTo>
                <a:lnTo>
                  <a:pt x="17005100" y="0"/>
                </a:lnTo>
                <a:lnTo>
                  <a:pt x="17005100" y="509395"/>
                </a:lnTo>
                <a:lnTo>
                  <a:pt x="0" y="509395"/>
                </a:lnTo>
                <a:lnTo>
                  <a:pt x="0" y="0"/>
                </a:lnTo>
                <a:close/>
              </a:path>
            </a:pathLst>
          </a:custGeom>
          <a:blipFill>
            <a:blip r:embed="rId2"/>
            <a:stretch>
              <a:fillRect l="0" t="-190292" r="-2530" b="-398859"/>
            </a:stretch>
          </a:blipFill>
        </p:spPr>
      </p:sp>
      <p:grpSp>
        <p:nvGrpSpPr>
          <p:cNvPr name="Group 13" id="13"/>
          <p:cNvGrpSpPr/>
          <p:nvPr/>
        </p:nvGrpSpPr>
        <p:grpSpPr>
          <a:xfrm rot="0">
            <a:off x="644999" y="4191723"/>
            <a:ext cx="207506" cy="509394"/>
            <a:chOff x="0" y="0"/>
            <a:chExt cx="54652" cy="134161"/>
          </a:xfrm>
        </p:grpSpPr>
        <p:sp>
          <p:nvSpPr>
            <p:cNvPr name="Freeform 14" id="14"/>
            <p:cNvSpPr/>
            <p:nvPr/>
          </p:nvSpPr>
          <p:spPr>
            <a:xfrm flipH="false" flipV="false" rot="0">
              <a:off x="0" y="0"/>
              <a:ext cx="54652" cy="134161"/>
            </a:xfrm>
            <a:custGeom>
              <a:avLst/>
              <a:gdLst/>
              <a:ahLst/>
              <a:cxnLst/>
              <a:rect r="r" b="b" t="t" l="l"/>
              <a:pathLst>
                <a:path h="134161" w="54652">
                  <a:moveTo>
                    <a:pt x="0" y="0"/>
                  </a:moveTo>
                  <a:lnTo>
                    <a:pt x="54652" y="0"/>
                  </a:lnTo>
                  <a:lnTo>
                    <a:pt x="54652" y="134161"/>
                  </a:lnTo>
                  <a:lnTo>
                    <a:pt x="0" y="134161"/>
                  </a:lnTo>
                  <a:close/>
                </a:path>
              </a:pathLst>
            </a:custGeom>
            <a:solidFill>
              <a:srgbClr val="89C471"/>
            </a:solidFill>
          </p:spPr>
        </p:sp>
        <p:sp>
          <p:nvSpPr>
            <p:cNvPr name="TextBox 15" id="15"/>
            <p:cNvSpPr txBox="true"/>
            <p:nvPr/>
          </p:nvSpPr>
          <p:spPr>
            <a:xfrm>
              <a:off x="0" y="19050"/>
              <a:ext cx="54652" cy="115111"/>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1577083" y="6224322"/>
            <a:ext cx="6780096" cy="920889"/>
            <a:chOff x="0" y="0"/>
            <a:chExt cx="9040128" cy="1227851"/>
          </a:xfrm>
        </p:grpSpPr>
        <p:grpSp>
          <p:nvGrpSpPr>
            <p:cNvPr name="Group 17" id="17"/>
            <p:cNvGrpSpPr/>
            <p:nvPr/>
          </p:nvGrpSpPr>
          <p:grpSpPr>
            <a:xfrm rot="0">
              <a:off x="0" y="0"/>
              <a:ext cx="9040128" cy="1227851"/>
              <a:chOff x="0" y="0"/>
              <a:chExt cx="1298022" cy="176300"/>
            </a:xfrm>
          </p:grpSpPr>
          <p:sp>
            <p:nvSpPr>
              <p:cNvPr name="Freeform 18" id="18"/>
              <p:cNvSpPr/>
              <p:nvPr/>
            </p:nvSpPr>
            <p:spPr>
              <a:xfrm flipH="false" flipV="false" rot="0">
                <a:off x="0" y="0"/>
                <a:ext cx="1298022" cy="176300"/>
              </a:xfrm>
              <a:custGeom>
                <a:avLst/>
                <a:gdLst/>
                <a:ahLst/>
                <a:cxnLst/>
                <a:rect r="r" b="b" t="t" l="l"/>
                <a:pathLst>
                  <a:path h="176300" w="1298022">
                    <a:moveTo>
                      <a:pt x="53070" y="0"/>
                    </a:moveTo>
                    <a:lnTo>
                      <a:pt x="1244952" y="0"/>
                    </a:lnTo>
                    <a:cubicBezTo>
                      <a:pt x="1259027" y="0"/>
                      <a:pt x="1272525" y="5591"/>
                      <a:pt x="1282478" y="15544"/>
                    </a:cubicBezTo>
                    <a:cubicBezTo>
                      <a:pt x="1292430" y="25496"/>
                      <a:pt x="1298022" y="38995"/>
                      <a:pt x="1298022" y="53070"/>
                    </a:cubicBezTo>
                    <a:lnTo>
                      <a:pt x="1298022" y="123231"/>
                    </a:lnTo>
                    <a:cubicBezTo>
                      <a:pt x="1298022" y="152540"/>
                      <a:pt x="1274261" y="176300"/>
                      <a:pt x="1244952" y="176300"/>
                    </a:cubicBezTo>
                    <a:lnTo>
                      <a:pt x="53070" y="176300"/>
                    </a:lnTo>
                    <a:cubicBezTo>
                      <a:pt x="38995" y="176300"/>
                      <a:pt x="25496" y="170709"/>
                      <a:pt x="15544" y="160757"/>
                    </a:cubicBezTo>
                    <a:cubicBezTo>
                      <a:pt x="5591" y="150804"/>
                      <a:pt x="0" y="137306"/>
                      <a:pt x="0" y="123231"/>
                    </a:cubicBezTo>
                    <a:lnTo>
                      <a:pt x="0" y="53070"/>
                    </a:lnTo>
                    <a:cubicBezTo>
                      <a:pt x="0" y="38995"/>
                      <a:pt x="5591" y="25496"/>
                      <a:pt x="15544" y="15544"/>
                    </a:cubicBezTo>
                    <a:cubicBezTo>
                      <a:pt x="25496" y="5591"/>
                      <a:pt x="38995" y="0"/>
                      <a:pt x="53070" y="0"/>
                    </a:cubicBezTo>
                    <a:close/>
                  </a:path>
                </a:pathLst>
              </a:custGeom>
              <a:solidFill>
                <a:srgbClr val="FFFFFF"/>
              </a:solidFill>
              <a:ln w="57150" cap="rnd">
                <a:solidFill>
                  <a:srgbClr val="31B753"/>
                </a:solidFill>
                <a:prstDash val="solid"/>
                <a:round/>
              </a:ln>
            </p:spPr>
          </p:sp>
          <p:sp>
            <p:nvSpPr>
              <p:cNvPr name="TextBox 19" id="19"/>
              <p:cNvSpPr txBox="true"/>
              <p:nvPr/>
            </p:nvSpPr>
            <p:spPr>
              <a:xfrm>
                <a:off x="0" y="19050"/>
                <a:ext cx="1298022" cy="157250"/>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524435" y="359121"/>
              <a:ext cx="8515692" cy="589847"/>
            </a:xfrm>
            <a:prstGeom prst="rect">
              <a:avLst/>
            </a:prstGeom>
          </p:spPr>
          <p:txBody>
            <a:bodyPr anchor="t" rtlCol="false" tIns="0" lIns="0" bIns="0" rIns="0">
              <a:spAutoFit/>
            </a:bodyPr>
            <a:lstStyle/>
            <a:p>
              <a:pPr algn="l" marL="0" indent="0" lvl="0">
                <a:lnSpc>
                  <a:spcPts val="3297"/>
                </a:lnSpc>
                <a:spcBef>
                  <a:spcPct val="0"/>
                </a:spcBef>
              </a:pPr>
              <a:r>
                <a:rPr lang="en-US" sz="3297">
                  <a:solidFill>
                    <a:srgbClr val="280C07"/>
                  </a:solidFill>
                  <a:latin typeface="ไอติม"/>
                  <a:ea typeface="ไอติม"/>
                  <a:cs typeface="ไอติม"/>
                  <a:sym typeface="ไอติม"/>
                </a:rPr>
                <a:t>Tuple Variant ดึงชื่อคนส่งของมาใช้</a:t>
              </a:r>
            </a:p>
          </p:txBody>
        </p:sp>
      </p:grpSp>
      <p:sp>
        <p:nvSpPr>
          <p:cNvPr name="TextBox 21" id="2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2" id="2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3" id="2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4" id="24"/>
          <p:cNvSpPr txBox="true"/>
          <p:nvPr/>
        </p:nvSpPr>
        <p:spPr>
          <a:xfrm rot="0">
            <a:off x="1221647" y="21152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5" id="25"/>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26" id="26"/>
          <p:cNvSpPr txBox="true"/>
          <p:nvPr/>
        </p:nvSpPr>
        <p:spPr>
          <a:xfrm rot="0">
            <a:off x="2154056" y="7773861"/>
            <a:ext cx="15484126" cy="426656"/>
          </a:xfrm>
          <a:prstGeom prst="rect">
            <a:avLst/>
          </a:prstGeom>
        </p:spPr>
        <p:txBody>
          <a:bodyPr anchor="t" rtlCol="false" tIns="0" lIns="0" bIns="0" rIns="0">
            <a:spAutoFit/>
          </a:bodyPr>
          <a:lstStyle/>
          <a:p>
            <a:pPr algn="l" marL="0" indent="0" lvl="0">
              <a:lnSpc>
                <a:spcPts val="3297"/>
              </a:lnSpc>
              <a:spcBef>
                <a:spcPct val="0"/>
              </a:spcBef>
            </a:pPr>
            <a:r>
              <a:rPr lang="en-US" sz="3297">
                <a:solidFill>
                  <a:srgbClr val="280C07"/>
                </a:solidFill>
                <a:latin typeface="ไอติม"/>
                <a:ea typeface="ไอติม"/>
                <a:cs typeface="ไอติม"/>
                <a:sym typeface="ไอติม"/>
              </a:rPr>
              <a:t>จะสามาถ</a:t>
            </a:r>
            <a:r>
              <a:rPr lang="en-US" sz="3297">
                <a:solidFill>
                  <a:srgbClr val="239521"/>
                </a:solidFill>
                <a:latin typeface="ไอติม"/>
                <a:ea typeface="ไอติม"/>
                <a:cs typeface="ไอติม"/>
                <a:sym typeface="ไอติม"/>
              </a:rPr>
              <a:t>ดึงค่าในวงเล็บจาก </a:t>
            </a:r>
            <a:r>
              <a:rPr lang="en-US" sz="3297">
                <a:solidFill>
                  <a:srgbClr val="000000"/>
                </a:solidFill>
                <a:latin typeface="ไอติม"/>
                <a:ea typeface="ไอติม"/>
                <a:cs typeface="ไอติม"/>
                <a:sym typeface="ไอติม"/>
              </a:rPr>
              <a:t>enum </a:t>
            </a:r>
            <a:r>
              <a:rPr lang="en-US" sz="3297">
                <a:solidFill>
                  <a:srgbClr val="280C07"/>
                </a:solidFill>
                <a:latin typeface="ไอติม"/>
                <a:ea typeface="ไอติม"/>
                <a:cs typeface="ไอติม"/>
                <a:sym typeface="ไอติม"/>
              </a:rPr>
              <a:t>ออกมาใช้ได้ก็ต่อเมื่อใช้ match  จากนั้นนำไปใส่ในข้อความ</a:t>
            </a:r>
          </a:p>
        </p:txBody>
      </p:sp>
      <p:grpSp>
        <p:nvGrpSpPr>
          <p:cNvPr name="Group 27" id="27"/>
          <p:cNvGrpSpPr/>
          <p:nvPr/>
        </p:nvGrpSpPr>
        <p:grpSpPr>
          <a:xfrm rot="0">
            <a:off x="3773889" y="4183831"/>
            <a:ext cx="2807817" cy="526016"/>
            <a:chOff x="0" y="0"/>
            <a:chExt cx="537545" cy="100704"/>
          </a:xfrm>
        </p:grpSpPr>
        <p:sp>
          <p:nvSpPr>
            <p:cNvPr name="Freeform 28" id="28"/>
            <p:cNvSpPr/>
            <p:nvPr/>
          </p:nvSpPr>
          <p:spPr>
            <a:xfrm flipH="false" flipV="false" rot="0">
              <a:off x="0" y="0"/>
              <a:ext cx="537545" cy="100704"/>
            </a:xfrm>
            <a:custGeom>
              <a:avLst/>
              <a:gdLst/>
              <a:ahLst/>
              <a:cxnLst/>
              <a:rect r="r" b="b" t="t" l="l"/>
              <a:pathLst>
                <a:path h="100704" w="537545">
                  <a:moveTo>
                    <a:pt x="50352" y="0"/>
                  </a:moveTo>
                  <a:lnTo>
                    <a:pt x="487193" y="0"/>
                  </a:lnTo>
                  <a:cubicBezTo>
                    <a:pt x="500547" y="0"/>
                    <a:pt x="513355" y="5305"/>
                    <a:pt x="522797" y="14748"/>
                  </a:cubicBezTo>
                  <a:cubicBezTo>
                    <a:pt x="532240" y="24190"/>
                    <a:pt x="537545" y="36998"/>
                    <a:pt x="537545" y="50352"/>
                  </a:cubicBezTo>
                  <a:lnTo>
                    <a:pt x="537545" y="50352"/>
                  </a:lnTo>
                  <a:cubicBezTo>
                    <a:pt x="537545" y="63706"/>
                    <a:pt x="532240" y="76513"/>
                    <a:pt x="522797" y="85956"/>
                  </a:cubicBezTo>
                  <a:cubicBezTo>
                    <a:pt x="513355" y="95399"/>
                    <a:pt x="500547" y="100704"/>
                    <a:pt x="487193" y="100704"/>
                  </a:cubicBezTo>
                  <a:lnTo>
                    <a:pt x="50352" y="100704"/>
                  </a:lnTo>
                  <a:cubicBezTo>
                    <a:pt x="36998" y="100704"/>
                    <a:pt x="24190" y="95399"/>
                    <a:pt x="14748" y="85956"/>
                  </a:cubicBezTo>
                  <a:cubicBezTo>
                    <a:pt x="5305" y="76513"/>
                    <a:pt x="0" y="63706"/>
                    <a:pt x="0" y="50352"/>
                  </a:cubicBezTo>
                  <a:lnTo>
                    <a:pt x="0" y="50352"/>
                  </a:lnTo>
                  <a:cubicBezTo>
                    <a:pt x="0" y="36998"/>
                    <a:pt x="5305" y="24190"/>
                    <a:pt x="14748" y="14748"/>
                  </a:cubicBezTo>
                  <a:cubicBezTo>
                    <a:pt x="24190" y="5305"/>
                    <a:pt x="36998" y="0"/>
                    <a:pt x="50352" y="0"/>
                  </a:cubicBezTo>
                  <a:close/>
                </a:path>
              </a:pathLst>
            </a:custGeom>
            <a:ln w="57150" cap="rnd">
              <a:solidFill>
                <a:srgbClr val="00FF41"/>
              </a:solidFill>
              <a:prstDash val="solid"/>
              <a:round/>
            </a:ln>
          </p:spPr>
        </p:sp>
        <p:sp>
          <p:nvSpPr>
            <p:cNvPr name="TextBox 29" id="29"/>
            <p:cNvSpPr txBox="true"/>
            <p:nvPr/>
          </p:nvSpPr>
          <p:spPr>
            <a:xfrm>
              <a:off x="0" y="19050"/>
              <a:ext cx="537545" cy="81654"/>
            </a:xfrm>
            <a:prstGeom prst="rect">
              <a:avLst/>
            </a:prstGeom>
          </p:spPr>
          <p:txBody>
            <a:bodyPr anchor="ctr" rtlCol="false" tIns="60539" lIns="60539" bIns="60539" rIns="60539"/>
            <a:lstStyle/>
            <a:p>
              <a:pPr algn="ctr">
                <a:lnSpc>
                  <a:spcPts val="2694"/>
                </a:lnSpc>
              </a:pPr>
            </a:p>
          </p:txBody>
        </p:sp>
      </p:grpSp>
      <p:grpSp>
        <p:nvGrpSpPr>
          <p:cNvPr name="Group 30" id="30"/>
          <p:cNvGrpSpPr/>
          <p:nvPr/>
        </p:nvGrpSpPr>
        <p:grpSpPr>
          <a:xfrm rot="0">
            <a:off x="13258179" y="4219619"/>
            <a:ext cx="1381037" cy="496491"/>
            <a:chOff x="0" y="0"/>
            <a:chExt cx="264394" cy="95051"/>
          </a:xfrm>
        </p:grpSpPr>
        <p:sp>
          <p:nvSpPr>
            <p:cNvPr name="Freeform 31" id="31"/>
            <p:cNvSpPr/>
            <p:nvPr/>
          </p:nvSpPr>
          <p:spPr>
            <a:xfrm flipH="false" flipV="false" rot="0">
              <a:off x="0" y="0"/>
              <a:ext cx="264394" cy="95051"/>
            </a:xfrm>
            <a:custGeom>
              <a:avLst/>
              <a:gdLst/>
              <a:ahLst/>
              <a:cxnLst/>
              <a:rect r="r" b="b" t="t" l="l"/>
              <a:pathLst>
                <a:path h="95051" w="264394">
                  <a:moveTo>
                    <a:pt x="47526" y="0"/>
                  </a:moveTo>
                  <a:lnTo>
                    <a:pt x="216868" y="0"/>
                  </a:lnTo>
                  <a:cubicBezTo>
                    <a:pt x="243116" y="0"/>
                    <a:pt x="264394" y="21278"/>
                    <a:pt x="264394" y="47526"/>
                  </a:cubicBezTo>
                  <a:lnTo>
                    <a:pt x="264394" y="47526"/>
                  </a:lnTo>
                  <a:cubicBezTo>
                    <a:pt x="264394" y="60130"/>
                    <a:pt x="259387" y="72219"/>
                    <a:pt x="250474" y="81131"/>
                  </a:cubicBezTo>
                  <a:cubicBezTo>
                    <a:pt x="241561" y="90044"/>
                    <a:pt x="229473" y="95051"/>
                    <a:pt x="216868" y="95051"/>
                  </a:cubicBezTo>
                  <a:lnTo>
                    <a:pt x="47526" y="95051"/>
                  </a:lnTo>
                  <a:cubicBezTo>
                    <a:pt x="34921" y="95051"/>
                    <a:pt x="22833" y="90044"/>
                    <a:pt x="13920" y="81131"/>
                  </a:cubicBezTo>
                  <a:cubicBezTo>
                    <a:pt x="5007" y="72219"/>
                    <a:pt x="0" y="60130"/>
                    <a:pt x="0" y="47526"/>
                  </a:cubicBezTo>
                  <a:lnTo>
                    <a:pt x="0" y="47526"/>
                  </a:lnTo>
                  <a:cubicBezTo>
                    <a:pt x="0" y="34921"/>
                    <a:pt x="5007" y="22833"/>
                    <a:pt x="13920" y="13920"/>
                  </a:cubicBezTo>
                  <a:cubicBezTo>
                    <a:pt x="22833" y="5007"/>
                    <a:pt x="34921" y="0"/>
                    <a:pt x="47526" y="0"/>
                  </a:cubicBezTo>
                  <a:close/>
                </a:path>
              </a:pathLst>
            </a:custGeom>
            <a:ln w="57150" cap="rnd">
              <a:solidFill>
                <a:srgbClr val="00FF41"/>
              </a:solidFill>
              <a:prstDash val="solid"/>
              <a:round/>
            </a:ln>
          </p:spPr>
        </p:sp>
        <p:sp>
          <p:nvSpPr>
            <p:cNvPr name="TextBox 32" id="32"/>
            <p:cNvSpPr txBox="true"/>
            <p:nvPr/>
          </p:nvSpPr>
          <p:spPr>
            <a:xfrm>
              <a:off x="0" y="19050"/>
              <a:ext cx="264394" cy="76001"/>
            </a:xfrm>
            <a:prstGeom prst="rect">
              <a:avLst/>
            </a:prstGeom>
          </p:spPr>
          <p:txBody>
            <a:bodyPr anchor="ctr" rtlCol="false" tIns="60539" lIns="60539" bIns="60539" rIns="60539"/>
            <a:lstStyle/>
            <a:p>
              <a:pPr algn="ctr">
                <a:lnSpc>
                  <a:spcPts val="2694"/>
                </a:lnSpc>
              </a:pPr>
            </a:p>
          </p:txBody>
        </p:sp>
      </p:gr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grpSp>
        <p:nvGrpSpPr>
          <p:cNvPr name="Group 8" id="8"/>
          <p:cNvGrpSpPr/>
          <p:nvPr/>
        </p:nvGrpSpPr>
        <p:grpSpPr>
          <a:xfrm rot="0">
            <a:off x="852504" y="1962089"/>
            <a:ext cx="4999316" cy="788873"/>
            <a:chOff x="0" y="0"/>
            <a:chExt cx="1235094" cy="194893"/>
          </a:xfrm>
        </p:grpSpPr>
        <p:sp>
          <p:nvSpPr>
            <p:cNvPr name="Freeform 9" id="9"/>
            <p:cNvSpPr/>
            <p:nvPr/>
          </p:nvSpPr>
          <p:spPr>
            <a:xfrm flipH="false" flipV="false" rot="0">
              <a:off x="0" y="0"/>
              <a:ext cx="1235094" cy="194893"/>
            </a:xfrm>
            <a:custGeom>
              <a:avLst/>
              <a:gdLst/>
              <a:ahLst/>
              <a:cxnLst/>
              <a:rect r="r" b="b" t="t" l="l"/>
              <a:pathLst>
                <a:path h="194893" w="1235094">
                  <a:moveTo>
                    <a:pt x="60395" y="0"/>
                  </a:moveTo>
                  <a:lnTo>
                    <a:pt x="1174699" y="0"/>
                  </a:lnTo>
                  <a:cubicBezTo>
                    <a:pt x="1208054" y="0"/>
                    <a:pt x="1235094" y="27040"/>
                    <a:pt x="1235094" y="60395"/>
                  </a:cubicBezTo>
                  <a:lnTo>
                    <a:pt x="1235094" y="134498"/>
                  </a:lnTo>
                  <a:cubicBezTo>
                    <a:pt x="1235094" y="150516"/>
                    <a:pt x="1228731" y="165878"/>
                    <a:pt x="1217405" y="177204"/>
                  </a:cubicBezTo>
                  <a:cubicBezTo>
                    <a:pt x="1206078" y="188530"/>
                    <a:pt x="1190717" y="194893"/>
                    <a:pt x="1174699" y="194893"/>
                  </a:cubicBezTo>
                  <a:lnTo>
                    <a:pt x="60395" y="194893"/>
                  </a:lnTo>
                  <a:cubicBezTo>
                    <a:pt x="27040" y="194893"/>
                    <a:pt x="0" y="167853"/>
                    <a:pt x="0" y="134498"/>
                  </a:cubicBezTo>
                  <a:lnTo>
                    <a:pt x="0" y="60395"/>
                  </a:lnTo>
                  <a:cubicBezTo>
                    <a:pt x="0" y="27040"/>
                    <a:pt x="27040" y="0"/>
                    <a:pt x="60395" y="0"/>
                  </a:cubicBezTo>
                  <a:close/>
                </a:path>
              </a:pathLst>
            </a:custGeom>
            <a:solidFill>
              <a:srgbClr val="FBD172"/>
            </a:solidFill>
            <a:ln cap="rnd">
              <a:noFill/>
              <a:prstDash val="solid"/>
              <a:round/>
            </a:ln>
          </p:spPr>
        </p:sp>
        <p:sp>
          <p:nvSpPr>
            <p:cNvPr name="TextBox 10" id="10"/>
            <p:cNvSpPr txBox="true"/>
            <p:nvPr/>
          </p:nvSpPr>
          <p:spPr>
            <a:xfrm>
              <a:off x="0" y="19050"/>
              <a:ext cx="1235094" cy="175843"/>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644999" y="3222385"/>
            <a:ext cx="17044023" cy="3510502"/>
          </a:xfrm>
          <a:custGeom>
            <a:avLst/>
            <a:gdLst/>
            <a:ahLst/>
            <a:cxnLst/>
            <a:rect r="r" b="b" t="t" l="l"/>
            <a:pathLst>
              <a:path h="3510502" w="17044023">
                <a:moveTo>
                  <a:pt x="0" y="0"/>
                </a:moveTo>
                <a:lnTo>
                  <a:pt x="17044023" y="0"/>
                </a:lnTo>
                <a:lnTo>
                  <a:pt x="17044023" y="3510503"/>
                </a:lnTo>
                <a:lnTo>
                  <a:pt x="0" y="3510503"/>
                </a:lnTo>
                <a:lnTo>
                  <a:pt x="0" y="0"/>
                </a:lnTo>
                <a:close/>
              </a:path>
            </a:pathLst>
          </a:custGeom>
          <a:blipFill>
            <a:blip r:embed="rId2">
              <a:alphaModFix amt="29000"/>
            </a:blip>
            <a:stretch>
              <a:fillRect l="0" t="0" r="-2296" b="0"/>
            </a:stretch>
          </a:blipFill>
        </p:spPr>
      </p:sp>
      <p:sp>
        <p:nvSpPr>
          <p:cNvPr name="Freeform 12" id="12"/>
          <p:cNvSpPr/>
          <p:nvPr/>
        </p:nvSpPr>
        <p:spPr>
          <a:xfrm flipH="false" flipV="false" rot="0">
            <a:off x="644999" y="4573857"/>
            <a:ext cx="17005101" cy="782390"/>
          </a:xfrm>
          <a:custGeom>
            <a:avLst/>
            <a:gdLst/>
            <a:ahLst/>
            <a:cxnLst/>
            <a:rect r="r" b="b" t="t" l="l"/>
            <a:pathLst>
              <a:path h="782390" w="17005101">
                <a:moveTo>
                  <a:pt x="0" y="0"/>
                </a:moveTo>
                <a:lnTo>
                  <a:pt x="17005100" y="0"/>
                </a:lnTo>
                <a:lnTo>
                  <a:pt x="17005100" y="782390"/>
                </a:lnTo>
                <a:lnTo>
                  <a:pt x="0" y="782390"/>
                </a:lnTo>
                <a:lnTo>
                  <a:pt x="0" y="0"/>
                </a:lnTo>
                <a:close/>
              </a:path>
            </a:pathLst>
          </a:custGeom>
          <a:blipFill>
            <a:blip r:embed="rId2"/>
            <a:stretch>
              <a:fillRect l="0" t="-172736" r="-2530" b="-175953"/>
            </a:stretch>
          </a:blipFill>
        </p:spPr>
      </p:sp>
      <p:grpSp>
        <p:nvGrpSpPr>
          <p:cNvPr name="Group 13" id="13"/>
          <p:cNvGrpSpPr/>
          <p:nvPr/>
        </p:nvGrpSpPr>
        <p:grpSpPr>
          <a:xfrm rot="0">
            <a:off x="644999" y="4573857"/>
            <a:ext cx="207506" cy="782390"/>
            <a:chOff x="0" y="0"/>
            <a:chExt cx="54652" cy="206062"/>
          </a:xfrm>
        </p:grpSpPr>
        <p:sp>
          <p:nvSpPr>
            <p:cNvPr name="Freeform 14" id="14"/>
            <p:cNvSpPr/>
            <p:nvPr/>
          </p:nvSpPr>
          <p:spPr>
            <a:xfrm flipH="false" flipV="false" rot="0">
              <a:off x="0" y="0"/>
              <a:ext cx="54652" cy="206062"/>
            </a:xfrm>
            <a:custGeom>
              <a:avLst/>
              <a:gdLst/>
              <a:ahLst/>
              <a:cxnLst/>
              <a:rect r="r" b="b" t="t" l="l"/>
              <a:pathLst>
                <a:path h="206062" w="54652">
                  <a:moveTo>
                    <a:pt x="0" y="0"/>
                  </a:moveTo>
                  <a:lnTo>
                    <a:pt x="54652" y="0"/>
                  </a:lnTo>
                  <a:lnTo>
                    <a:pt x="54652" y="206062"/>
                  </a:lnTo>
                  <a:lnTo>
                    <a:pt x="0" y="206062"/>
                  </a:lnTo>
                  <a:close/>
                </a:path>
              </a:pathLst>
            </a:custGeom>
            <a:solidFill>
              <a:srgbClr val="89C471"/>
            </a:solidFill>
          </p:spPr>
        </p:sp>
        <p:sp>
          <p:nvSpPr>
            <p:cNvPr name="TextBox 15" id="15"/>
            <p:cNvSpPr txBox="true"/>
            <p:nvPr/>
          </p:nvSpPr>
          <p:spPr>
            <a:xfrm>
              <a:off x="0" y="19050"/>
              <a:ext cx="54652" cy="187012"/>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1577083" y="6224322"/>
            <a:ext cx="5806976" cy="920889"/>
            <a:chOff x="0" y="0"/>
            <a:chExt cx="7742635" cy="1227851"/>
          </a:xfrm>
        </p:grpSpPr>
        <p:grpSp>
          <p:nvGrpSpPr>
            <p:cNvPr name="Group 17" id="17"/>
            <p:cNvGrpSpPr/>
            <p:nvPr/>
          </p:nvGrpSpPr>
          <p:grpSpPr>
            <a:xfrm rot="0">
              <a:off x="0" y="0"/>
              <a:ext cx="7742635" cy="1227851"/>
              <a:chOff x="0" y="0"/>
              <a:chExt cx="1111722" cy="176300"/>
            </a:xfrm>
          </p:grpSpPr>
          <p:sp>
            <p:nvSpPr>
              <p:cNvPr name="Freeform 18" id="18"/>
              <p:cNvSpPr/>
              <p:nvPr/>
            </p:nvSpPr>
            <p:spPr>
              <a:xfrm flipH="false" flipV="false" rot="0">
                <a:off x="0" y="0"/>
                <a:ext cx="1111722" cy="176300"/>
              </a:xfrm>
              <a:custGeom>
                <a:avLst/>
                <a:gdLst/>
                <a:ahLst/>
                <a:cxnLst/>
                <a:rect r="r" b="b" t="t" l="l"/>
                <a:pathLst>
                  <a:path h="176300" w="1111722">
                    <a:moveTo>
                      <a:pt x="61963" y="0"/>
                    </a:moveTo>
                    <a:lnTo>
                      <a:pt x="1049759" y="0"/>
                    </a:lnTo>
                    <a:cubicBezTo>
                      <a:pt x="1083980" y="0"/>
                      <a:pt x="1111722" y="27742"/>
                      <a:pt x="1111722" y="61963"/>
                    </a:cubicBezTo>
                    <a:lnTo>
                      <a:pt x="1111722" y="114337"/>
                    </a:lnTo>
                    <a:cubicBezTo>
                      <a:pt x="1111722" y="148559"/>
                      <a:pt x="1083980" y="176300"/>
                      <a:pt x="1049759" y="176300"/>
                    </a:cubicBezTo>
                    <a:lnTo>
                      <a:pt x="61963" y="176300"/>
                    </a:lnTo>
                    <a:cubicBezTo>
                      <a:pt x="27742" y="176300"/>
                      <a:pt x="0" y="148559"/>
                      <a:pt x="0" y="114337"/>
                    </a:cubicBezTo>
                    <a:lnTo>
                      <a:pt x="0" y="61963"/>
                    </a:lnTo>
                    <a:cubicBezTo>
                      <a:pt x="0" y="27742"/>
                      <a:pt x="27742" y="0"/>
                      <a:pt x="61963" y="0"/>
                    </a:cubicBezTo>
                    <a:close/>
                  </a:path>
                </a:pathLst>
              </a:custGeom>
              <a:solidFill>
                <a:srgbClr val="FFFFFF"/>
              </a:solidFill>
              <a:ln w="57150" cap="rnd">
                <a:solidFill>
                  <a:srgbClr val="31B753"/>
                </a:solidFill>
                <a:prstDash val="solid"/>
                <a:round/>
              </a:ln>
            </p:spPr>
          </p:sp>
          <p:sp>
            <p:nvSpPr>
              <p:cNvPr name="TextBox 19" id="19"/>
              <p:cNvSpPr txBox="true"/>
              <p:nvPr/>
            </p:nvSpPr>
            <p:spPr>
              <a:xfrm>
                <a:off x="0" y="19050"/>
                <a:ext cx="1111722" cy="157250"/>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449165" y="359121"/>
              <a:ext cx="7293470" cy="589847"/>
            </a:xfrm>
            <a:prstGeom prst="rect">
              <a:avLst/>
            </a:prstGeom>
          </p:spPr>
          <p:txBody>
            <a:bodyPr anchor="t" rtlCol="false" tIns="0" lIns="0" bIns="0" rIns="0">
              <a:spAutoFit/>
            </a:bodyPr>
            <a:lstStyle/>
            <a:p>
              <a:pPr algn="l" marL="0" indent="0" lvl="0">
                <a:lnSpc>
                  <a:spcPts val="3297"/>
                </a:lnSpc>
                <a:spcBef>
                  <a:spcPct val="0"/>
                </a:spcBef>
              </a:pPr>
              <a:r>
                <a:rPr lang="en-US" sz="3297">
                  <a:solidFill>
                    <a:srgbClr val="280C07"/>
                  </a:solidFill>
                  <a:latin typeface="ไอติม"/>
                  <a:ea typeface="ไอติม"/>
                  <a:cs typeface="ไอติม"/>
                  <a:sym typeface="ไอติม"/>
                </a:rPr>
                <a:t>Struct Variant ดึงค่าตามฟิลด์</a:t>
              </a:r>
            </a:p>
          </p:txBody>
        </p:sp>
      </p:grpSp>
      <p:sp>
        <p:nvSpPr>
          <p:cNvPr name="TextBox 21" id="21"/>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2" id="22"/>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23" id="23"/>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24" id="24"/>
          <p:cNvSpPr txBox="true"/>
          <p:nvPr/>
        </p:nvSpPr>
        <p:spPr>
          <a:xfrm rot="0">
            <a:off x="1221647" y="21152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[2] describe_status</a:t>
            </a:r>
          </a:p>
        </p:txBody>
      </p:sp>
      <p:sp>
        <p:nvSpPr>
          <p:cNvPr name="TextBox 25" id="25"/>
          <p:cNvSpPr txBox="true"/>
          <p:nvPr/>
        </p:nvSpPr>
        <p:spPr>
          <a:xfrm rot="0">
            <a:off x="11186048" y="1015401"/>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sp>
        <p:nvSpPr>
          <p:cNvPr name="TextBox 26" id="26"/>
          <p:cNvSpPr txBox="true"/>
          <p:nvPr/>
        </p:nvSpPr>
        <p:spPr>
          <a:xfrm rot="0">
            <a:off x="1373265" y="7806394"/>
            <a:ext cx="16276834" cy="836231"/>
          </a:xfrm>
          <a:prstGeom prst="rect">
            <a:avLst/>
          </a:prstGeom>
        </p:spPr>
        <p:txBody>
          <a:bodyPr anchor="t" rtlCol="false" tIns="0" lIns="0" bIns="0" rIns="0">
            <a:spAutoFit/>
          </a:bodyPr>
          <a:lstStyle/>
          <a:p>
            <a:pPr algn="l">
              <a:lnSpc>
                <a:spcPts val="3297"/>
              </a:lnSpc>
            </a:pPr>
            <a:r>
              <a:rPr lang="en-US" sz="3297">
                <a:solidFill>
                  <a:srgbClr val="280C07"/>
                </a:solidFill>
                <a:latin typeface="ไอติม"/>
                <a:ea typeface="ไอติม"/>
                <a:cs typeface="ไอติม"/>
                <a:sym typeface="ไอติม"/>
              </a:rPr>
              <a:t>จะสามารถ</a:t>
            </a:r>
            <a:r>
              <a:rPr lang="en-US" sz="3297">
                <a:solidFill>
                  <a:srgbClr val="239521"/>
                </a:solidFill>
                <a:latin typeface="ไอติม"/>
                <a:ea typeface="ไอติม"/>
                <a:cs typeface="ไอติม"/>
                <a:sym typeface="ไอติม"/>
              </a:rPr>
              <a:t>ดึงค่าในฟิลด์ใน </a:t>
            </a:r>
            <a:r>
              <a:rPr lang="en-US" sz="3297">
                <a:solidFill>
                  <a:srgbClr val="000000"/>
                </a:solidFill>
                <a:latin typeface="ไอติม"/>
                <a:ea typeface="ไอติม"/>
                <a:cs typeface="ไอติม"/>
                <a:sym typeface="ไอติม"/>
              </a:rPr>
              <a:t>enum </a:t>
            </a:r>
            <a:r>
              <a:rPr lang="en-US" sz="3297">
                <a:solidFill>
                  <a:srgbClr val="280C07"/>
                </a:solidFill>
                <a:latin typeface="ไอติม"/>
                <a:ea typeface="ไอติม"/>
                <a:cs typeface="ไอติม"/>
                <a:sym typeface="ไอติม"/>
              </a:rPr>
              <a:t>ออกมาใช้ได้เหมือนกับ tuple variant แต่ต่างกันที่เรียกใช้ตามชื่อ</a:t>
            </a:r>
          </a:p>
          <a:p>
            <a:pPr algn="l" marL="0" indent="0" lvl="0">
              <a:lnSpc>
                <a:spcPts val="3297"/>
              </a:lnSpc>
              <a:spcBef>
                <a:spcPct val="0"/>
              </a:spcBef>
            </a:pP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818948" y="469668"/>
            <a:ext cx="2790681" cy="329552"/>
            <a:chOff x="0" y="0"/>
            <a:chExt cx="734994" cy="86796"/>
          </a:xfrm>
        </p:grpSpPr>
        <p:sp>
          <p:nvSpPr>
            <p:cNvPr name="Freeform 3" id="3"/>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4" id="4"/>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942095"/>
            <a:ext cx="7051947" cy="714748"/>
            <a:chOff x="0" y="0"/>
            <a:chExt cx="2645406" cy="268124"/>
          </a:xfrm>
        </p:grpSpPr>
        <p:sp>
          <p:nvSpPr>
            <p:cNvPr name="Freeform 6" id="6"/>
            <p:cNvSpPr/>
            <p:nvPr/>
          </p:nvSpPr>
          <p:spPr>
            <a:xfrm flipH="false" flipV="false" rot="0">
              <a:off x="0" y="0"/>
              <a:ext cx="2645406" cy="268124"/>
            </a:xfrm>
            <a:custGeom>
              <a:avLst/>
              <a:gdLst/>
              <a:ahLst/>
              <a:cxnLst/>
              <a:rect r="r" b="b" t="t" l="l"/>
              <a:pathLst>
                <a:path h="268124" w="2645406">
                  <a:moveTo>
                    <a:pt x="109784" y="0"/>
                  </a:moveTo>
                  <a:lnTo>
                    <a:pt x="2535622" y="0"/>
                  </a:lnTo>
                  <a:cubicBezTo>
                    <a:pt x="2564738" y="0"/>
                    <a:pt x="2592662" y="11567"/>
                    <a:pt x="2613251" y="32155"/>
                  </a:cubicBezTo>
                  <a:cubicBezTo>
                    <a:pt x="2633839" y="52744"/>
                    <a:pt x="2645406" y="80668"/>
                    <a:pt x="2645406" y="109784"/>
                  </a:cubicBezTo>
                  <a:lnTo>
                    <a:pt x="2645406" y="158340"/>
                  </a:lnTo>
                  <a:cubicBezTo>
                    <a:pt x="2645406" y="218972"/>
                    <a:pt x="2596254" y="268124"/>
                    <a:pt x="2535622" y="268124"/>
                  </a:cubicBezTo>
                  <a:lnTo>
                    <a:pt x="109784" y="268124"/>
                  </a:lnTo>
                  <a:cubicBezTo>
                    <a:pt x="80668" y="268124"/>
                    <a:pt x="52744" y="256558"/>
                    <a:pt x="32155" y="235969"/>
                  </a:cubicBezTo>
                  <a:cubicBezTo>
                    <a:pt x="11567" y="215381"/>
                    <a:pt x="0" y="187457"/>
                    <a:pt x="0" y="158340"/>
                  </a:cubicBezTo>
                  <a:lnTo>
                    <a:pt x="0" y="109784"/>
                  </a:lnTo>
                  <a:cubicBezTo>
                    <a:pt x="0" y="80668"/>
                    <a:pt x="11567" y="52744"/>
                    <a:pt x="32155" y="32155"/>
                  </a:cubicBezTo>
                  <a:cubicBezTo>
                    <a:pt x="52744" y="11567"/>
                    <a:pt x="80668" y="0"/>
                    <a:pt x="109784" y="0"/>
                  </a:cubicBezTo>
                  <a:close/>
                </a:path>
              </a:pathLst>
            </a:custGeom>
            <a:solidFill>
              <a:srgbClr val="F6BD3B"/>
            </a:solidFill>
            <a:ln w="38100" cap="rnd">
              <a:solidFill>
                <a:srgbClr val="000000"/>
              </a:solidFill>
              <a:prstDash val="solid"/>
              <a:round/>
            </a:ln>
          </p:spPr>
        </p:sp>
        <p:sp>
          <p:nvSpPr>
            <p:cNvPr name="TextBox 7" id="7"/>
            <p:cNvSpPr txBox="true"/>
            <p:nvPr/>
          </p:nvSpPr>
          <p:spPr>
            <a:xfrm>
              <a:off x="0" y="19050"/>
              <a:ext cx="2645406" cy="249074"/>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8" id="8"/>
          <p:cNvSpPr/>
          <p:nvPr/>
        </p:nvSpPr>
        <p:spPr>
          <a:xfrm flipH="false" flipV="false" rot="0">
            <a:off x="4162690" y="2157772"/>
            <a:ext cx="12061894" cy="4793907"/>
          </a:xfrm>
          <a:custGeom>
            <a:avLst/>
            <a:gdLst/>
            <a:ahLst/>
            <a:cxnLst/>
            <a:rect r="r" b="b" t="t" l="l"/>
            <a:pathLst>
              <a:path h="4793907" w="12061894">
                <a:moveTo>
                  <a:pt x="0" y="0"/>
                </a:moveTo>
                <a:lnTo>
                  <a:pt x="12061894" y="0"/>
                </a:lnTo>
                <a:lnTo>
                  <a:pt x="12061894" y="4793907"/>
                </a:lnTo>
                <a:lnTo>
                  <a:pt x="0" y="4793907"/>
                </a:lnTo>
                <a:lnTo>
                  <a:pt x="0" y="0"/>
                </a:lnTo>
                <a:close/>
              </a:path>
            </a:pathLst>
          </a:custGeom>
          <a:blipFill>
            <a:blip r:embed="rId2"/>
            <a:stretch>
              <a:fillRect l="0" t="0" r="-50048" b="0"/>
            </a:stretch>
          </a:blipFill>
        </p:spPr>
      </p:sp>
      <p:grpSp>
        <p:nvGrpSpPr>
          <p:cNvPr name="Group 9" id="9"/>
          <p:cNvGrpSpPr/>
          <p:nvPr/>
        </p:nvGrpSpPr>
        <p:grpSpPr>
          <a:xfrm rot="0">
            <a:off x="559708" y="4115916"/>
            <a:ext cx="2947558" cy="788873"/>
            <a:chOff x="0" y="0"/>
            <a:chExt cx="728202" cy="194893"/>
          </a:xfrm>
        </p:grpSpPr>
        <p:sp>
          <p:nvSpPr>
            <p:cNvPr name="Freeform 10" id="10"/>
            <p:cNvSpPr/>
            <p:nvPr/>
          </p:nvSpPr>
          <p:spPr>
            <a:xfrm flipH="false" flipV="false" rot="0">
              <a:off x="0" y="0"/>
              <a:ext cx="728202" cy="194893"/>
            </a:xfrm>
            <a:custGeom>
              <a:avLst/>
              <a:gdLst/>
              <a:ahLst/>
              <a:cxnLst/>
              <a:rect r="r" b="b" t="t" l="l"/>
              <a:pathLst>
                <a:path h="194893" w="728202">
                  <a:moveTo>
                    <a:pt x="97447" y="0"/>
                  </a:moveTo>
                  <a:lnTo>
                    <a:pt x="630755" y="0"/>
                  </a:lnTo>
                  <a:cubicBezTo>
                    <a:pt x="684574" y="0"/>
                    <a:pt x="728202" y="43628"/>
                    <a:pt x="728202" y="97447"/>
                  </a:cubicBezTo>
                  <a:lnTo>
                    <a:pt x="728202" y="97447"/>
                  </a:lnTo>
                  <a:cubicBezTo>
                    <a:pt x="728202" y="123291"/>
                    <a:pt x="717935" y="148077"/>
                    <a:pt x="699660" y="166352"/>
                  </a:cubicBezTo>
                  <a:cubicBezTo>
                    <a:pt x="681386" y="184627"/>
                    <a:pt x="656600" y="194893"/>
                    <a:pt x="630755" y="194893"/>
                  </a:cubicBezTo>
                  <a:lnTo>
                    <a:pt x="97447" y="194893"/>
                  </a:lnTo>
                  <a:cubicBezTo>
                    <a:pt x="43628" y="194893"/>
                    <a:pt x="0" y="151265"/>
                    <a:pt x="0" y="97447"/>
                  </a:cubicBezTo>
                  <a:lnTo>
                    <a:pt x="0" y="97447"/>
                  </a:lnTo>
                  <a:cubicBezTo>
                    <a:pt x="0" y="43628"/>
                    <a:pt x="43628" y="0"/>
                    <a:pt x="97447" y="0"/>
                  </a:cubicBezTo>
                  <a:close/>
                </a:path>
              </a:pathLst>
            </a:custGeom>
            <a:solidFill>
              <a:srgbClr val="FBD172"/>
            </a:solidFill>
            <a:ln cap="rnd">
              <a:noFill/>
              <a:prstDash val="solid"/>
              <a:round/>
            </a:ln>
          </p:spPr>
        </p:sp>
        <p:sp>
          <p:nvSpPr>
            <p:cNvPr name="TextBox 11" id="11"/>
            <p:cNvSpPr txBox="true"/>
            <p:nvPr/>
          </p:nvSpPr>
          <p:spPr>
            <a:xfrm>
              <a:off x="0" y="19050"/>
              <a:ext cx="728202" cy="175843"/>
            </a:xfrm>
            <a:prstGeom prst="rect">
              <a:avLst/>
            </a:prstGeom>
          </p:spPr>
          <p:txBody>
            <a:bodyPr anchor="ctr" rtlCol="false" tIns="50800" lIns="50800" bIns="50800" rIns="50800"/>
            <a:lstStyle/>
            <a:p>
              <a:pPr algn="ctr">
                <a:lnSpc>
                  <a:spcPts val="2694"/>
                </a:lnSpc>
              </a:pPr>
            </a:p>
          </p:txBody>
        </p:sp>
      </p:grpSp>
      <p:grpSp>
        <p:nvGrpSpPr>
          <p:cNvPr name="Group 12" id="12"/>
          <p:cNvGrpSpPr/>
          <p:nvPr/>
        </p:nvGrpSpPr>
        <p:grpSpPr>
          <a:xfrm rot="0">
            <a:off x="4162690" y="7123129"/>
            <a:ext cx="12061894" cy="2343600"/>
            <a:chOff x="0" y="0"/>
            <a:chExt cx="3176795" cy="617244"/>
          </a:xfrm>
        </p:grpSpPr>
        <p:sp>
          <p:nvSpPr>
            <p:cNvPr name="Freeform 13" id="13"/>
            <p:cNvSpPr/>
            <p:nvPr/>
          </p:nvSpPr>
          <p:spPr>
            <a:xfrm flipH="false" flipV="false" rot="0">
              <a:off x="0" y="0"/>
              <a:ext cx="3176795" cy="617244"/>
            </a:xfrm>
            <a:custGeom>
              <a:avLst/>
              <a:gdLst/>
              <a:ahLst/>
              <a:cxnLst/>
              <a:rect r="r" b="b" t="t" l="l"/>
              <a:pathLst>
                <a:path h="617244" w="3176795">
                  <a:moveTo>
                    <a:pt x="0" y="0"/>
                  </a:moveTo>
                  <a:lnTo>
                    <a:pt x="3176795" y="0"/>
                  </a:lnTo>
                  <a:lnTo>
                    <a:pt x="3176795" y="617244"/>
                  </a:lnTo>
                  <a:lnTo>
                    <a:pt x="0" y="617244"/>
                  </a:lnTo>
                  <a:close/>
                </a:path>
              </a:pathLst>
            </a:custGeom>
            <a:solidFill>
              <a:srgbClr val="1C1827"/>
            </a:solidFill>
          </p:spPr>
        </p:sp>
        <p:sp>
          <p:nvSpPr>
            <p:cNvPr name="TextBox 14" id="14"/>
            <p:cNvSpPr txBox="true"/>
            <p:nvPr/>
          </p:nvSpPr>
          <p:spPr>
            <a:xfrm>
              <a:off x="0" y="19050"/>
              <a:ext cx="3176795" cy="598194"/>
            </a:xfrm>
            <a:prstGeom prst="rect">
              <a:avLst/>
            </a:prstGeom>
          </p:spPr>
          <p:txBody>
            <a:bodyPr anchor="ctr" rtlCol="false" tIns="50800" lIns="50800" bIns="50800" rIns="50800"/>
            <a:lstStyle/>
            <a:p>
              <a:pPr algn="ctr">
                <a:lnSpc>
                  <a:spcPts val="2694"/>
                </a:lnSpc>
              </a:pPr>
            </a:p>
          </p:txBody>
        </p:sp>
      </p:grpSp>
      <p:sp>
        <p:nvSpPr>
          <p:cNvPr name="Freeform 15" id="15"/>
          <p:cNvSpPr/>
          <p:nvPr/>
        </p:nvSpPr>
        <p:spPr>
          <a:xfrm flipH="false" flipV="false" rot="0">
            <a:off x="4461743" y="7288676"/>
            <a:ext cx="9987934" cy="2006778"/>
          </a:xfrm>
          <a:custGeom>
            <a:avLst/>
            <a:gdLst/>
            <a:ahLst/>
            <a:cxnLst/>
            <a:rect r="r" b="b" t="t" l="l"/>
            <a:pathLst>
              <a:path h="2006778" w="9987934">
                <a:moveTo>
                  <a:pt x="0" y="0"/>
                </a:moveTo>
                <a:lnTo>
                  <a:pt x="9987934" y="0"/>
                </a:lnTo>
                <a:lnTo>
                  <a:pt x="9987934" y="2006778"/>
                </a:lnTo>
                <a:lnTo>
                  <a:pt x="0" y="2006778"/>
                </a:lnTo>
                <a:lnTo>
                  <a:pt x="0" y="0"/>
                </a:lnTo>
                <a:close/>
              </a:path>
            </a:pathLst>
          </a:custGeom>
          <a:blipFill>
            <a:blip r:embed="rId3"/>
            <a:stretch>
              <a:fillRect l="0" t="0" r="0" b="0"/>
            </a:stretch>
          </a:blipFill>
        </p:spPr>
      </p:sp>
      <p:sp>
        <p:nvSpPr>
          <p:cNvPr name="TextBox 16" id="16"/>
          <p:cNvSpPr txBox="true"/>
          <p:nvPr/>
        </p:nvSpPr>
        <p:spPr>
          <a:xfrm rot="0">
            <a:off x="644999" y="1099249"/>
            <a:ext cx="6739061" cy="457589"/>
          </a:xfrm>
          <a:prstGeom prst="rect">
            <a:avLst/>
          </a:prstGeom>
        </p:spPr>
        <p:txBody>
          <a:bodyPr anchor="t" rtlCol="false" tIns="0" lIns="0" bIns="0" rIns="0">
            <a:spAutoFit/>
          </a:bodyPr>
          <a:lstStyle/>
          <a:p>
            <a:pPr algn="ctr" marL="0" indent="0" lvl="0">
              <a:lnSpc>
                <a:spcPts val="3415"/>
              </a:lnSpc>
              <a:spcBef>
                <a:spcPct val="0"/>
              </a:spcBef>
            </a:pPr>
            <a:r>
              <a:rPr lang="en-US" sz="3415">
                <a:solidFill>
                  <a:srgbClr val="000000"/>
                </a:solidFill>
                <a:latin typeface="ไอติม"/>
                <a:ea typeface="ไอติม"/>
                <a:cs typeface="ไอติม"/>
                <a:sym typeface="ไอติม"/>
              </a:rPr>
              <a:t>DETAILED CODE +LIVE DEMO</a:t>
            </a:r>
          </a:p>
        </p:txBody>
      </p:sp>
      <p:sp>
        <p:nvSpPr>
          <p:cNvPr name="TextBox 17" id="17"/>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8" id="18"/>
          <p:cNvSpPr txBox="true"/>
          <p:nvPr/>
        </p:nvSpPr>
        <p:spPr>
          <a:xfrm rot="0">
            <a:off x="0" y="498243"/>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2 - MEMBER 2</a:t>
            </a:r>
          </a:p>
        </p:txBody>
      </p:sp>
      <p:sp>
        <p:nvSpPr>
          <p:cNvPr name="TextBox 19" id="19"/>
          <p:cNvSpPr txBox="true"/>
          <p:nvPr/>
        </p:nvSpPr>
        <p:spPr>
          <a:xfrm rot="0">
            <a:off x="928851" y="4269084"/>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[3] main()</a:t>
            </a:r>
          </a:p>
        </p:txBody>
      </p:sp>
      <p:sp>
        <p:nvSpPr>
          <p:cNvPr name="TextBox 20" id="20"/>
          <p:cNvSpPr txBox="true"/>
          <p:nvPr/>
        </p:nvSpPr>
        <p:spPr>
          <a:xfrm rot="0">
            <a:off x="10803053" y="1108774"/>
            <a:ext cx="10081760" cy="593283"/>
          </a:xfrm>
          <a:prstGeom prst="rect">
            <a:avLst/>
          </a:prstGeom>
        </p:spPr>
        <p:txBody>
          <a:bodyPr anchor="t" rtlCol="false" tIns="0" lIns="0" bIns="0" rIns="0">
            <a:spAutoFit/>
          </a:bodyPr>
          <a:lstStyle/>
          <a:p>
            <a:pPr algn="l" marL="0" indent="0" lvl="0">
              <a:lnSpc>
                <a:spcPts val="4346"/>
              </a:lnSpc>
              <a:spcBef>
                <a:spcPct val="0"/>
              </a:spcBef>
            </a:pPr>
            <a:r>
              <a:rPr lang="en-US" sz="4346">
                <a:solidFill>
                  <a:srgbClr val="000000"/>
                </a:solidFill>
                <a:latin typeface="Aristotelica Pro Condensed"/>
                <a:ea typeface="Aristotelica Pro Condensed"/>
                <a:cs typeface="Aristotelica Pro Condensed"/>
                <a:sym typeface="Aristotelica Pro Condensed"/>
              </a:rPr>
              <a:t>  </a:t>
            </a:r>
            <a:r>
              <a:rPr lang="en-US" b="true" sz="4346">
                <a:solidFill>
                  <a:srgbClr val="000000"/>
                </a:solidFill>
                <a:latin typeface="Aristotelica Pro Condensed Bold"/>
                <a:ea typeface="Aristotelica Pro Condensed Bold"/>
                <a:cs typeface="Aristotelica Pro Condensed Bold"/>
                <a:sym typeface="Aristotelica Pro Condensed Bold"/>
              </a:rPr>
              <a:t>DEMO 2 - Package_Tracker</a:t>
            </a:r>
          </a:p>
        </p:txBody>
      </p:sp>
      <p:grpSp>
        <p:nvGrpSpPr>
          <p:cNvPr name="Group 21" id="21"/>
          <p:cNvGrpSpPr/>
          <p:nvPr/>
        </p:nvGrpSpPr>
        <p:grpSpPr>
          <a:xfrm rot="0">
            <a:off x="644999" y="7890389"/>
            <a:ext cx="2947558" cy="788873"/>
            <a:chOff x="0" y="0"/>
            <a:chExt cx="728202" cy="194893"/>
          </a:xfrm>
        </p:grpSpPr>
        <p:sp>
          <p:nvSpPr>
            <p:cNvPr name="Freeform 22" id="22"/>
            <p:cNvSpPr/>
            <p:nvPr/>
          </p:nvSpPr>
          <p:spPr>
            <a:xfrm flipH="false" flipV="false" rot="0">
              <a:off x="0" y="0"/>
              <a:ext cx="728202" cy="194893"/>
            </a:xfrm>
            <a:custGeom>
              <a:avLst/>
              <a:gdLst/>
              <a:ahLst/>
              <a:cxnLst/>
              <a:rect r="r" b="b" t="t" l="l"/>
              <a:pathLst>
                <a:path h="194893" w="728202">
                  <a:moveTo>
                    <a:pt x="97447" y="0"/>
                  </a:moveTo>
                  <a:lnTo>
                    <a:pt x="630755" y="0"/>
                  </a:lnTo>
                  <a:cubicBezTo>
                    <a:pt x="684574" y="0"/>
                    <a:pt x="728202" y="43628"/>
                    <a:pt x="728202" y="97447"/>
                  </a:cubicBezTo>
                  <a:lnTo>
                    <a:pt x="728202" y="97447"/>
                  </a:lnTo>
                  <a:cubicBezTo>
                    <a:pt x="728202" y="123291"/>
                    <a:pt x="717935" y="148077"/>
                    <a:pt x="699660" y="166352"/>
                  </a:cubicBezTo>
                  <a:cubicBezTo>
                    <a:pt x="681386" y="184627"/>
                    <a:pt x="656600" y="194893"/>
                    <a:pt x="630755" y="194893"/>
                  </a:cubicBezTo>
                  <a:lnTo>
                    <a:pt x="97447" y="194893"/>
                  </a:lnTo>
                  <a:cubicBezTo>
                    <a:pt x="43628" y="194893"/>
                    <a:pt x="0" y="151265"/>
                    <a:pt x="0" y="97447"/>
                  </a:cubicBezTo>
                  <a:lnTo>
                    <a:pt x="0" y="97447"/>
                  </a:lnTo>
                  <a:cubicBezTo>
                    <a:pt x="0" y="43628"/>
                    <a:pt x="43628" y="0"/>
                    <a:pt x="97447" y="0"/>
                  </a:cubicBezTo>
                  <a:close/>
                </a:path>
              </a:pathLst>
            </a:custGeom>
            <a:solidFill>
              <a:srgbClr val="FBD172"/>
            </a:solidFill>
            <a:ln cap="rnd">
              <a:noFill/>
              <a:prstDash val="solid"/>
              <a:round/>
            </a:ln>
          </p:spPr>
        </p:sp>
        <p:sp>
          <p:nvSpPr>
            <p:cNvPr name="TextBox 23" id="23"/>
            <p:cNvSpPr txBox="true"/>
            <p:nvPr/>
          </p:nvSpPr>
          <p:spPr>
            <a:xfrm>
              <a:off x="0" y="19050"/>
              <a:ext cx="728202" cy="175843"/>
            </a:xfrm>
            <a:prstGeom prst="rect">
              <a:avLst/>
            </a:prstGeom>
          </p:spPr>
          <p:txBody>
            <a:bodyPr anchor="ctr" rtlCol="false" tIns="50800" lIns="50800" bIns="50800" rIns="50800"/>
            <a:lstStyle/>
            <a:p>
              <a:pPr algn="ctr">
                <a:lnSpc>
                  <a:spcPts val="2694"/>
                </a:lnSpc>
              </a:pPr>
            </a:p>
          </p:txBody>
        </p:sp>
      </p:grpSp>
      <p:sp>
        <p:nvSpPr>
          <p:cNvPr name="TextBox 24" id="24"/>
          <p:cNvSpPr txBox="true"/>
          <p:nvPr/>
        </p:nvSpPr>
        <p:spPr>
          <a:xfrm rot="0">
            <a:off x="1014142" y="8043557"/>
            <a:ext cx="4086461" cy="547906"/>
          </a:xfrm>
          <a:prstGeom prst="rect">
            <a:avLst/>
          </a:prstGeom>
        </p:spPr>
        <p:txBody>
          <a:bodyPr anchor="t" rtlCol="false" tIns="0" lIns="0" bIns="0" rIns="0">
            <a:spAutoFit/>
          </a:bodyPr>
          <a:lstStyle/>
          <a:p>
            <a:pPr algn="l" marL="0" indent="0" lvl="0">
              <a:lnSpc>
                <a:spcPts val="4139"/>
              </a:lnSpc>
              <a:spcBef>
                <a:spcPct val="0"/>
              </a:spcBef>
            </a:pPr>
            <a:r>
              <a:rPr lang="en-US" b="true" sz="4139">
                <a:solidFill>
                  <a:srgbClr val="280C07"/>
                </a:solidFill>
                <a:latin typeface="Aristotelica Pro Condensed Bold"/>
                <a:ea typeface="Aristotelica Pro Condensed Bold"/>
                <a:cs typeface="Aristotelica Pro Condensed Bold"/>
                <a:sym typeface="Aristotelica Pro Condensed Bold"/>
              </a:rPr>
              <a:t>[4] Output</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10219" y="2093389"/>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747336" y="36693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3542" y="4333828"/>
            <a:ext cx="11490765" cy="6301674"/>
          </a:xfrm>
          <a:prstGeom prst="rect">
            <a:avLst/>
          </a:prstGeom>
        </p:spPr>
        <p:txBody>
          <a:bodyPr anchor="t" rtlCol="false" tIns="0" lIns="0" bIns="0" rIns="0">
            <a:spAutoFit/>
          </a:bodyPr>
          <a:lstStyle/>
          <a:p>
            <a:pPr algn="l">
              <a:lnSpc>
                <a:spcPts val="12488"/>
              </a:lnSpc>
            </a:pPr>
            <a:r>
              <a:rPr lang="en-US" sz="9756">
                <a:solidFill>
                  <a:srgbClr val="E74724"/>
                </a:solidFill>
                <a:latin typeface="ไอติม"/>
                <a:ea typeface="ไอติม"/>
                <a:cs typeface="ไอติม"/>
                <a:sym typeface="ไอติม"/>
              </a:rPr>
              <a:t>RUST</a:t>
            </a:r>
            <a:r>
              <a:rPr lang="en-US" sz="9756">
                <a:solidFill>
                  <a:srgbClr val="E74724"/>
                </a:solidFill>
                <a:latin typeface="ไอติม"/>
                <a:ea typeface="ไอติม"/>
                <a:cs typeface="ไอติม"/>
                <a:sym typeface="ไอติม"/>
              </a:rPr>
              <a:t> VS OTHER LANGUAGE </a:t>
            </a:r>
          </a:p>
          <a:p>
            <a:pPr algn="l">
              <a:lnSpc>
                <a:spcPts val="12488"/>
              </a:lnSpc>
            </a:pPr>
            <a:r>
              <a:rPr lang="en-US" sz="9756">
                <a:solidFill>
                  <a:srgbClr val="E74724"/>
                </a:solidFill>
                <a:latin typeface="ไอติม"/>
                <a:ea typeface="ไอติม"/>
                <a:cs typeface="ไอติม"/>
                <a:sym typeface="ไอติม"/>
              </a:rPr>
              <a:t>&amp; PPL ANALYSIS</a:t>
            </a:r>
          </a:p>
          <a:p>
            <a:pPr algn="l" marL="0" indent="0" lvl="0">
              <a:lnSpc>
                <a:spcPts val="12488"/>
              </a:lnSpc>
            </a:pPr>
          </a:p>
        </p:txBody>
      </p:sp>
      <p:sp>
        <p:nvSpPr>
          <p:cNvPr name="TextBox 7" id="7"/>
          <p:cNvSpPr txBox="true"/>
          <p:nvPr/>
        </p:nvSpPr>
        <p:spPr>
          <a:xfrm rot="0">
            <a:off x="2436206" y="2538586"/>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3</a:t>
            </a:r>
          </a:p>
        </p:txBody>
      </p:sp>
    </p:spTree>
  </p:cSld>
  <p:clrMapOvr>
    <a:masterClrMapping/>
  </p:clrMapOvr>
  <p:transition spd="fast">
    <p:push dir="l"/>
  </p:transition>
</p:sld>
</file>

<file path=ppt/slides/slide32.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766196" y="2294966"/>
            <a:ext cx="3386614" cy="650929"/>
            <a:chOff x="0" y="0"/>
            <a:chExt cx="1014619" cy="195016"/>
          </a:xfrm>
        </p:grpSpPr>
        <p:sp>
          <p:nvSpPr>
            <p:cNvPr name="Freeform 9" id="9"/>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0" id="10"/>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9537065" y="2294966"/>
            <a:ext cx="4199026" cy="705449"/>
            <a:chOff x="0" y="0"/>
            <a:chExt cx="1258015" cy="211350"/>
          </a:xfrm>
        </p:grpSpPr>
        <p:sp>
          <p:nvSpPr>
            <p:cNvPr name="Freeform 12" id="12"/>
            <p:cNvSpPr/>
            <p:nvPr/>
          </p:nvSpPr>
          <p:spPr>
            <a:xfrm flipH="false" flipV="false" rot="0">
              <a:off x="0" y="0"/>
              <a:ext cx="1258015" cy="211350"/>
            </a:xfrm>
            <a:custGeom>
              <a:avLst/>
              <a:gdLst/>
              <a:ahLst/>
              <a:cxnLst/>
              <a:rect r="r" b="b" t="t" l="l"/>
              <a:pathLst>
                <a:path h="211350" w="1258015">
                  <a:moveTo>
                    <a:pt x="105675" y="0"/>
                  </a:moveTo>
                  <a:lnTo>
                    <a:pt x="1152340" y="0"/>
                  </a:lnTo>
                  <a:cubicBezTo>
                    <a:pt x="1210702" y="0"/>
                    <a:pt x="1258015" y="47312"/>
                    <a:pt x="1258015" y="105675"/>
                  </a:cubicBezTo>
                  <a:lnTo>
                    <a:pt x="1258015" y="105675"/>
                  </a:lnTo>
                  <a:cubicBezTo>
                    <a:pt x="1258015" y="164038"/>
                    <a:pt x="1210702" y="211350"/>
                    <a:pt x="1152340"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13" id="13"/>
            <p:cNvSpPr txBox="true"/>
            <p:nvPr/>
          </p:nvSpPr>
          <p:spPr>
            <a:xfrm>
              <a:off x="0" y="19050"/>
              <a:ext cx="1258015" cy="192300"/>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355186" y="3688844"/>
            <a:ext cx="6288493" cy="4975260"/>
            <a:chOff x="0" y="0"/>
            <a:chExt cx="1656229" cy="1310356"/>
          </a:xfrm>
        </p:grpSpPr>
        <p:sp>
          <p:nvSpPr>
            <p:cNvPr name="Freeform 15" id="15"/>
            <p:cNvSpPr/>
            <p:nvPr/>
          </p:nvSpPr>
          <p:spPr>
            <a:xfrm flipH="false" flipV="false" rot="0">
              <a:off x="0" y="0"/>
              <a:ext cx="1656229" cy="1310356"/>
            </a:xfrm>
            <a:custGeom>
              <a:avLst/>
              <a:gdLst/>
              <a:ahLst/>
              <a:cxnLst/>
              <a:rect r="r" b="b" t="t" l="l"/>
              <a:pathLst>
                <a:path h="1310356" w="1656229">
                  <a:moveTo>
                    <a:pt x="62787" y="0"/>
                  </a:moveTo>
                  <a:lnTo>
                    <a:pt x="1593441" y="0"/>
                  </a:lnTo>
                  <a:cubicBezTo>
                    <a:pt x="1610093" y="0"/>
                    <a:pt x="1626064" y="6615"/>
                    <a:pt x="1637839" y="18390"/>
                  </a:cubicBezTo>
                  <a:cubicBezTo>
                    <a:pt x="1649613" y="30165"/>
                    <a:pt x="1656229" y="46135"/>
                    <a:pt x="1656229" y="62787"/>
                  </a:cubicBezTo>
                  <a:lnTo>
                    <a:pt x="1656229" y="1247569"/>
                  </a:lnTo>
                  <a:cubicBezTo>
                    <a:pt x="1656229" y="1282246"/>
                    <a:pt x="1628118" y="1310356"/>
                    <a:pt x="1593441" y="1310356"/>
                  </a:cubicBezTo>
                  <a:lnTo>
                    <a:pt x="62787" y="1310356"/>
                  </a:lnTo>
                  <a:cubicBezTo>
                    <a:pt x="28111" y="1310356"/>
                    <a:pt x="0" y="1282246"/>
                    <a:pt x="0" y="1247569"/>
                  </a:cubicBezTo>
                  <a:lnTo>
                    <a:pt x="0" y="62787"/>
                  </a:lnTo>
                  <a:cubicBezTo>
                    <a:pt x="0" y="28111"/>
                    <a:pt x="28111" y="0"/>
                    <a:pt x="62787" y="0"/>
                  </a:cubicBezTo>
                  <a:close/>
                </a:path>
              </a:pathLst>
            </a:custGeom>
            <a:solidFill>
              <a:srgbClr val="FFFFFF"/>
            </a:solidFill>
          </p:spPr>
        </p:sp>
        <p:sp>
          <p:nvSpPr>
            <p:cNvPr name="TextBox 16" id="16"/>
            <p:cNvSpPr txBox="true"/>
            <p:nvPr/>
          </p:nvSpPr>
          <p:spPr>
            <a:xfrm>
              <a:off x="0" y="47625"/>
              <a:ext cx="1656229" cy="1262731"/>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JAVA</a:t>
            </a:r>
          </a:p>
        </p:txBody>
      </p:sp>
      <p:sp>
        <p:nvSpPr>
          <p:cNvPr name="TextBox 18" id="18"/>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9" id="19"/>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SYNTAX</a:t>
            </a:r>
          </a:p>
        </p:txBody>
      </p:sp>
      <p:sp>
        <p:nvSpPr>
          <p:cNvPr name="TextBox 20" id="20"/>
          <p:cNvSpPr txBox="true"/>
          <p:nvPr/>
        </p:nvSpPr>
        <p:spPr>
          <a:xfrm rot="0">
            <a:off x="-1670808" y="3879344"/>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1" id="21"/>
          <p:cNvSpPr txBox="true"/>
          <p:nvPr/>
        </p:nvSpPr>
        <p:spPr>
          <a:xfrm rot="0">
            <a:off x="675939" y="4418750"/>
            <a:ext cx="5399017" cy="64418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เขียนสั้น ชัดเจน รวมการสร้างตัวแปรและแกะค่าในตัวเดียว ด้วยMATCH หรือ IF LET</a:t>
            </a:r>
          </a:p>
        </p:txBody>
      </p:sp>
      <p:sp>
        <p:nvSpPr>
          <p:cNvPr name="TextBox 22" id="22"/>
          <p:cNvSpPr txBox="true"/>
          <p:nvPr/>
        </p:nvSpPr>
        <p:spPr>
          <a:xfrm rot="0">
            <a:off x="560691" y="6224099"/>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-JAVA</a:t>
            </a:r>
          </a:p>
        </p:txBody>
      </p:sp>
      <p:sp>
        <p:nvSpPr>
          <p:cNvPr name="TextBox 23" id="23"/>
          <p:cNvSpPr txBox="true"/>
          <p:nvPr/>
        </p:nvSpPr>
        <p:spPr>
          <a:xfrm rot="0">
            <a:off x="766196" y="6773911"/>
            <a:ext cx="5399017" cy="958506"/>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ใช้ ENUM ร่วมกับ SEALED INTERFACES / RECORDS และแกะข้อมูลด้วย SWITCH EXPRESSION</a:t>
            </a:r>
          </a:p>
        </p:txBody>
      </p:sp>
      <p:sp>
        <p:nvSpPr>
          <p:cNvPr name="TextBox 24" id="24"/>
          <p:cNvSpPr txBox="true"/>
          <p:nvPr/>
        </p:nvSpPr>
        <p:spPr>
          <a:xfrm rot="0">
            <a:off x="9011830" y="25065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SEMANTICS / BEHAVIOR</a:t>
            </a:r>
          </a:p>
        </p:txBody>
      </p:sp>
      <p:grpSp>
        <p:nvGrpSpPr>
          <p:cNvPr name="Group 25" id="25"/>
          <p:cNvGrpSpPr/>
          <p:nvPr/>
        </p:nvGrpSpPr>
        <p:grpSpPr>
          <a:xfrm rot="0">
            <a:off x="9690778" y="3559407"/>
            <a:ext cx="5810027" cy="4975260"/>
            <a:chOff x="0" y="0"/>
            <a:chExt cx="1530213" cy="1310356"/>
          </a:xfrm>
        </p:grpSpPr>
        <p:sp>
          <p:nvSpPr>
            <p:cNvPr name="Freeform 26" id="26"/>
            <p:cNvSpPr/>
            <p:nvPr/>
          </p:nvSpPr>
          <p:spPr>
            <a:xfrm flipH="false" flipV="false" rot="0">
              <a:off x="0" y="0"/>
              <a:ext cx="1530213" cy="1310356"/>
            </a:xfrm>
            <a:custGeom>
              <a:avLst/>
              <a:gdLst/>
              <a:ahLst/>
              <a:cxnLst/>
              <a:rect r="r" b="b" t="t" l="l"/>
              <a:pathLst>
                <a:path h="1310356" w="1530213">
                  <a:moveTo>
                    <a:pt x="67958" y="0"/>
                  </a:moveTo>
                  <a:lnTo>
                    <a:pt x="1462255" y="0"/>
                  </a:lnTo>
                  <a:cubicBezTo>
                    <a:pt x="1480278" y="0"/>
                    <a:pt x="1497564" y="7160"/>
                    <a:pt x="1510308" y="19904"/>
                  </a:cubicBezTo>
                  <a:cubicBezTo>
                    <a:pt x="1523053" y="32649"/>
                    <a:pt x="1530213" y="49934"/>
                    <a:pt x="1530213" y="67958"/>
                  </a:cubicBezTo>
                  <a:lnTo>
                    <a:pt x="1530213" y="1242398"/>
                  </a:lnTo>
                  <a:cubicBezTo>
                    <a:pt x="1530213" y="1260422"/>
                    <a:pt x="1523053" y="1277707"/>
                    <a:pt x="1510308" y="1290452"/>
                  </a:cubicBezTo>
                  <a:cubicBezTo>
                    <a:pt x="1497564" y="1303197"/>
                    <a:pt x="1480278" y="1310356"/>
                    <a:pt x="1462255" y="1310356"/>
                  </a:cubicBezTo>
                  <a:lnTo>
                    <a:pt x="67958" y="1310356"/>
                  </a:lnTo>
                  <a:cubicBezTo>
                    <a:pt x="49934" y="1310356"/>
                    <a:pt x="32649" y="1303197"/>
                    <a:pt x="19904" y="1290452"/>
                  </a:cubicBezTo>
                  <a:cubicBezTo>
                    <a:pt x="7160" y="1277707"/>
                    <a:pt x="0" y="1260422"/>
                    <a:pt x="0" y="1242398"/>
                  </a:cubicBezTo>
                  <a:lnTo>
                    <a:pt x="0" y="67958"/>
                  </a:lnTo>
                  <a:cubicBezTo>
                    <a:pt x="0" y="49934"/>
                    <a:pt x="7160" y="32649"/>
                    <a:pt x="19904" y="19904"/>
                  </a:cubicBezTo>
                  <a:cubicBezTo>
                    <a:pt x="32649" y="7160"/>
                    <a:pt x="49934" y="0"/>
                    <a:pt x="67958" y="0"/>
                  </a:cubicBezTo>
                  <a:close/>
                </a:path>
              </a:pathLst>
            </a:custGeom>
            <a:solidFill>
              <a:srgbClr val="FFFFFF"/>
            </a:solidFill>
          </p:spPr>
        </p:sp>
        <p:sp>
          <p:nvSpPr>
            <p:cNvPr name="TextBox 27" id="27"/>
            <p:cNvSpPr txBox="true"/>
            <p:nvPr/>
          </p:nvSpPr>
          <p:spPr>
            <a:xfrm>
              <a:off x="0" y="47625"/>
              <a:ext cx="1530213" cy="1262731"/>
            </a:xfrm>
            <a:prstGeom prst="rect">
              <a:avLst/>
            </a:prstGeom>
          </p:spPr>
          <p:txBody>
            <a:bodyPr anchor="ctr" rtlCol="false" tIns="50800" lIns="50800" bIns="50800" rIns="50800"/>
            <a:lstStyle/>
            <a:p>
              <a:pPr algn="ctr">
                <a:lnSpc>
                  <a:spcPts val="2486"/>
                </a:lnSpc>
              </a:pPr>
            </a:p>
          </p:txBody>
        </p:sp>
      </p:grpSp>
      <p:sp>
        <p:nvSpPr>
          <p:cNvPr name="TextBox 28" id="28"/>
          <p:cNvSpPr txBox="true"/>
          <p:nvPr/>
        </p:nvSpPr>
        <p:spPr>
          <a:xfrm rot="0">
            <a:off x="7836589"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9" id="29"/>
          <p:cNvSpPr txBox="true"/>
          <p:nvPr/>
        </p:nvSpPr>
        <p:spPr>
          <a:xfrm rot="0">
            <a:off x="9955723"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แต่ละตัวเก็บข้อมูลต่างชนิดกันได้เลย และMATCHสามารถคืนค่าออกมาใช้ได้ทันที</a:t>
            </a:r>
          </a:p>
        </p:txBody>
      </p:sp>
      <p:sp>
        <p:nvSpPr>
          <p:cNvPr name="TextBox 30" id="30"/>
          <p:cNvSpPr txBox="true"/>
          <p:nvPr/>
        </p:nvSpPr>
        <p:spPr>
          <a:xfrm rot="0">
            <a:off x="9955723" y="6773911"/>
            <a:ext cx="5399017" cy="12728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มาตรฐานเก็บได้เฉพาะค่าคงที่ หากต้องการเก็บข้อมูลต่างชนิดกัน ต้องสร้าง CLASS HIERARCHY ผ่าน SEALED TYPES</a:t>
            </a:r>
          </a:p>
        </p:txBody>
      </p:sp>
      <p:sp>
        <p:nvSpPr>
          <p:cNvPr name="TextBox 31" id="31"/>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32" id="32"/>
          <p:cNvSpPr txBox="true"/>
          <p:nvPr/>
        </p:nvSpPr>
        <p:spPr>
          <a:xfrm rot="0">
            <a:off x="9896284" y="6224099"/>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-JAVA</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JAVA </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294966"/>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TYPE SYSTEM</a:t>
            </a:r>
          </a:p>
        </p:txBody>
      </p:sp>
      <p:grpSp>
        <p:nvGrpSpPr>
          <p:cNvPr name="Group 14" id="14"/>
          <p:cNvGrpSpPr/>
          <p:nvPr/>
        </p:nvGrpSpPr>
        <p:grpSpPr>
          <a:xfrm rot="0">
            <a:off x="355186" y="3591916"/>
            <a:ext cx="5810027" cy="5072188"/>
            <a:chOff x="0" y="0"/>
            <a:chExt cx="1530213" cy="1335885"/>
          </a:xfrm>
        </p:grpSpPr>
        <p:sp>
          <p:nvSpPr>
            <p:cNvPr name="Freeform 15" id="15"/>
            <p:cNvSpPr/>
            <p:nvPr/>
          </p:nvSpPr>
          <p:spPr>
            <a:xfrm flipH="false" flipV="false" rot="0">
              <a:off x="0" y="0"/>
              <a:ext cx="1530213" cy="1335885"/>
            </a:xfrm>
            <a:custGeom>
              <a:avLst/>
              <a:gdLst/>
              <a:ahLst/>
              <a:cxnLst/>
              <a:rect r="r" b="b" t="t" l="l"/>
              <a:pathLst>
                <a:path h="1335885" w="1530213">
                  <a:moveTo>
                    <a:pt x="67958" y="0"/>
                  </a:moveTo>
                  <a:lnTo>
                    <a:pt x="1462255" y="0"/>
                  </a:lnTo>
                  <a:cubicBezTo>
                    <a:pt x="1480278" y="0"/>
                    <a:pt x="1497564" y="7160"/>
                    <a:pt x="1510308" y="19904"/>
                  </a:cubicBezTo>
                  <a:cubicBezTo>
                    <a:pt x="1523053" y="32649"/>
                    <a:pt x="1530213" y="49934"/>
                    <a:pt x="1530213" y="67958"/>
                  </a:cubicBezTo>
                  <a:lnTo>
                    <a:pt x="1530213" y="1267927"/>
                  </a:lnTo>
                  <a:cubicBezTo>
                    <a:pt x="1530213" y="1285950"/>
                    <a:pt x="1523053" y="1303236"/>
                    <a:pt x="1510308" y="1315981"/>
                  </a:cubicBezTo>
                  <a:cubicBezTo>
                    <a:pt x="1497564" y="1328725"/>
                    <a:pt x="1480278" y="1335885"/>
                    <a:pt x="1462255" y="1335885"/>
                  </a:cubicBezTo>
                  <a:lnTo>
                    <a:pt x="67958" y="1335885"/>
                  </a:lnTo>
                  <a:cubicBezTo>
                    <a:pt x="49934" y="1335885"/>
                    <a:pt x="32649" y="1328725"/>
                    <a:pt x="19904" y="1315981"/>
                  </a:cubicBezTo>
                  <a:cubicBezTo>
                    <a:pt x="7160" y="1303236"/>
                    <a:pt x="0" y="1285950"/>
                    <a:pt x="0" y="1267927"/>
                  </a:cubicBezTo>
                  <a:lnTo>
                    <a:pt x="0" y="67958"/>
                  </a:lnTo>
                  <a:cubicBezTo>
                    <a:pt x="0" y="49934"/>
                    <a:pt x="7160" y="32649"/>
                    <a:pt x="19904" y="19904"/>
                  </a:cubicBezTo>
                  <a:cubicBezTo>
                    <a:pt x="32649" y="7160"/>
                    <a:pt x="49934" y="0"/>
                    <a:pt x="67958" y="0"/>
                  </a:cubicBezTo>
                  <a:close/>
                </a:path>
              </a:pathLst>
            </a:custGeom>
            <a:solidFill>
              <a:srgbClr val="FFFFFF"/>
            </a:solidFill>
          </p:spPr>
        </p:sp>
        <p:sp>
          <p:nvSpPr>
            <p:cNvPr name="TextBox 16" id="16"/>
            <p:cNvSpPr txBox="true"/>
            <p:nvPr/>
          </p:nvSpPr>
          <p:spPr>
            <a:xfrm>
              <a:off x="0" y="47625"/>
              <a:ext cx="1530213" cy="1288260"/>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1246207"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8" id="18"/>
          <p:cNvSpPr txBox="true"/>
          <p:nvPr/>
        </p:nvSpPr>
        <p:spPr>
          <a:xfrm rot="0">
            <a:off x="675939"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ออกแบบเป็น ALGEBRAIC DATA TYPES ตัดปัญหาเรื่อง NULL ทิ้ง แล้วแทนด้วย OPTION</a:t>
            </a:r>
          </a:p>
        </p:txBody>
      </p:sp>
      <p:sp>
        <p:nvSpPr>
          <p:cNvPr name="TextBox 19" id="19"/>
          <p:cNvSpPr txBox="true"/>
          <p:nvPr/>
        </p:nvSpPr>
        <p:spPr>
          <a:xfrm rot="0">
            <a:off x="766196" y="6773911"/>
            <a:ext cx="5399017" cy="1272831"/>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ตรวจสอบความครบถ้วน (EXHAUSTIVENESS) ผ่าน SWITCH ได้ตั้งแต่ JAVA 17/21 เมื่อใช้งานร่วมกับ SEALED TYPES   </a:t>
            </a:r>
          </a:p>
        </p:txBody>
      </p:sp>
      <p:grpSp>
        <p:nvGrpSpPr>
          <p:cNvPr name="Group 20" id="20"/>
          <p:cNvGrpSpPr/>
          <p:nvPr/>
        </p:nvGrpSpPr>
        <p:grpSpPr>
          <a:xfrm rot="0">
            <a:off x="9955723" y="2294966"/>
            <a:ext cx="3511231" cy="705449"/>
            <a:chOff x="0" y="0"/>
            <a:chExt cx="1051954" cy="211350"/>
          </a:xfrm>
        </p:grpSpPr>
        <p:sp>
          <p:nvSpPr>
            <p:cNvPr name="Freeform 21" id="21"/>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2" id="22"/>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23" id="23"/>
          <p:cNvSpPr txBox="true"/>
          <p:nvPr/>
        </p:nvSpPr>
        <p:spPr>
          <a:xfrm rot="0">
            <a:off x="9011830" y="25065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MEMORY MANAGEMENT</a:t>
            </a:r>
          </a:p>
        </p:txBody>
      </p:sp>
      <p:grpSp>
        <p:nvGrpSpPr>
          <p:cNvPr name="Group 24" id="24"/>
          <p:cNvGrpSpPr/>
          <p:nvPr/>
        </p:nvGrpSpPr>
        <p:grpSpPr>
          <a:xfrm rot="0">
            <a:off x="9573346" y="3603397"/>
            <a:ext cx="5810027" cy="5072188"/>
            <a:chOff x="0" y="0"/>
            <a:chExt cx="1530213" cy="1335885"/>
          </a:xfrm>
        </p:grpSpPr>
        <p:sp>
          <p:nvSpPr>
            <p:cNvPr name="Freeform 25" id="25"/>
            <p:cNvSpPr/>
            <p:nvPr/>
          </p:nvSpPr>
          <p:spPr>
            <a:xfrm flipH="false" flipV="false" rot="0">
              <a:off x="0" y="0"/>
              <a:ext cx="1530213" cy="1335885"/>
            </a:xfrm>
            <a:custGeom>
              <a:avLst/>
              <a:gdLst/>
              <a:ahLst/>
              <a:cxnLst/>
              <a:rect r="r" b="b" t="t" l="l"/>
              <a:pathLst>
                <a:path h="1335885" w="1530213">
                  <a:moveTo>
                    <a:pt x="67958" y="0"/>
                  </a:moveTo>
                  <a:lnTo>
                    <a:pt x="1462255" y="0"/>
                  </a:lnTo>
                  <a:cubicBezTo>
                    <a:pt x="1480278" y="0"/>
                    <a:pt x="1497564" y="7160"/>
                    <a:pt x="1510308" y="19904"/>
                  </a:cubicBezTo>
                  <a:cubicBezTo>
                    <a:pt x="1523053" y="32649"/>
                    <a:pt x="1530213" y="49934"/>
                    <a:pt x="1530213" y="67958"/>
                  </a:cubicBezTo>
                  <a:lnTo>
                    <a:pt x="1530213" y="1267927"/>
                  </a:lnTo>
                  <a:cubicBezTo>
                    <a:pt x="1530213" y="1285950"/>
                    <a:pt x="1523053" y="1303236"/>
                    <a:pt x="1510308" y="1315981"/>
                  </a:cubicBezTo>
                  <a:cubicBezTo>
                    <a:pt x="1497564" y="1328725"/>
                    <a:pt x="1480278" y="1335885"/>
                    <a:pt x="1462255" y="1335885"/>
                  </a:cubicBezTo>
                  <a:lnTo>
                    <a:pt x="67958" y="1335885"/>
                  </a:lnTo>
                  <a:cubicBezTo>
                    <a:pt x="49934" y="1335885"/>
                    <a:pt x="32649" y="1328725"/>
                    <a:pt x="19904" y="1315981"/>
                  </a:cubicBezTo>
                  <a:cubicBezTo>
                    <a:pt x="7160" y="1303236"/>
                    <a:pt x="0" y="1285950"/>
                    <a:pt x="0" y="1267927"/>
                  </a:cubicBezTo>
                  <a:lnTo>
                    <a:pt x="0" y="67958"/>
                  </a:lnTo>
                  <a:cubicBezTo>
                    <a:pt x="0" y="49934"/>
                    <a:pt x="7160" y="32649"/>
                    <a:pt x="19904" y="19904"/>
                  </a:cubicBezTo>
                  <a:cubicBezTo>
                    <a:pt x="32649" y="7160"/>
                    <a:pt x="49934" y="0"/>
                    <a:pt x="67958" y="0"/>
                  </a:cubicBezTo>
                  <a:close/>
                </a:path>
              </a:pathLst>
            </a:custGeom>
            <a:solidFill>
              <a:srgbClr val="FFFFFF"/>
            </a:solidFill>
          </p:spPr>
        </p:sp>
        <p:sp>
          <p:nvSpPr>
            <p:cNvPr name="TextBox 26" id="26"/>
            <p:cNvSpPr txBox="true"/>
            <p:nvPr/>
          </p:nvSpPr>
          <p:spPr>
            <a:xfrm>
              <a:off x="0" y="47625"/>
              <a:ext cx="1530213" cy="1288260"/>
            </a:xfrm>
            <a:prstGeom prst="rect">
              <a:avLst/>
            </a:prstGeom>
          </p:spPr>
          <p:txBody>
            <a:bodyPr anchor="ctr" rtlCol="false" tIns="50800" lIns="50800" bIns="50800" rIns="50800"/>
            <a:lstStyle/>
            <a:p>
              <a:pPr algn="ctr">
                <a:lnSpc>
                  <a:spcPts val="2486"/>
                </a:lnSpc>
              </a:pPr>
            </a:p>
          </p:txBody>
        </p:sp>
      </p:grpSp>
      <p:sp>
        <p:nvSpPr>
          <p:cNvPr name="TextBox 27" id="27"/>
          <p:cNvSpPr txBox="true"/>
          <p:nvPr/>
        </p:nvSpPr>
        <p:spPr>
          <a:xfrm rot="0">
            <a:off x="7836589"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8" id="28"/>
          <p:cNvSpPr txBox="true"/>
          <p:nvPr/>
        </p:nvSpPr>
        <p:spPr>
          <a:xfrm rot="0">
            <a:off x="9955723"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จองหน่วยความจำแบบ TAGGED UNION เท่าที่จำเป็น ทำงานไว ไม่มีระบบ GARBAGE COLLECTION มาดึงเครื่อง</a:t>
            </a:r>
          </a:p>
        </p:txBody>
      </p:sp>
      <p:sp>
        <p:nvSpPr>
          <p:cNvPr name="TextBox 29" id="29"/>
          <p:cNvSpPr txBox="true"/>
          <p:nvPr/>
        </p:nvSpPr>
        <p:spPr>
          <a:xfrm rot="0">
            <a:off x="9955723" y="6773911"/>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ข้อมูล VARIANT/RECORD ถูกสร้างเป็น OBJECT บน HEAP และบริหารจัดการโดย GARBAGE COLLECTOR (GC)</a:t>
            </a:r>
          </a:p>
        </p:txBody>
      </p:sp>
      <p:sp>
        <p:nvSpPr>
          <p:cNvPr name="TextBox 30" id="30"/>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31" id="31"/>
          <p:cNvSpPr txBox="true"/>
          <p:nvPr/>
        </p:nvSpPr>
        <p:spPr>
          <a:xfrm rot="0">
            <a:off x="560691" y="6224099"/>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-JAVA</a:t>
            </a:r>
          </a:p>
        </p:txBody>
      </p:sp>
      <p:sp>
        <p:nvSpPr>
          <p:cNvPr name="TextBox 32" id="32"/>
          <p:cNvSpPr txBox="true"/>
          <p:nvPr/>
        </p:nvSpPr>
        <p:spPr>
          <a:xfrm rot="0">
            <a:off x="9955723" y="6396431"/>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-JAVA</a:t>
            </a:r>
          </a:p>
        </p:txBody>
      </p:sp>
    </p:spTree>
  </p:cSld>
  <p:clrMapOvr>
    <a:masterClrMapping/>
  </p:clrMapOvr>
  <p:transition spd="fast">
    <p:fade/>
  </p:transition>
</p:sld>
</file>

<file path=ppt/slides/slide34.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JAVA</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450693" y="2431690"/>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6444492" y="261603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SAFETY</a:t>
            </a:r>
          </a:p>
        </p:txBody>
      </p:sp>
      <p:grpSp>
        <p:nvGrpSpPr>
          <p:cNvPr name="Group 14" id="14"/>
          <p:cNvGrpSpPr/>
          <p:nvPr/>
        </p:nvGrpSpPr>
        <p:grpSpPr>
          <a:xfrm rot="0">
            <a:off x="6922250" y="3584558"/>
            <a:ext cx="6209296" cy="4904800"/>
            <a:chOff x="0" y="0"/>
            <a:chExt cx="1635370" cy="1291799"/>
          </a:xfrm>
        </p:grpSpPr>
        <p:sp>
          <p:nvSpPr>
            <p:cNvPr name="Freeform 15" id="15"/>
            <p:cNvSpPr/>
            <p:nvPr/>
          </p:nvSpPr>
          <p:spPr>
            <a:xfrm flipH="false" flipV="false" rot="0">
              <a:off x="0" y="0"/>
              <a:ext cx="1635370" cy="1291799"/>
            </a:xfrm>
            <a:custGeom>
              <a:avLst/>
              <a:gdLst/>
              <a:ahLst/>
              <a:cxnLst/>
              <a:rect r="r" b="b" t="t" l="l"/>
              <a:pathLst>
                <a:path h="1291799" w="1635370">
                  <a:moveTo>
                    <a:pt x="63588" y="0"/>
                  </a:moveTo>
                  <a:lnTo>
                    <a:pt x="1571782" y="0"/>
                  </a:lnTo>
                  <a:cubicBezTo>
                    <a:pt x="1606901" y="0"/>
                    <a:pt x="1635370" y="28469"/>
                    <a:pt x="1635370" y="63588"/>
                  </a:cubicBezTo>
                  <a:lnTo>
                    <a:pt x="1635370" y="1228211"/>
                  </a:lnTo>
                  <a:cubicBezTo>
                    <a:pt x="1635370" y="1263330"/>
                    <a:pt x="1606901" y="1291799"/>
                    <a:pt x="1571782" y="1291799"/>
                  </a:cubicBezTo>
                  <a:lnTo>
                    <a:pt x="63588" y="1291799"/>
                  </a:lnTo>
                  <a:cubicBezTo>
                    <a:pt x="28469" y="1291799"/>
                    <a:pt x="0" y="1263330"/>
                    <a:pt x="0" y="1228211"/>
                  </a:cubicBezTo>
                  <a:lnTo>
                    <a:pt x="0" y="63588"/>
                  </a:lnTo>
                  <a:cubicBezTo>
                    <a:pt x="0" y="28469"/>
                    <a:pt x="28469" y="0"/>
                    <a:pt x="63588" y="0"/>
                  </a:cubicBezTo>
                  <a:close/>
                </a:path>
              </a:pathLst>
            </a:custGeom>
            <a:solidFill>
              <a:srgbClr val="FFFFFF"/>
            </a:solidFill>
          </p:spPr>
        </p:sp>
        <p:sp>
          <p:nvSpPr>
            <p:cNvPr name="TextBox 16" id="16"/>
            <p:cNvSpPr txBox="true"/>
            <p:nvPr/>
          </p:nvSpPr>
          <p:spPr>
            <a:xfrm>
              <a:off x="0" y="47625"/>
              <a:ext cx="1635370" cy="1244174"/>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5225067" y="377074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8" id="18"/>
          <p:cNvSpPr txBox="true"/>
          <p:nvPr/>
        </p:nvSpPr>
        <p:spPr>
          <a:xfrm rot="0">
            <a:off x="7450693" y="4499319"/>
            <a:ext cx="5399017" cy="64418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COMPILER ดี แต่ต้องเขียนดักให้ครบทุกกรณี ไม่งั้นจะ COMPILE ไม่ผ่าน</a:t>
            </a:r>
          </a:p>
        </p:txBody>
      </p:sp>
      <p:sp>
        <p:nvSpPr>
          <p:cNvPr name="TextBox 19" id="19"/>
          <p:cNvSpPr txBox="true"/>
          <p:nvPr/>
        </p:nvSpPr>
        <p:spPr>
          <a:xfrm rot="0">
            <a:off x="7450693" y="6849718"/>
            <a:ext cx="5399017" cy="958506"/>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ปลอดภัยสูงขึ้นเมื่อใช้ SEALED TYPES แต่ยังมีโอกาสเกิดปัญหาจาก NULL หากเขียนไม่รัดกุม   </a:t>
            </a:r>
          </a:p>
        </p:txBody>
      </p:sp>
      <p:sp>
        <p:nvSpPr>
          <p:cNvPr name="TextBox 20" id="20"/>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21" id="21"/>
          <p:cNvSpPr txBox="true"/>
          <p:nvPr/>
        </p:nvSpPr>
        <p:spPr>
          <a:xfrm rot="0">
            <a:off x="7327390" y="6472238"/>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-JAVA</a:t>
            </a:r>
          </a:p>
        </p:txBody>
      </p:sp>
    </p:spTree>
  </p:cSld>
  <p:clrMapOvr>
    <a:masterClrMapping/>
  </p:clrMapOvr>
  <p:transition spd="fast">
    <p:fade/>
  </p:transition>
</p:sld>
</file>

<file path=ppt/slides/slide35.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832252" y="1996762"/>
            <a:ext cx="3386614" cy="650929"/>
            <a:chOff x="0" y="0"/>
            <a:chExt cx="1014619" cy="195016"/>
          </a:xfrm>
        </p:grpSpPr>
        <p:sp>
          <p:nvSpPr>
            <p:cNvPr name="Freeform 9" id="9"/>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0" id="10"/>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7668058" y="1805517"/>
            <a:ext cx="4199026" cy="705449"/>
            <a:chOff x="0" y="0"/>
            <a:chExt cx="1258015" cy="211350"/>
          </a:xfrm>
        </p:grpSpPr>
        <p:sp>
          <p:nvSpPr>
            <p:cNvPr name="Freeform 12" id="12"/>
            <p:cNvSpPr/>
            <p:nvPr/>
          </p:nvSpPr>
          <p:spPr>
            <a:xfrm flipH="false" flipV="false" rot="0">
              <a:off x="0" y="0"/>
              <a:ext cx="1258015" cy="211350"/>
            </a:xfrm>
            <a:custGeom>
              <a:avLst/>
              <a:gdLst/>
              <a:ahLst/>
              <a:cxnLst/>
              <a:rect r="r" b="b" t="t" l="l"/>
              <a:pathLst>
                <a:path h="211350" w="1258015">
                  <a:moveTo>
                    <a:pt x="105675" y="0"/>
                  </a:moveTo>
                  <a:lnTo>
                    <a:pt x="1152340" y="0"/>
                  </a:lnTo>
                  <a:cubicBezTo>
                    <a:pt x="1210702" y="0"/>
                    <a:pt x="1258015" y="47312"/>
                    <a:pt x="1258015" y="105675"/>
                  </a:cubicBezTo>
                  <a:lnTo>
                    <a:pt x="1258015" y="105675"/>
                  </a:lnTo>
                  <a:cubicBezTo>
                    <a:pt x="1258015" y="164038"/>
                    <a:pt x="1210702" y="211350"/>
                    <a:pt x="1152340"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13" id="13"/>
            <p:cNvSpPr txBox="true"/>
            <p:nvPr/>
          </p:nvSpPr>
          <p:spPr>
            <a:xfrm>
              <a:off x="0" y="19050"/>
              <a:ext cx="1258015" cy="192300"/>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728987" y="2819140"/>
            <a:ext cx="6288493" cy="3227897"/>
            <a:chOff x="0" y="0"/>
            <a:chExt cx="1656229" cy="850146"/>
          </a:xfrm>
        </p:grpSpPr>
        <p:sp>
          <p:nvSpPr>
            <p:cNvPr name="Freeform 15" id="15"/>
            <p:cNvSpPr/>
            <p:nvPr/>
          </p:nvSpPr>
          <p:spPr>
            <a:xfrm flipH="false" flipV="false" rot="0">
              <a:off x="0" y="0"/>
              <a:ext cx="1656229" cy="850146"/>
            </a:xfrm>
            <a:custGeom>
              <a:avLst/>
              <a:gdLst/>
              <a:ahLst/>
              <a:cxnLst/>
              <a:rect r="r" b="b" t="t" l="l"/>
              <a:pathLst>
                <a:path h="850146" w="1656229">
                  <a:moveTo>
                    <a:pt x="62787" y="0"/>
                  </a:moveTo>
                  <a:lnTo>
                    <a:pt x="1593441" y="0"/>
                  </a:lnTo>
                  <a:cubicBezTo>
                    <a:pt x="1610093" y="0"/>
                    <a:pt x="1626064" y="6615"/>
                    <a:pt x="1637839" y="18390"/>
                  </a:cubicBezTo>
                  <a:cubicBezTo>
                    <a:pt x="1649613" y="30165"/>
                    <a:pt x="1656229" y="46135"/>
                    <a:pt x="1656229" y="62787"/>
                  </a:cubicBezTo>
                  <a:lnTo>
                    <a:pt x="1656229" y="787358"/>
                  </a:lnTo>
                  <a:cubicBezTo>
                    <a:pt x="1656229" y="822035"/>
                    <a:pt x="1628118" y="850146"/>
                    <a:pt x="1593441" y="850146"/>
                  </a:cubicBezTo>
                  <a:lnTo>
                    <a:pt x="62787" y="850146"/>
                  </a:lnTo>
                  <a:cubicBezTo>
                    <a:pt x="46135" y="850146"/>
                    <a:pt x="30165" y="843531"/>
                    <a:pt x="18390" y="831756"/>
                  </a:cubicBezTo>
                  <a:cubicBezTo>
                    <a:pt x="6615" y="819981"/>
                    <a:pt x="0" y="804011"/>
                    <a:pt x="0" y="787358"/>
                  </a:cubicBezTo>
                  <a:lnTo>
                    <a:pt x="0" y="62787"/>
                  </a:lnTo>
                  <a:cubicBezTo>
                    <a:pt x="0" y="28111"/>
                    <a:pt x="28111" y="0"/>
                    <a:pt x="62787" y="0"/>
                  </a:cubicBezTo>
                  <a:close/>
                </a:path>
              </a:pathLst>
            </a:custGeom>
            <a:solidFill>
              <a:srgbClr val="FFFFFF"/>
            </a:solidFill>
          </p:spPr>
        </p:sp>
        <p:sp>
          <p:nvSpPr>
            <p:cNvPr name="TextBox 16" id="16"/>
            <p:cNvSpPr txBox="true"/>
            <p:nvPr/>
          </p:nvSpPr>
          <p:spPr>
            <a:xfrm>
              <a:off x="0" y="47625"/>
              <a:ext cx="1656229" cy="802521"/>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PYTHON</a:t>
            </a:r>
          </a:p>
        </p:txBody>
      </p:sp>
      <p:sp>
        <p:nvSpPr>
          <p:cNvPr name="TextBox 18" id="18"/>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9" id="19"/>
          <p:cNvSpPr txBox="true"/>
          <p:nvPr/>
        </p:nvSpPr>
        <p:spPr>
          <a:xfrm rot="0">
            <a:off x="-173950" y="2181111"/>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SYNTAX</a:t>
            </a:r>
          </a:p>
        </p:txBody>
      </p:sp>
      <p:sp>
        <p:nvSpPr>
          <p:cNvPr name="TextBox 20" id="20"/>
          <p:cNvSpPr txBox="true"/>
          <p:nvPr/>
        </p:nvSpPr>
        <p:spPr>
          <a:xfrm rot="0">
            <a:off x="-1297007" y="300964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1" id="21"/>
          <p:cNvSpPr txBox="true"/>
          <p:nvPr/>
        </p:nvSpPr>
        <p:spPr>
          <a:xfrm rot="0">
            <a:off x="1049740" y="3549046"/>
            <a:ext cx="5399017" cy="64418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เขียนสั้น ชัดเจน รวมการสร้างตัวแปรและแกะค่าในตัวเดียว ด้วยMATCH หรือ IF LET</a:t>
            </a:r>
          </a:p>
        </p:txBody>
      </p:sp>
      <p:sp>
        <p:nvSpPr>
          <p:cNvPr name="TextBox 22" id="22"/>
          <p:cNvSpPr txBox="true"/>
          <p:nvPr/>
        </p:nvSpPr>
        <p:spPr>
          <a:xfrm rot="0">
            <a:off x="1028700" y="4418750"/>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PYTHON</a:t>
            </a:r>
          </a:p>
        </p:txBody>
      </p:sp>
      <p:sp>
        <p:nvSpPr>
          <p:cNvPr name="TextBox 23" id="23"/>
          <p:cNvSpPr txBox="true"/>
          <p:nvPr/>
        </p:nvSpPr>
        <p:spPr>
          <a:xfrm rot="0">
            <a:off x="1028700" y="4921815"/>
            <a:ext cx="5399017" cy="958506"/>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ใช้คลาส ENUM ร่วมกับ DATACLASS หรือคลาสทั่วไป และแกะโครงสร้างด้วย MATCH / CASE</a:t>
            </a:r>
          </a:p>
        </p:txBody>
      </p:sp>
      <p:sp>
        <p:nvSpPr>
          <p:cNvPr name="TextBox 24" id="24"/>
          <p:cNvSpPr txBox="true"/>
          <p:nvPr/>
        </p:nvSpPr>
        <p:spPr>
          <a:xfrm rot="0">
            <a:off x="7142823" y="2017127"/>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SEMANTICS / BEHAVIOR</a:t>
            </a:r>
          </a:p>
        </p:txBody>
      </p:sp>
      <p:grpSp>
        <p:nvGrpSpPr>
          <p:cNvPr name="Group 25" id="25"/>
          <p:cNvGrpSpPr/>
          <p:nvPr/>
        </p:nvGrpSpPr>
        <p:grpSpPr>
          <a:xfrm rot="0">
            <a:off x="7522730" y="2819140"/>
            <a:ext cx="5810027" cy="4975260"/>
            <a:chOff x="0" y="0"/>
            <a:chExt cx="1530213" cy="1310356"/>
          </a:xfrm>
        </p:grpSpPr>
        <p:sp>
          <p:nvSpPr>
            <p:cNvPr name="Freeform 26" id="26"/>
            <p:cNvSpPr/>
            <p:nvPr/>
          </p:nvSpPr>
          <p:spPr>
            <a:xfrm flipH="false" flipV="false" rot="0">
              <a:off x="0" y="0"/>
              <a:ext cx="1530213" cy="1310356"/>
            </a:xfrm>
            <a:custGeom>
              <a:avLst/>
              <a:gdLst/>
              <a:ahLst/>
              <a:cxnLst/>
              <a:rect r="r" b="b" t="t" l="l"/>
              <a:pathLst>
                <a:path h="1310356" w="1530213">
                  <a:moveTo>
                    <a:pt x="67958" y="0"/>
                  </a:moveTo>
                  <a:lnTo>
                    <a:pt x="1462255" y="0"/>
                  </a:lnTo>
                  <a:cubicBezTo>
                    <a:pt x="1480278" y="0"/>
                    <a:pt x="1497564" y="7160"/>
                    <a:pt x="1510308" y="19904"/>
                  </a:cubicBezTo>
                  <a:cubicBezTo>
                    <a:pt x="1523053" y="32649"/>
                    <a:pt x="1530213" y="49934"/>
                    <a:pt x="1530213" y="67958"/>
                  </a:cubicBezTo>
                  <a:lnTo>
                    <a:pt x="1530213" y="1242398"/>
                  </a:lnTo>
                  <a:cubicBezTo>
                    <a:pt x="1530213" y="1260422"/>
                    <a:pt x="1523053" y="1277707"/>
                    <a:pt x="1510308" y="1290452"/>
                  </a:cubicBezTo>
                  <a:cubicBezTo>
                    <a:pt x="1497564" y="1303197"/>
                    <a:pt x="1480278" y="1310356"/>
                    <a:pt x="1462255" y="1310356"/>
                  </a:cubicBezTo>
                  <a:lnTo>
                    <a:pt x="67958" y="1310356"/>
                  </a:lnTo>
                  <a:cubicBezTo>
                    <a:pt x="49934" y="1310356"/>
                    <a:pt x="32649" y="1303197"/>
                    <a:pt x="19904" y="1290452"/>
                  </a:cubicBezTo>
                  <a:cubicBezTo>
                    <a:pt x="7160" y="1277707"/>
                    <a:pt x="0" y="1260422"/>
                    <a:pt x="0" y="1242398"/>
                  </a:cubicBezTo>
                  <a:lnTo>
                    <a:pt x="0" y="67958"/>
                  </a:lnTo>
                  <a:cubicBezTo>
                    <a:pt x="0" y="49934"/>
                    <a:pt x="7160" y="32649"/>
                    <a:pt x="19904" y="19904"/>
                  </a:cubicBezTo>
                  <a:cubicBezTo>
                    <a:pt x="32649" y="7160"/>
                    <a:pt x="49934" y="0"/>
                    <a:pt x="67958" y="0"/>
                  </a:cubicBezTo>
                  <a:close/>
                </a:path>
              </a:pathLst>
            </a:custGeom>
            <a:solidFill>
              <a:srgbClr val="FFFFFF"/>
            </a:solidFill>
          </p:spPr>
        </p:sp>
        <p:sp>
          <p:nvSpPr>
            <p:cNvPr name="TextBox 27" id="27"/>
            <p:cNvSpPr txBox="true"/>
            <p:nvPr/>
          </p:nvSpPr>
          <p:spPr>
            <a:xfrm>
              <a:off x="0" y="47625"/>
              <a:ext cx="1530213" cy="1262731"/>
            </a:xfrm>
            <a:prstGeom prst="rect">
              <a:avLst/>
            </a:prstGeom>
          </p:spPr>
          <p:txBody>
            <a:bodyPr anchor="ctr" rtlCol="false" tIns="50800" lIns="50800" bIns="50800" rIns="50800"/>
            <a:lstStyle/>
            <a:p>
              <a:pPr algn="ctr">
                <a:lnSpc>
                  <a:spcPts val="2486"/>
                </a:lnSpc>
              </a:pPr>
            </a:p>
          </p:txBody>
        </p:sp>
      </p:grpSp>
      <p:sp>
        <p:nvSpPr>
          <p:cNvPr name="TextBox 28" id="28"/>
          <p:cNvSpPr txBox="true"/>
          <p:nvPr/>
        </p:nvSpPr>
        <p:spPr>
          <a:xfrm rot="0">
            <a:off x="5668541" y="2996202"/>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9" id="29"/>
          <p:cNvSpPr txBox="true"/>
          <p:nvPr/>
        </p:nvSpPr>
        <p:spPr>
          <a:xfrm rot="0">
            <a:off x="7933741" y="3392737"/>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แต่ละตัวเก็บข้อมูลต่างชนิดกันได้เลย และMATCHสามารถคืนค่าออกมาใช้ได้ทันที</a:t>
            </a:r>
          </a:p>
        </p:txBody>
      </p:sp>
      <p:sp>
        <p:nvSpPr>
          <p:cNvPr name="TextBox 30" id="30"/>
          <p:cNvSpPr txBox="true"/>
          <p:nvPr/>
        </p:nvSpPr>
        <p:spPr>
          <a:xfrm rot="0">
            <a:off x="7787675" y="6033644"/>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เป็น DYNAMIC TYPING สามารถแกะโครงสร้างข้อมูล (DESTRUCTURING) ได้ยืดหยุ่นในรันไทม์</a:t>
            </a:r>
          </a:p>
        </p:txBody>
      </p:sp>
      <p:sp>
        <p:nvSpPr>
          <p:cNvPr name="TextBox 31" id="31"/>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32" id="32"/>
          <p:cNvSpPr txBox="true"/>
          <p:nvPr/>
        </p:nvSpPr>
        <p:spPr>
          <a:xfrm rot="0">
            <a:off x="7728235" y="5483832"/>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PYTHON</a:t>
            </a:r>
          </a:p>
        </p:txBody>
      </p:sp>
    </p:spTree>
  </p:cSld>
  <p:clrMapOvr>
    <a:masterClrMapping/>
  </p:clrMapOvr>
  <p:transition spd="fast">
    <p:fade/>
  </p:transition>
</p:sld>
</file>

<file path=ppt/slides/slide36.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PYTHON</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294966"/>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TYPE SYSTEM</a:t>
            </a:r>
          </a:p>
        </p:txBody>
      </p:sp>
      <p:grpSp>
        <p:nvGrpSpPr>
          <p:cNvPr name="Group 14" id="14"/>
          <p:cNvGrpSpPr/>
          <p:nvPr/>
        </p:nvGrpSpPr>
        <p:grpSpPr>
          <a:xfrm rot="0">
            <a:off x="355186" y="3591916"/>
            <a:ext cx="5810027" cy="5072188"/>
            <a:chOff x="0" y="0"/>
            <a:chExt cx="1530213" cy="1335885"/>
          </a:xfrm>
        </p:grpSpPr>
        <p:sp>
          <p:nvSpPr>
            <p:cNvPr name="Freeform 15" id="15"/>
            <p:cNvSpPr/>
            <p:nvPr/>
          </p:nvSpPr>
          <p:spPr>
            <a:xfrm flipH="false" flipV="false" rot="0">
              <a:off x="0" y="0"/>
              <a:ext cx="1530213" cy="1335885"/>
            </a:xfrm>
            <a:custGeom>
              <a:avLst/>
              <a:gdLst/>
              <a:ahLst/>
              <a:cxnLst/>
              <a:rect r="r" b="b" t="t" l="l"/>
              <a:pathLst>
                <a:path h="1335885" w="1530213">
                  <a:moveTo>
                    <a:pt x="67958" y="0"/>
                  </a:moveTo>
                  <a:lnTo>
                    <a:pt x="1462255" y="0"/>
                  </a:lnTo>
                  <a:cubicBezTo>
                    <a:pt x="1480278" y="0"/>
                    <a:pt x="1497564" y="7160"/>
                    <a:pt x="1510308" y="19904"/>
                  </a:cubicBezTo>
                  <a:cubicBezTo>
                    <a:pt x="1523053" y="32649"/>
                    <a:pt x="1530213" y="49934"/>
                    <a:pt x="1530213" y="67958"/>
                  </a:cubicBezTo>
                  <a:lnTo>
                    <a:pt x="1530213" y="1267927"/>
                  </a:lnTo>
                  <a:cubicBezTo>
                    <a:pt x="1530213" y="1285950"/>
                    <a:pt x="1523053" y="1303236"/>
                    <a:pt x="1510308" y="1315981"/>
                  </a:cubicBezTo>
                  <a:cubicBezTo>
                    <a:pt x="1497564" y="1328725"/>
                    <a:pt x="1480278" y="1335885"/>
                    <a:pt x="1462255" y="1335885"/>
                  </a:cubicBezTo>
                  <a:lnTo>
                    <a:pt x="67958" y="1335885"/>
                  </a:lnTo>
                  <a:cubicBezTo>
                    <a:pt x="49934" y="1335885"/>
                    <a:pt x="32649" y="1328725"/>
                    <a:pt x="19904" y="1315981"/>
                  </a:cubicBezTo>
                  <a:cubicBezTo>
                    <a:pt x="7160" y="1303236"/>
                    <a:pt x="0" y="1285950"/>
                    <a:pt x="0" y="1267927"/>
                  </a:cubicBezTo>
                  <a:lnTo>
                    <a:pt x="0" y="67958"/>
                  </a:lnTo>
                  <a:cubicBezTo>
                    <a:pt x="0" y="49934"/>
                    <a:pt x="7160" y="32649"/>
                    <a:pt x="19904" y="19904"/>
                  </a:cubicBezTo>
                  <a:cubicBezTo>
                    <a:pt x="32649" y="7160"/>
                    <a:pt x="49934" y="0"/>
                    <a:pt x="67958" y="0"/>
                  </a:cubicBezTo>
                  <a:close/>
                </a:path>
              </a:pathLst>
            </a:custGeom>
            <a:solidFill>
              <a:srgbClr val="FFFFFF"/>
            </a:solidFill>
          </p:spPr>
        </p:sp>
        <p:sp>
          <p:nvSpPr>
            <p:cNvPr name="TextBox 16" id="16"/>
            <p:cNvSpPr txBox="true"/>
            <p:nvPr/>
          </p:nvSpPr>
          <p:spPr>
            <a:xfrm>
              <a:off x="0" y="47625"/>
              <a:ext cx="1530213" cy="1288260"/>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1246207"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8" id="18"/>
          <p:cNvSpPr txBox="true"/>
          <p:nvPr/>
        </p:nvSpPr>
        <p:spPr>
          <a:xfrm rot="0">
            <a:off x="675939"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ออกแบบเป็น ALGEBRAIC DATA TYPES ตัดปัญหาเรื่อง NULL ทิ้ง แล้วแทนด้วย OPTION</a:t>
            </a:r>
          </a:p>
        </p:txBody>
      </p:sp>
      <p:sp>
        <p:nvSpPr>
          <p:cNvPr name="TextBox 19" id="19"/>
          <p:cNvSpPr txBox="true"/>
          <p:nvPr/>
        </p:nvSpPr>
        <p:spPr>
          <a:xfrm rot="0">
            <a:off x="766196" y="6773911"/>
            <a:ext cx="5399017" cy="1272831"/>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ไม่มี EXHAUSTIVENESS CHECKING ในระดับภาษาที่รันไทม์ (ต้องใช้ LINTER / TYPE CHECKER ภายนอกเช่น MYPY ช่วยตรวจ)   </a:t>
            </a:r>
          </a:p>
        </p:txBody>
      </p:sp>
      <p:grpSp>
        <p:nvGrpSpPr>
          <p:cNvPr name="Group 20" id="20"/>
          <p:cNvGrpSpPr/>
          <p:nvPr/>
        </p:nvGrpSpPr>
        <p:grpSpPr>
          <a:xfrm rot="0">
            <a:off x="9955723" y="2294966"/>
            <a:ext cx="4034553" cy="705449"/>
            <a:chOff x="0" y="0"/>
            <a:chExt cx="1208739" cy="211350"/>
          </a:xfrm>
        </p:grpSpPr>
        <p:sp>
          <p:nvSpPr>
            <p:cNvPr name="Freeform 21" id="21"/>
            <p:cNvSpPr/>
            <p:nvPr/>
          </p:nvSpPr>
          <p:spPr>
            <a:xfrm flipH="false" flipV="false" rot="0">
              <a:off x="0" y="0"/>
              <a:ext cx="1208739" cy="211350"/>
            </a:xfrm>
            <a:custGeom>
              <a:avLst/>
              <a:gdLst/>
              <a:ahLst/>
              <a:cxnLst/>
              <a:rect r="r" b="b" t="t" l="l"/>
              <a:pathLst>
                <a:path h="211350" w="1208739">
                  <a:moveTo>
                    <a:pt x="105675" y="0"/>
                  </a:moveTo>
                  <a:lnTo>
                    <a:pt x="1103064" y="0"/>
                  </a:lnTo>
                  <a:cubicBezTo>
                    <a:pt x="1161427" y="0"/>
                    <a:pt x="1208739" y="47312"/>
                    <a:pt x="1208739" y="105675"/>
                  </a:cubicBezTo>
                  <a:lnTo>
                    <a:pt x="1208739" y="105675"/>
                  </a:lnTo>
                  <a:cubicBezTo>
                    <a:pt x="1208739" y="164038"/>
                    <a:pt x="1161427" y="211350"/>
                    <a:pt x="1103064"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2" id="22"/>
            <p:cNvSpPr txBox="true"/>
            <p:nvPr/>
          </p:nvSpPr>
          <p:spPr>
            <a:xfrm>
              <a:off x="0" y="19050"/>
              <a:ext cx="1208739" cy="192300"/>
            </a:xfrm>
            <a:prstGeom prst="rect">
              <a:avLst/>
            </a:prstGeom>
          </p:spPr>
          <p:txBody>
            <a:bodyPr anchor="ctr" rtlCol="false" tIns="50800" lIns="50800" bIns="50800" rIns="50800"/>
            <a:lstStyle/>
            <a:p>
              <a:pPr algn="ctr">
                <a:lnSpc>
                  <a:spcPts val="2694"/>
                </a:lnSpc>
              </a:pPr>
            </a:p>
          </p:txBody>
        </p:sp>
      </p:grpSp>
      <p:sp>
        <p:nvSpPr>
          <p:cNvPr name="TextBox 23" id="23"/>
          <p:cNvSpPr txBox="true"/>
          <p:nvPr/>
        </p:nvSpPr>
        <p:spPr>
          <a:xfrm rot="0">
            <a:off x="9273491" y="25065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MEMORY MANAGEMENT</a:t>
            </a:r>
          </a:p>
        </p:txBody>
      </p:sp>
      <p:grpSp>
        <p:nvGrpSpPr>
          <p:cNvPr name="Group 24" id="24"/>
          <p:cNvGrpSpPr/>
          <p:nvPr/>
        </p:nvGrpSpPr>
        <p:grpSpPr>
          <a:xfrm rot="0">
            <a:off x="9573346" y="3603397"/>
            <a:ext cx="5810027" cy="5072188"/>
            <a:chOff x="0" y="0"/>
            <a:chExt cx="1530213" cy="1335885"/>
          </a:xfrm>
        </p:grpSpPr>
        <p:sp>
          <p:nvSpPr>
            <p:cNvPr name="Freeform 25" id="25"/>
            <p:cNvSpPr/>
            <p:nvPr/>
          </p:nvSpPr>
          <p:spPr>
            <a:xfrm flipH="false" flipV="false" rot="0">
              <a:off x="0" y="0"/>
              <a:ext cx="1530213" cy="1335885"/>
            </a:xfrm>
            <a:custGeom>
              <a:avLst/>
              <a:gdLst/>
              <a:ahLst/>
              <a:cxnLst/>
              <a:rect r="r" b="b" t="t" l="l"/>
              <a:pathLst>
                <a:path h="1335885" w="1530213">
                  <a:moveTo>
                    <a:pt x="67958" y="0"/>
                  </a:moveTo>
                  <a:lnTo>
                    <a:pt x="1462255" y="0"/>
                  </a:lnTo>
                  <a:cubicBezTo>
                    <a:pt x="1480278" y="0"/>
                    <a:pt x="1497564" y="7160"/>
                    <a:pt x="1510308" y="19904"/>
                  </a:cubicBezTo>
                  <a:cubicBezTo>
                    <a:pt x="1523053" y="32649"/>
                    <a:pt x="1530213" y="49934"/>
                    <a:pt x="1530213" y="67958"/>
                  </a:cubicBezTo>
                  <a:lnTo>
                    <a:pt x="1530213" y="1267927"/>
                  </a:lnTo>
                  <a:cubicBezTo>
                    <a:pt x="1530213" y="1285950"/>
                    <a:pt x="1523053" y="1303236"/>
                    <a:pt x="1510308" y="1315981"/>
                  </a:cubicBezTo>
                  <a:cubicBezTo>
                    <a:pt x="1497564" y="1328725"/>
                    <a:pt x="1480278" y="1335885"/>
                    <a:pt x="1462255" y="1335885"/>
                  </a:cubicBezTo>
                  <a:lnTo>
                    <a:pt x="67958" y="1335885"/>
                  </a:lnTo>
                  <a:cubicBezTo>
                    <a:pt x="49934" y="1335885"/>
                    <a:pt x="32649" y="1328725"/>
                    <a:pt x="19904" y="1315981"/>
                  </a:cubicBezTo>
                  <a:cubicBezTo>
                    <a:pt x="7160" y="1303236"/>
                    <a:pt x="0" y="1285950"/>
                    <a:pt x="0" y="1267927"/>
                  </a:cubicBezTo>
                  <a:lnTo>
                    <a:pt x="0" y="67958"/>
                  </a:lnTo>
                  <a:cubicBezTo>
                    <a:pt x="0" y="49934"/>
                    <a:pt x="7160" y="32649"/>
                    <a:pt x="19904" y="19904"/>
                  </a:cubicBezTo>
                  <a:cubicBezTo>
                    <a:pt x="32649" y="7160"/>
                    <a:pt x="49934" y="0"/>
                    <a:pt x="67958" y="0"/>
                  </a:cubicBezTo>
                  <a:close/>
                </a:path>
              </a:pathLst>
            </a:custGeom>
            <a:solidFill>
              <a:srgbClr val="FFFFFF"/>
            </a:solidFill>
          </p:spPr>
        </p:sp>
        <p:sp>
          <p:nvSpPr>
            <p:cNvPr name="TextBox 26" id="26"/>
            <p:cNvSpPr txBox="true"/>
            <p:nvPr/>
          </p:nvSpPr>
          <p:spPr>
            <a:xfrm>
              <a:off x="0" y="47625"/>
              <a:ext cx="1530213" cy="1288260"/>
            </a:xfrm>
            <a:prstGeom prst="rect">
              <a:avLst/>
            </a:prstGeom>
          </p:spPr>
          <p:txBody>
            <a:bodyPr anchor="ctr" rtlCol="false" tIns="50800" lIns="50800" bIns="50800" rIns="50800"/>
            <a:lstStyle/>
            <a:p>
              <a:pPr algn="ctr">
                <a:lnSpc>
                  <a:spcPts val="2486"/>
                </a:lnSpc>
              </a:pPr>
            </a:p>
          </p:txBody>
        </p:sp>
      </p:grpSp>
      <p:sp>
        <p:nvSpPr>
          <p:cNvPr name="TextBox 27" id="27"/>
          <p:cNvSpPr txBox="true"/>
          <p:nvPr/>
        </p:nvSpPr>
        <p:spPr>
          <a:xfrm rot="0">
            <a:off x="7836589" y="373646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28" id="28"/>
          <p:cNvSpPr txBox="true"/>
          <p:nvPr/>
        </p:nvSpPr>
        <p:spPr>
          <a:xfrm rot="0">
            <a:off x="9955723" y="4418750"/>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จองหน่วยความจำแบบ TAGGED UNION เท่าที่จำเป็น ทำงานไว ไม่มีระบบ GARBAGE COLLECTION มาดึงเครื่อง</a:t>
            </a:r>
          </a:p>
        </p:txBody>
      </p:sp>
      <p:sp>
        <p:nvSpPr>
          <p:cNvPr name="TextBox 29" id="29"/>
          <p:cNvSpPr txBox="true"/>
          <p:nvPr/>
        </p:nvSpPr>
        <p:spPr>
          <a:xfrm rot="0">
            <a:off x="9955723" y="6773911"/>
            <a:ext cx="5399017" cy="95850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ทุกอย่างเป็น OBJECT อยู่บน HEAP มี OVERHEAD สูงกว่า และจัดการหน่วยความจำผ่าน GC / REFERENCE COUNTING</a:t>
            </a:r>
          </a:p>
        </p:txBody>
      </p:sp>
      <p:sp>
        <p:nvSpPr>
          <p:cNvPr name="TextBox 30" id="30"/>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31" id="31"/>
          <p:cNvSpPr txBox="true"/>
          <p:nvPr/>
        </p:nvSpPr>
        <p:spPr>
          <a:xfrm rot="0">
            <a:off x="560691" y="6224099"/>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PYTHON</a:t>
            </a:r>
          </a:p>
        </p:txBody>
      </p:sp>
      <p:sp>
        <p:nvSpPr>
          <p:cNvPr name="TextBox 32" id="32"/>
          <p:cNvSpPr txBox="true"/>
          <p:nvPr/>
        </p:nvSpPr>
        <p:spPr>
          <a:xfrm rot="0">
            <a:off x="9955723" y="6396431"/>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PYTHON</a:t>
            </a:r>
          </a:p>
        </p:txBody>
      </p:sp>
    </p:spTree>
  </p:cSld>
  <p:clrMapOvr>
    <a:masterClrMapping/>
  </p:clrMapOvr>
  <p:transition spd="fast">
    <p:fade/>
  </p:transition>
</p:sld>
</file>

<file path=ppt/slides/slide37.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RUST VS PYTHON</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450693" y="2431690"/>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6444492" y="2616039"/>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SAFETY</a:t>
            </a:r>
          </a:p>
        </p:txBody>
      </p:sp>
      <p:grpSp>
        <p:nvGrpSpPr>
          <p:cNvPr name="Group 14" id="14"/>
          <p:cNvGrpSpPr/>
          <p:nvPr/>
        </p:nvGrpSpPr>
        <p:grpSpPr>
          <a:xfrm rot="0">
            <a:off x="6922250" y="3584558"/>
            <a:ext cx="6209296" cy="4904800"/>
            <a:chOff x="0" y="0"/>
            <a:chExt cx="1635370" cy="1291799"/>
          </a:xfrm>
        </p:grpSpPr>
        <p:sp>
          <p:nvSpPr>
            <p:cNvPr name="Freeform 15" id="15"/>
            <p:cNvSpPr/>
            <p:nvPr/>
          </p:nvSpPr>
          <p:spPr>
            <a:xfrm flipH="false" flipV="false" rot="0">
              <a:off x="0" y="0"/>
              <a:ext cx="1635370" cy="1291799"/>
            </a:xfrm>
            <a:custGeom>
              <a:avLst/>
              <a:gdLst/>
              <a:ahLst/>
              <a:cxnLst/>
              <a:rect r="r" b="b" t="t" l="l"/>
              <a:pathLst>
                <a:path h="1291799" w="1635370">
                  <a:moveTo>
                    <a:pt x="63588" y="0"/>
                  </a:moveTo>
                  <a:lnTo>
                    <a:pt x="1571782" y="0"/>
                  </a:lnTo>
                  <a:cubicBezTo>
                    <a:pt x="1606901" y="0"/>
                    <a:pt x="1635370" y="28469"/>
                    <a:pt x="1635370" y="63588"/>
                  </a:cubicBezTo>
                  <a:lnTo>
                    <a:pt x="1635370" y="1228211"/>
                  </a:lnTo>
                  <a:cubicBezTo>
                    <a:pt x="1635370" y="1263330"/>
                    <a:pt x="1606901" y="1291799"/>
                    <a:pt x="1571782" y="1291799"/>
                  </a:cubicBezTo>
                  <a:lnTo>
                    <a:pt x="63588" y="1291799"/>
                  </a:lnTo>
                  <a:cubicBezTo>
                    <a:pt x="28469" y="1291799"/>
                    <a:pt x="0" y="1263330"/>
                    <a:pt x="0" y="1228211"/>
                  </a:cubicBezTo>
                  <a:lnTo>
                    <a:pt x="0" y="63588"/>
                  </a:lnTo>
                  <a:cubicBezTo>
                    <a:pt x="0" y="28469"/>
                    <a:pt x="28469" y="0"/>
                    <a:pt x="63588" y="0"/>
                  </a:cubicBezTo>
                  <a:close/>
                </a:path>
              </a:pathLst>
            </a:custGeom>
            <a:solidFill>
              <a:srgbClr val="FFFFFF"/>
            </a:solidFill>
          </p:spPr>
        </p:sp>
        <p:sp>
          <p:nvSpPr>
            <p:cNvPr name="TextBox 16" id="16"/>
            <p:cNvSpPr txBox="true"/>
            <p:nvPr/>
          </p:nvSpPr>
          <p:spPr>
            <a:xfrm>
              <a:off x="0" y="47625"/>
              <a:ext cx="1635370" cy="1244174"/>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5225067" y="377074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FF363C"/>
                </a:solidFill>
                <a:latin typeface="Itim"/>
                <a:ea typeface="Itim"/>
                <a:cs typeface="Itim"/>
                <a:sym typeface="Itim"/>
              </a:rPr>
              <a:t>-RUST</a:t>
            </a:r>
          </a:p>
        </p:txBody>
      </p:sp>
      <p:sp>
        <p:nvSpPr>
          <p:cNvPr name="TextBox 18" id="18"/>
          <p:cNvSpPr txBox="true"/>
          <p:nvPr/>
        </p:nvSpPr>
        <p:spPr>
          <a:xfrm rot="0">
            <a:off x="7450693" y="4499319"/>
            <a:ext cx="5399017" cy="64418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COMPILER ดี แต่ต้องเขียนดักให้ครบทุกกรณี ไม่งั้นจะ COMPILE ไม่ผ่าน</a:t>
            </a:r>
          </a:p>
        </p:txBody>
      </p:sp>
      <p:sp>
        <p:nvSpPr>
          <p:cNvPr name="TextBox 19" id="19"/>
          <p:cNvSpPr txBox="true"/>
          <p:nvPr/>
        </p:nvSpPr>
        <p:spPr>
          <a:xfrm rot="0">
            <a:off x="7450693" y="6849718"/>
            <a:ext cx="5399017" cy="958506"/>
          </a:xfrm>
          <a:prstGeom prst="rect">
            <a:avLst/>
          </a:prstGeom>
        </p:spPr>
        <p:txBody>
          <a:bodyPr anchor="t" rtlCol="false" tIns="0" lIns="0" bIns="0" rIns="0">
            <a:spAutoFit/>
          </a:bodyPr>
          <a:lstStyle/>
          <a:p>
            <a:pPr algn="l">
              <a:lnSpc>
                <a:spcPts val="2486"/>
              </a:lnSpc>
              <a:spcBef>
                <a:spcPct val="0"/>
              </a:spcBef>
            </a:pPr>
            <a:r>
              <a:rPr lang="en-US" sz="2486">
                <a:solidFill>
                  <a:srgbClr val="000000"/>
                </a:solidFill>
                <a:latin typeface="Itim"/>
                <a:ea typeface="Itim"/>
                <a:cs typeface="Itim"/>
                <a:sym typeface="Itim"/>
              </a:rPr>
              <a:t>มีโอกาสเกิด RUNTIME ERROR หากกรณีตกหล่น หรือโครงสร้างข้อมูลไม่ตรงกับที่ระบุในรันไทม์   </a:t>
            </a:r>
          </a:p>
        </p:txBody>
      </p:sp>
      <p:sp>
        <p:nvSpPr>
          <p:cNvPr name="TextBox 20" id="20"/>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21" id="21"/>
          <p:cNvSpPr txBox="true"/>
          <p:nvPr/>
        </p:nvSpPr>
        <p:spPr>
          <a:xfrm rot="0">
            <a:off x="7327390" y="6472238"/>
            <a:ext cx="5399017" cy="329856"/>
          </a:xfrm>
          <a:prstGeom prst="rect">
            <a:avLst/>
          </a:prstGeom>
        </p:spPr>
        <p:txBody>
          <a:bodyPr anchor="t" rtlCol="false" tIns="0" lIns="0" bIns="0" rIns="0">
            <a:spAutoFit/>
          </a:bodyPr>
          <a:lstStyle/>
          <a:p>
            <a:pPr algn="l">
              <a:lnSpc>
                <a:spcPts val="2486"/>
              </a:lnSpc>
              <a:spcBef>
                <a:spcPct val="0"/>
              </a:spcBef>
            </a:pPr>
            <a:r>
              <a:rPr lang="en-US" sz="2486">
                <a:solidFill>
                  <a:srgbClr val="FF363C"/>
                </a:solidFill>
                <a:latin typeface="Itim"/>
                <a:ea typeface="Itim"/>
                <a:cs typeface="Itim"/>
                <a:sym typeface="Itim"/>
              </a:rPr>
              <a:t>PYTHON</a:t>
            </a:r>
          </a:p>
        </p:txBody>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show="false">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0" y="2363264"/>
            <a:ext cx="7678708" cy="4159838"/>
            <a:chOff x="0" y="0"/>
            <a:chExt cx="2022376" cy="1095595"/>
          </a:xfrm>
        </p:grpSpPr>
        <p:sp>
          <p:nvSpPr>
            <p:cNvPr name="Freeform 9" id="9"/>
            <p:cNvSpPr/>
            <p:nvPr/>
          </p:nvSpPr>
          <p:spPr>
            <a:xfrm flipH="false" flipV="false" rot="0">
              <a:off x="0" y="0"/>
              <a:ext cx="2022376" cy="1095595"/>
            </a:xfrm>
            <a:custGeom>
              <a:avLst/>
              <a:gdLst/>
              <a:ahLst/>
              <a:cxnLst/>
              <a:rect r="r" b="b" t="t" l="l"/>
              <a:pathLst>
                <a:path h="1095595" w="2022376">
                  <a:moveTo>
                    <a:pt x="51420" y="0"/>
                  </a:moveTo>
                  <a:lnTo>
                    <a:pt x="1970956" y="0"/>
                  </a:lnTo>
                  <a:cubicBezTo>
                    <a:pt x="1999354" y="0"/>
                    <a:pt x="2022376" y="23021"/>
                    <a:pt x="2022376" y="51420"/>
                  </a:cubicBezTo>
                  <a:lnTo>
                    <a:pt x="2022376" y="1044175"/>
                  </a:lnTo>
                  <a:cubicBezTo>
                    <a:pt x="2022376" y="1072574"/>
                    <a:pt x="1999354" y="1095595"/>
                    <a:pt x="1970956" y="1095595"/>
                  </a:cubicBezTo>
                  <a:lnTo>
                    <a:pt x="51420" y="1095595"/>
                  </a:lnTo>
                  <a:cubicBezTo>
                    <a:pt x="23021" y="1095595"/>
                    <a:pt x="0" y="1072574"/>
                    <a:pt x="0" y="1044175"/>
                  </a:cubicBezTo>
                  <a:lnTo>
                    <a:pt x="0" y="51420"/>
                  </a:lnTo>
                  <a:cubicBezTo>
                    <a:pt x="0" y="23021"/>
                    <a:pt x="23021" y="0"/>
                    <a:pt x="51420" y="0"/>
                  </a:cubicBezTo>
                  <a:close/>
                </a:path>
              </a:pathLst>
            </a:custGeom>
            <a:solidFill>
              <a:srgbClr val="FFFFFF"/>
            </a:solidFill>
          </p:spPr>
        </p:sp>
        <p:sp>
          <p:nvSpPr>
            <p:cNvPr name="TextBox 10" id="10"/>
            <p:cNvSpPr txBox="true"/>
            <p:nvPr/>
          </p:nvSpPr>
          <p:spPr>
            <a:xfrm>
              <a:off x="0" y="47625"/>
              <a:ext cx="2022376" cy="1047970"/>
            </a:xfrm>
            <a:prstGeom prst="rect">
              <a:avLst/>
            </a:prstGeom>
          </p:spPr>
          <p:txBody>
            <a:bodyPr anchor="ctr" rtlCol="false" tIns="50800" lIns="50800" bIns="50800" rIns="50800"/>
            <a:lstStyle/>
            <a:p>
              <a:pPr algn="ctr">
                <a:lnSpc>
                  <a:spcPts val="2486"/>
                </a:lnSpc>
              </a:pPr>
            </a:p>
          </p:txBody>
        </p:sp>
      </p:grpSp>
      <p:sp>
        <p:nvSpPr>
          <p:cNvPr name="Freeform 11" id="11"/>
          <p:cNvSpPr/>
          <p:nvPr/>
        </p:nvSpPr>
        <p:spPr>
          <a:xfrm flipH="false" flipV="false" rot="0">
            <a:off x="7678708" y="1287544"/>
            <a:ext cx="10345825" cy="7711911"/>
          </a:xfrm>
          <a:custGeom>
            <a:avLst/>
            <a:gdLst/>
            <a:ahLst/>
            <a:cxnLst/>
            <a:rect r="r" b="b" t="t" l="l"/>
            <a:pathLst>
              <a:path h="7711911" w="10345825">
                <a:moveTo>
                  <a:pt x="0" y="0"/>
                </a:moveTo>
                <a:lnTo>
                  <a:pt x="10345825" y="0"/>
                </a:lnTo>
                <a:lnTo>
                  <a:pt x="10345825" y="7711912"/>
                </a:lnTo>
                <a:lnTo>
                  <a:pt x="0" y="7711912"/>
                </a:lnTo>
                <a:lnTo>
                  <a:pt x="0" y="0"/>
                </a:lnTo>
                <a:close/>
              </a:path>
            </a:pathLst>
          </a:custGeom>
          <a:blipFill>
            <a:blip r:embed="rId2"/>
            <a:stretch>
              <a:fillRect l="0" t="0" r="0" b="0"/>
            </a:stretch>
          </a:blipFill>
        </p:spPr>
      </p:sp>
      <p:sp>
        <p:nvSpPr>
          <p:cNvPr name="TextBox 12" id="12"/>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RUST EXAMPLE</a:t>
            </a:r>
          </a:p>
        </p:txBody>
      </p:sp>
      <p:sp>
        <p:nvSpPr>
          <p:cNvPr name="TextBox 13" id="13"/>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4" id="14"/>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15" id="15"/>
          <p:cNvSpPr txBox="true"/>
          <p:nvPr/>
        </p:nvSpPr>
        <p:spPr>
          <a:xfrm rot="0">
            <a:off x="98481" y="2633567"/>
            <a:ext cx="7580227" cy="3473106"/>
          </a:xfrm>
          <a:prstGeom prst="rect">
            <a:avLst/>
          </a:prstGeom>
        </p:spPr>
        <p:txBody>
          <a:bodyPr anchor="t" rtlCol="false" tIns="0" lIns="0" bIns="0" rIns="0">
            <a:spAutoFit/>
          </a:bodyPr>
          <a:lstStyle/>
          <a:p>
            <a:pPr algn="l">
              <a:lnSpc>
                <a:spcPts val="2486"/>
              </a:lnSpc>
            </a:pPr>
            <a:r>
              <a:rPr lang="en-US" sz="2486">
                <a:solidFill>
                  <a:srgbClr val="000000"/>
                </a:solidFill>
                <a:latin typeface="Itim"/>
                <a:ea typeface="Itim"/>
                <a:cs typeface="Itim"/>
                <a:sym typeface="Itim"/>
              </a:rPr>
              <a:t>RUST ตัวอย่างนี้ จำลองสถานะการชำระเงิน (PAYMENTSTATUS) ซึ่งในภาษา RUST เราใช้ ENUM ที่มีความสามารถพิเศษแบบ SUM TYPE โดย VARIANT แต่ละตัวสามารถแนบข้อมูล (PAYLOAD) ไม่เหมือนกันได้ เช่น SUCCESS แนบ U32 เป็นรหัสสลิป และ FAILED แนบ STRING เป็นเหตุผล</a:t>
            </a:r>
          </a:p>
          <a:p>
            <a:pPr algn="l" marL="0" indent="0" lvl="0">
              <a:lnSpc>
                <a:spcPts val="2486"/>
              </a:lnSpc>
              <a:spcBef>
                <a:spcPct val="0"/>
              </a:spcBef>
            </a:pPr>
            <a:r>
              <a:rPr lang="en-US" sz="2486">
                <a:solidFill>
                  <a:srgbClr val="000000"/>
                </a:solidFill>
                <a:latin typeface="Itim"/>
                <a:ea typeface="Itim"/>
                <a:cs typeface="Itim"/>
                <a:sym typeface="Itim"/>
              </a:rPr>
              <a:t>ส่วนด้านล่างคือการใช้ PATTERN MATCHING (MATCH) เพื่อตรวจสอบสถานะ จุดเด่นในเชิง PPL คือ RUST บังคับให้เราเช็คทุกกรณีแบบ EXHAUSTIVE หากเราเขียนขาดไปแม้แต่กรณีเดียว คอมไพเลอร์จะเตือนทันที ช่วยป้องกัน RUNTIME ERROR ได้</a:t>
            </a:r>
          </a:p>
        </p:txBody>
      </p:sp>
    </p:spTree>
  </p:cSld>
  <p:clrMapOvr>
    <a:masterClrMapping/>
  </p:clrMapOvr>
  <p:transition spd="fast">
    <p:fade/>
  </p:transition>
</p:sld>
</file>

<file path=ppt/slides/slide39.xml><?xml version="1.0" encoding="utf-8"?>
<p:sld xmlns:p="http://schemas.openxmlformats.org/presentationml/2006/main" xmlns:a="http://schemas.openxmlformats.org/drawingml/2006/main" xmlns:r="http://schemas.openxmlformats.org/officeDocument/2006/relationships" show="false">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1385713" y="2704119"/>
            <a:ext cx="8077977" cy="4065892"/>
            <a:chOff x="0" y="0"/>
            <a:chExt cx="2127533" cy="1070852"/>
          </a:xfrm>
        </p:grpSpPr>
        <p:sp>
          <p:nvSpPr>
            <p:cNvPr name="Freeform 9" id="9"/>
            <p:cNvSpPr/>
            <p:nvPr/>
          </p:nvSpPr>
          <p:spPr>
            <a:xfrm flipH="false" flipV="false" rot="0">
              <a:off x="0" y="0"/>
              <a:ext cx="2127533" cy="1070852"/>
            </a:xfrm>
            <a:custGeom>
              <a:avLst/>
              <a:gdLst/>
              <a:ahLst/>
              <a:cxnLst/>
              <a:rect r="r" b="b" t="t" l="l"/>
              <a:pathLst>
                <a:path h="1070852" w="2127533">
                  <a:moveTo>
                    <a:pt x="48878" y="0"/>
                  </a:moveTo>
                  <a:lnTo>
                    <a:pt x="2078655" y="0"/>
                  </a:lnTo>
                  <a:cubicBezTo>
                    <a:pt x="2105649" y="0"/>
                    <a:pt x="2127533" y="21884"/>
                    <a:pt x="2127533" y="48878"/>
                  </a:cubicBezTo>
                  <a:lnTo>
                    <a:pt x="2127533" y="1021974"/>
                  </a:lnTo>
                  <a:cubicBezTo>
                    <a:pt x="2127533" y="1048969"/>
                    <a:pt x="2105649" y="1070852"/>
                    <a:pt x="2078655" y="1070852"/>
                  </a:cubicBezTo>
                  <a:lnTo>
                    <a:pt x="48878" y="1070852"/>
                  </a:lnTo>
                  <a:cubicBezTo>
                    <a:pt x="21884" y="1070852"/>
                    <a:pt x="0" y="1048969"/>
                    <a:pt x="0" y="1021974"/>
                  </a:cubicBezTo>
                  <a:lnTo>
                    <a:pt x="0" y="48878"/>
                  </a:lnTo>
                  <a:cubicBezTo>
                    <a:pt x="0" y="21884"/>
                    <a:pt x="21884" y="0"/>
                    <a:pt x="48878" y="0"/>
                  </a:cubicBezTo>
                  <a:close/>
                </a:path>
              </a:pathLst>
            </a:custGeom>
            <a:solidFill>
              <a:srgbClr val="FFFFFF"/>
            </a:solidFill>
          </p:spPr>
        </p:sp>
        <p:sp>
          <p:nvSpPr>
            <p:cNvPr name="TextBox 10" id="10"/>
            <p:cNvSpPr txBox="true"/>
            <p:nvPr/>
          </p:nvSpPr>
          <p:spPr>
            <a:xfrm>
              <a:off x="0" y="47625"/>
              <a:ext cx="2127533" cy="1023227"/>
            </a:xfrm>
            <a:prstGeom prst="rect">
              <a:avLst/>
            </a:prstGeom>
          </p:spPr>
          <p:txBody>
            <a:bodyPr anchor="ctr" rtlCol="false" tIns="50800" lIns="50800" bIns="50800" rIns="50800"/>
            <a:lstStyle/>
            <a:p>
              <a:pPr algn="ctr">
                <a:lnSpc>
                  <a:spcPts val="2486"/>
                </a:lnSpc>
              </a:pPr>
            </a:p>
          </p:txBody>
        </p:sp>
      </p:grpSp>
      <p:sp>
        <p:nvSpPr>
          <p:cNvPr name="Freeform 11" id="11"/>
          <p:cNvSpPr/>
          <p:nvPr/>
        </p:nvSpPr>
        <p:spPr>
          <a:xfrm flipH="false" flipV="false" rot="0">
            <a:off x="10399849" y="497511"/>
            <a:ext cx="6554062" cy="9438970"/>
          </a:xfrm>
          <a:custGeom>
            <a:avLst/>
            <a:gdLst/>
            <a:ahLst/>
            <a:cxnLst/>
            <a:rect r="r" b="b" t="t" l="l"/>
            <a:pathLst>
              <a:path h="9438970" w="6554062">
                <a:moveTo>
                  <a:pt x="0" y="0"/>
                </a:moveTo>
                <a:lnTo>
                  <a:pt x="6554062" y="0"/>
                </a:lnTo>
                <a:lnTo>
                  <a:pt x="6554062" y="9438970"/>
                </a:lnTo>
                <a:lnTo>
                  <a:pt x="0" y="9438970"/>
                </a:lnTo>
                <a:lnTo>
                  <a:pt x="0" y="0"/>
                </a:lnTo>
                <a:close/>
              </a:path>
            </a:pathLst>
          </a:custGeom>
          <a:blipFill>
            <a:blip r:embed="rId2"/>
            <a:stretch>
              <a:fillRect l="0" t="0" r="0" b="0"/>
            </a:stretch>
          </a:blipFill>
        </p:spPr>
      </p:sp>
      <p:sp>
        <p:nvSpPr>
          <p:cNvPr name="TextBox 12" id="12"/>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JAVA EXAMPLE</a:t>
            </a:r>
          </a:p>
        </p:txBody>
      </p:sp>
      <p:sp>
        <p:nvSpPr>
          <p:cNvPr name="TextBox 13" id="13"/>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4" id="14"/>
          <p:cNvSpPr txBox="true"/>
          <p:nvPr/>
        </p:nvSpPr>
        <p:spPr>
          <a:xfrm rot="0">
            <a:off x="0" y="9891560"/>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15" id="15"/>
          <p:cNvSpPr txBox="true"/>
          <p:nvPr/>
        </p:nvSpPr>
        <p:spPr>
          <a:xfrm rot="0">
            <a:off x="1563773" y="3228460"/>
            <a:ext cx="7580227" cy="3158781"/>
          </a:xfrm>
          <a:prstGeom prst="rect">
            <a:avLst/>
          </a:prstGeom>
        </p:spPr>
        <p:txBody>
          <a:bodyPr anchor="t" rtlCol="false" tIns="0" lIns="0" bIns="0" rIns="0">
            <a:spAutoFit/>
          </a:bodyPr>
          <a:lstStyle/>
          <a:p>
            <a:pPr algn="l">
              <a:lnSpc>
                <a:spcPts val="2486"/>
              </a:lnSpc>
            </a:pPr>
            <a:r>
              <a:rPr lang="en-US" sz="2486">
                <a:solidFill>
                  <a:srgbClr val="000000"/>
                </a:solidFill>
                <a:latin typeface="Itim"/>
                <a:ea typeface="Itim"/>
                <a:cs typeface="Itim"/>
                <a:sym typeface="Itim"/>
              </a:rPr>
              <a:t>คราวนี้ลองมาเปรียบเทียบกับภาษา JAVA แบบ OBJECT-ORIENTED ใน JAVA เพื่อจำลองโครงสร้างข้อมูลแบบเดียวกัน เราต้องทำผ่าน INTERFACE และสร้างคลาสแยกย่อยอีก 3 คลาส (PENDING, SUCCESS, FAILED)</a:t>
            </a:r>
          </a:p>
          <a:p>
            <a:pPr algn="l">
              <a:lnSpc>
                <a:spcPts val="2486"/>
              </a:lnSpc>
            </a:pPr>
            <a:r>
              <a:rPr lang="en-US" sz="2486">
                <a:solidFill>
                  <a:srgbClr val="000000"/>
                </a:solidFill>
                <a:latin typeface="Itim"/>
                <a:ea typeface="Itim"/>
                <a:cs typeface="Itim"/>
                <a:sym typeface="Itim"/>
              </a:rPr>
              <a:t>ในแง่ PPL จะเห็นว่าเกิดปัญหา BOILERPLATE CODE ค่อนข้างเยอะ ต้องเขียนคลาสและ CONSTRUCTOR ซ้ำซ้อน และใช้กลไก SUBTYPING POLYMORPHISM ผ่านการ OVERRIDE เมธอด CHECK() ซึ่งต่างจาก RUST ที่รวมข้อมูลและพฤติกรรมเข้าไว้ใน ENUM เดียวได้อย่างกระชับกว่ามาก</a:t>
            </a:r>
          </a:p>
          <a:p>
            <a:pPr algn="l" marL="0" indent="0" lvl="0">
              <a:lnSpc>
                <a:spcPts val="2486"/>
              </a:lnSpc>
              <a:spcBef>
                <a:spcPct val="0"/>
              </a:spcBef>
            </a:pPr>
          </a:p>
        </p:txBody>
      </p:sp>
    </p:spTree>
  </p:cSld>
  <p:clrMapOvr>
    <a:masterClrMapping/>
  </p:clrMapOvr>
  <p:transition spd="fast">
    <p:fade/>
  </p:transition>
</p:sld>
</file>

<file path=ppt/slides/slide40.xml><?xml version="1.0" encoding="utf-8"?>
<p:sld xmlns:p="http://schemas.openxmlformats.org/presentationml/2006/main" xmlns:a="http://schemas.openxmlformats.org/drawingml/2006/main" xmlns:r="http://schemas.openxmlformats.org/officeDocument/2006/relationships" show="false">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2276684" y="2821551"/>
            <a:ext cx="8077977" cy="4065892"/>
            <a:chOff x="0" y="0"/>
            <a:chExt cx="2127533" cy="1070852"/>
          </a:xfrm>
        </p:grpSpPr>
        <p:sp>
          <p:nvSpPr>
            <p:cNvPr name="Freeform 9" id="9"/>
            <p:cNvSpPr/>
            <p:nvPr/>
          </p:nvSpPr>
          <p:spPr>
            <a:xfrm flipH="false" flipV="false" rot="0">
              <a:off x="0" y="0"/>
              <a:ext cx="2127533" cy="1070852"/>
            </a:xfrm>
            <a:custGeom>
              <a:avLst/>
              <a:gdLst/>
              <a:ahLst/>
              <a:cxnLst/>
              <a:rect r="r" b="b" t="t" l="l"/>
              <a:pathLst>
                <a:path h="1070852" w="2127533">
                  <a:moveTo>
                    <a:pt x="48878" y="0"/>
                  </a:moveTo>
                  <a:lnTo>
                    <a:pt x="2078655" y="0"/>
                  </a:lnTo>
                  <a:cubicBezTo>
                    <a:pt x="2105649" y="0"/>
                    <a:pt x="2127533" y="21884"/>
                    <a:pt x="2127533" y="48878"/>
                  </a:cubicBezTo>
                  <a:lnTo>
                    <a:pt x="2127533" y="1021974"/>
                  </a:lnTo>
                  <a:cubicBezTo>
                    <a:pt x="2127533" y="1048969"/>
                    <a:pt x="2105649" y="1070852"/>
                    <a:pt x="2078655" y="1070852"/>
                  </a:cubicBezTo>
                  <a:lnTo>
                    <a:pt x="48878" y="1070852"/>
                  </a:lnTo>
                  <a:cubicBezTo>
                    <a:pt x="21884" y="1070852"/>
                    <a:pt x="0" y="1048969"/>
                    <a:pt x="0" y="1021974"/>
                  </a:cubicBezTo>
                  <a:lnTo>
                    <a:pt x="0" y="48878"/>
                  </a:lnTo>
                  <a:cubicBezTo>
                    <a:pt x="0" y="21884"/>
                    <a:pt x="21884" y="0"/>
                    <a:pt x="48878" y="0"/>
                  </a:cubicBezTo>
                  <a:close/>
                </a:path>
              </a:pathLst>
            </a:custGeom>
            <a:solidFill>
              <a:srgbClr val="FFFFFF"/>
            </a:solidFill>
          </p:spPr>
        </p:sp>
        <p:sp>
          <p:nvSpPr>
            <p:cNvPr name="TextBox 10" id="10"/>
            <p:cNvSpPr txBox="true"/>
            <p:nvPr/>
          </p:nvSpPr>
          <p:spPr>
            <a:xfrm>
              <a:off x="0" y="47625"/>
              <a:ext cx="2127533" cy="1023227"/>
            </a:xfrm>
            <a:prstGeom prst="rect">
              <a:avLst/>
            </a:prstGeom>
          </p:spPr>
          <p:txBody>
            <a:bodyPr anchor="ctr" rtlCol="false" tIns="50800" lIns="50800" bIns="50800" rIns="50800"/>
            <a:lstStyle/>
            <a:p>
              <a:pPr algn="ctr">
                <a:lnSpc>
                  <a:spcPts val="2486"/>
                </a:lnSpc>
              </a:pPr>
            </a:p>
          </p:txBody>
        </p:sp>
      </p:grpSp>
      <p:sp>
        <p:nvSpPr>
          <p:cNvPr name="Freeform 11" id="11"/>
          <p:cNvSpPr/>
          <p:nvPr/>
        </p:nvSpPr>
        <p:spPr>
          <a:xfrm flipH="false" flipV="false" rot="0">
            <a:off x="12160931" y="497511"/>
            <a:ext cx="5343579" cy="5183271"/>
          </a:xfrm>
          <a:custGeom>
            <a:avLst/>
            <a:gdLst/>
            <a:ahLst/>
            <a:cxnLst/>
            <a:rect r="r" b="b" t="t" l="l"/>
            <a:pathLst>
              <a:path h="5183271" w="5343579">
                <a:moveTo>
                  <a:pt x="0" y="0"/>
                </a:moveTo>
                <a:lnTo>
                  <a:pt x="5343579" y="0"/>
                </a:lnTo>
                <a:lnTo>
                  <a:pt x="5343579" y="5183271"/>
                </a:lnTo>
                <a:lnTo>
                  <a:pt x="0" y="5183271"/>
                </a:lnTo>
                <a:lnTo>
                  <a:pt x="0" y="0"/>
                </a:lnTo>
                <a:close/>
              </a:path>
            </a:pathLst>
          </a:custGeom>
          <a:blipFill>
            <a:blip r:embed="rId2"/>
            <a:stretch>
              <a:fillRect l="0" t="0" r="0" b="0"/>
            </a:stretch>
          </a:blipFill>
        </p:spPr>
      </p:sp>
      <p:sp>
        <p:nvSpPr>
          <p:cNvPr name="Freeform 12" id="12"/>
          <p:cNvSpPr/>
          <p:nvPr/>
        </p:nvSpPr>
        <p:spPr>
          <a:xfrm flipH="false" flipV="false" rot="0">
            <a:off x="12160931" y="5680782"/>
            <a:ext cx="5343579" cy="3980966"/>
          </a:xfrm>
          <a:custGeom>
            <a:avLst/>
            <a:gdLst/>
            <a:ahLst/>
            <a:cxnLst/>
            <a:rect r="r" b="b" t="t" l="l"/>
            <a:pathLst>
              <a:path h="3980966" w="5343579">
                <a:moveTo>
                  <a:pt x="0" y="0"/>
                </a:moveTo>
                <a:lnTo>
                  <a:pt x="5343579" y="0"/>
                </a:lnTo>
                <a:lnTo>
                  <a:pt x="5343579" y="3980966"/>
                </a:lnTo>
                <a:lnTo>
                  <a:pt x="0" y="3980966"/>
                </a:lnTo>
                <a:lnTo>
                  <a:pt x="0" y="0"/>
                </a:lnTo>
                <a:close/>
              </a:path>
            </a:pathLst>
          </a:custGeom>
          <a:blipFill>
            <a:blip r:embed="rId3"/>
            <a:stretch>
              <a:fillRect l="0" t="0" r="0" b="0"/>
            </a:stretch>
          </a:blipFill>
        </p:spPr>
      </p:sp>
      <p:sp>
        <p:nvSpPr>
          <p:cNvPr name="TextBox 13" id="13"/>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C++ EXAMPLE</a:t>
            </a:r>
          </a:p>
        </p:txBody>
      </p:sp>
      <p:sp>
        <p:nvSpPr>
          <p:cNvPr name="TextBox 14" id="14"/>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5" id="15"/>
          <p:cNvSpPr txBox="true"/>
          <p:nvPr/>
        </p:nvSpPr>
        <p:spPr>
          <a:xfrm rot="0">
            <a:off x="0" y="9966872"/>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16" id="16"/>
          <p:cNvSpPr txBox="true"/>
          <p:nvPr/>
        </p:nvSpPr>
        <p:spPr>
          <a:xfrm rot="0">
            <a:off x="2525559" y="3298919"/>
            <a:ext cx="7580227" cy="3158781"/>
          </a:xfrm>
          <a:prstGeom prst="rect">
            <a:avLst/>
          </a:prstGeom>
        </p:spPr>
        <p:txBody>
          <a:bodyPr anchor="t" rtlCol="false" tIns="0" lIns="0" bIns="0" rIns="0">
            <a:spAutoFit/>
          </a:bodyPr>
          <a:lstStyle/>
          <a:p>
            <a:pPr algn="l">
              <a:lnSpc>
                <a:spcPts val="2486"/>
              </a:lnSpc>
            </a:pPr>
            <a:r>
              <a:rPr lang="en-US" sz="2486">
                <a:solidFill>
                  <a:srgbClr val="000000"/>
                </a:solidFill>
                <a:latin typeface="Itim"/>
                <a:ea typeface="Itim"/>
                <a:cs typeface="Itim"/>
                <a:sym typeface="Itim"/>
              </a:rPr>
              <a:t>สำหรับ C++ จะใช้แนวคิดคล้าย JAVA คือสร้าง ABSTRACT BASE CLASS พร้อม PURE VIRTUAL FUNCTION และใช้ POINTER สืบทอดไปยังคลาสลูก</a:t>
            </a:r>
          </a:p>
          <a:p>
            <a:pPr algn="l">
              <a:lnSpc>
                <a:spcPts val="2486"/>
              </a:lnSpc>
            </a:pPr>
            <a:r>
              <a:rPr lang="en-US" sz="2486">
                <a:solidFill>
                  <a:srgbClr val="000000"/>
                </a:solidFill>
                <a:latin typeface="Itim"/>
                <a:ea typeface="Itim"/>
                <a:cs typeface="Itim"/>
                <a:sym typeface="Itim"/>
              </a:rPr>
              <a:t>มุมมองเชิง PPL ภาษา C++ ให้ความยืดหยุ่นสูงและทำงานใกล้ชิดฮาร์ดแวร์ แต่แลกมาด้วยความรับผิดชอบเรื่อง MEMORY MANAGEMENT ที่นักพัฒนาต้องคอย DELETE หน่วยความจำเองเพื่อป้องกัน MEMORY LEAK (ต่างจาก RUST ที่จัดการผ่าน OWNERSHIP และ RAII โดยอัตโนมัติ) รวมถึงมี OVERHEAD จากการใช้ VIRTUAL TABLE (VTABLE) </a:t>
            </a:r>
          </a:p>
          <a:p>
            <a:pPr algn="l" marL="0" indent="0" lvl="0">
              <a:lnSpc>
                <a:spcPts val="2486"/>
              </a:lnSpc>
              <a:spcBef>
                <a:spcPct val="0"/>
              </a:spcBef>
            </a:pPr>
          </a:p>
        </p:txBody>
      </p:sp>
    </p:spTree>
  </p:cSld>
  <p:clrMapOvr>
    <a:masterClrMapping/>
  </p:clrMapOvr>
  <p:transition spd="fast">
    <p:fade/>
  </p:transition>
</p:sld>
</file>

<file path=ppt/slides/slide41.xml><?xml version="1.0" encoding="utf-8"?>
<p:sld xmlns:p="http://schemas.openxmlformats.org/presentationml/2006/main" xmlns:a="http://schemas.openxmlformats.org/drawingml/2006/main" xmlns:r="http://schemas.openxmlformats.org/officeDocument/2006/relationships" show="false">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1314898" y="3110554"/>
            <a:ext cx="8077977" cy="4065892"/>
            <a:chOff x="0" y="0"/>
            <a:chExt cx="2127533" cy="1070852"/>
          </a:xfrm>
        </p:grpSpPr>
        <p:sp>
          <p:nvSpPr>
            <p:cNvPr name="Freeform 9" id="9"/>
            <p:cNvSpPr/>
            <p:nvPr/>
          </p:nvSpPr>
          <p:spPr>
            <a:xfrm flipH="false" flipV="false" rot="0">
              <a:off x="0" y="0"/>
              <a:ext cx="2127533" cy="1070852"/>
            </a:xfrm>
            <a:custGeom>
              <a:avLst/>
              <a:gdLst/>
              <a:ahLst/>
              <a:cxnLst/>
              <a:rect r="r" b="b" t="t" l="l"/>
              <a:pathLst>
                <a:path h="1070852" w="2127533">
                  <a:moveTo>
                    <a:pt x="48878" y="0"/>
                  </a:moveTo>
                  <a:lnTo>
                    <a:pt x="2078655" y="0"/>
                  </a:lnTo>
                  <a:cubicBezTo>
                    <a:pt x="2105649" y="0"/>
                    <a:pt x="2127533" y="21884"/>
                    <a:pt x="2127533" y="48878"/>
                  </a:cubicBezTo>
                  <a:lnTo>
                    <a:pt x="2127533" y="1021974"/>
                  </a:lnTo>
                  <a:cubicBezTo>
                    <a:pt x="2127533" y="1048969"/>
                    <a:pt x="2105649" y="1070852"/>
                    <a:pt x="2078655" y="1070852"/>
                  </a:cubicBezTo>
                  <a:lnTo>
                    <a:pt x="48878" y="1070852"/>
                  </a:lnTo>
                  <a:cubicBezTo>
                    <a:pt x="21884" y="1070852"/>
                    <a:pt x="0" y="1048969"/>
                    <a:pt x="0" y="1021974"/>
                  </a:cubicBezTo>
                  <a:lnTo>
                    <a:pt x="0" y="48878"/>
                  </a:lnTo>
                  <a:cubicBezTo>
                    <a:pt x="0" y="21884"/>
                    <a:pt x="21884" y="0"/>
                    <a:pt x="48878" y="0"/>
                  </a:cubicBezTo>
                  <a:close/>
                </a:path>
              </a:pathLst>
            </a:custGeom>
            <a:solidFill>
              <a:srgbClr val="FFFFFF"/>
            </a:solidFill>
          </p:spPr>
        </p:sp>
        <p:sp>
          <p:nvSpPr>
            <p:cNvPr name="TextBox 10" id="10"/>
            <p:cNvSpPr txBox="true"/>
            <p:nvPr/>
          </p:nvSpPr>
          <p:spPr>
            <a:xfrm>
              <a:off x="0" y="47625"/>
              <a:ext cx="2127533" cy="1023227"/>
            </a:xfrm>
            <a:prstGeom prst="rect">
              <a:avLst/>
            </a:prstGeom>
          </p:spPr>
          <p:txBody>
            <a:bodyPr anchor="ctr" rtlCol="false" tIns="50800" lIns="50800" bIns="50800" rIns="50800"/>
            <a:lstStyle/>
            <a:p>
              <a:pPr algn="ctr">
                <a:lnSpc>
                  <a:spcPts val="2486"/>
                </a:lnSpc>
              </a:pPr>
            </a:p>
          </p:txBody>
        </p:sp>
      </p:grpSp>
      <p:sp>
        <p:nvSpPr>
          <p:cNvPr name="Freeform 11" id="11"/>
          <p:cNvSpPr/>
          <p:nvPr/>
        </p:nvSpPr>
        <p:spPr>
          <a:xfrm flipH="false" flipV="false" rot="0">
            <a:off x="10350708" y="419802"/>
            <a:ext cx="6908592" cy="9447397"/>
          </a:xfrm>
          <a:custGeom>
            <a:avLst/>
            <a:gdLst/>
            <a:ahLst/>
            <a:cxnLst/>
            <a:rect r="r" b="b" t="t" l="l"/>
            <a:pathLst>
              <a:path h="9447397" w="6908592">
                <a:moveTo>
                  <a:pt x="0" y="0"/>
                </a:moveTo>
                <a:lnTo>
                  <a:pt x="6908592" y="0"/>
                </a:lnTo>
                <a:lnTo>
                  <a:pt x="6908592" y="9447396"/>
                </a:lnTo>
                <a:lnTo>
                  <a:pt x="0" y="9447396"/>
                </a:lnTo>
                <a:lnTo>
                  <a:pt x="0" y="0"/>
                </a:lnTo>
                <a:close/>
              </a:path>
            </a:pathLst>
          </a:custGeom>
          <a:blipFill>
            <a:blip r:embed="rId2"/>
            <a:stretch>
              <a:fillRect l="0" t="0" r="0" b="0"/>
            </a:stretch>
          </a:blipFill>
        </p:spPr>
      </p:sp>
      <p:sp>
        <p:nvSpPr>
          <p:cNvPr name="TextBox 12" id="12"/>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PYTHON EXAMPLE</a:t>
            </a:r>
          </a:p>
        </p:txBody>
      </p:sp>
      <p:sp>
        <p:nvSpPr>
          <p:cNvPr name="TextBox 13" id="13"/>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sp>
        <p:nvSpPr>
          <p:cNvPr name="TextBox 14" id="14"/>
          <p:cNvSpPr txBox="true"/>
          <p:nvPr/>
        </p:nvSpPr>
        <p:spPr>
          <a:xfrm rot="0">
            <a:off x="185903" y="9895773"/>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
        <p:nvSpPr>
          <p:cNvPr name="TextBox 15" id="15"/>
          <p:cNvSpPr txBox="true"/>
          <p:nvPr/>
        </p:nvSpPr>
        <p:spPr>
          <a:xfrm rot="0">
            <a:off x="1563773" y="3587922"/>
            <a:ext cx="7580227" cy="3473106"/>
          </a:xfrm>
          <a:prstGeom prst="rect">
            <a:avLst/>
          </a:prstGeom>
        </p:spPr>
        <p:txBody>
          <a:bodyPr anchor="t" rtlCol="false" tIns="0" lIns="0" bIns="0" rIns="0">
            <a:spAutoFit/>
          </a:bodyPr>
          <a:lstStyle/>
          <a:p>
            <a:pPr algn="l">
              <a:lnSpc>
                <a:spcPts val="2486"/>
              </a:lnSpc>
            </a:pPr>
            <a:r>
              <a:rPr lang="en-US" sz="2486">
                <a:solidFill>
                  <a:srgbClr val="000000"/>
                </a:solidFill>
                <a:latin typeface="Itim"/>
                <a:ea typeface="Itim"/>
                <a:cs typeface="Itim"/>
                <a:sym typeface="Itim"/>
              </a:rPr>
              <a:t>สุดท้ายในฝั่ง PYTHON เราใช้โมดูล ABC (ABSTRACT BASE CLASSES) มาช่วยกำหนดโครงสร้าง INTERFACE คล้ายกับ JAVA </a:t>
            </a:r>
          </a:p>
          <a:p>
            <a:pPr algn="l">
              <a:lnSpc>
                <a:spcPts val="2486"/>
              </a:lnSpc>
            </a:pPr>
            <a:r>
              <a:rPr lang="en-US" sz="2486">
                <a:solidFill>
                  <a:srgbClr val="000000"/>
                </a:solidFill>
                <a:latin typeface="Itim"/>
                <a:ea typeface="Itim"/>
                <a:cs typeface="Itim"/>
                <a:sym typeface="Itim"/>
              </a:rPr>
              <a:t>ในเชิง PPL ตัว PYTHON เป็น DYNAMICALLY TYPED LANGUAGE การตรวจสอบชนิดข้อมูลและการบังคับให้คลาสลูกต้องเขียนเมธอด CHECK() จะเกิดขึ้นตอนรันไทม์ (RUNTIME) ผ่าน DECORATOR @ABSTRACTMETHOD ต่างจาก RUST, JAVA หรือ C++ ที่คอมไพเลอร์จะตรวจสอบความถูกต้องตั้งแต่ขั้นตอนคอมไพล์ (COMPILE-TIME) ทำให้มีความปลอดภัยและจับข้อผิดพลาดได้เร็วกว่า</a:t>
            </a:r>
          </a:p>
          <a:p>
            <a:pPr algn="l" marL="0" indent="0" lvl="0">
              <a:lnSpc>
                <a:spcPts val="2486"/>
              </a:lnSpc>
              <a:spcBef>
                <a:spcPct val="0"/>
              </a:spcBef>
            </a:pPr>
          </a:p>
        </p:txBody>
      </p:sp>
    </p:spTree>
  </p:cSld>
  <p:clrMapOvr>
    <a:masterClrMapping/>
  </p:clrMapOvr>
  <p:transition spd="fast">
    <p:fade/>
  </p:transition>
</p:sld>
</file>

<file path=ppt/slides/slide42.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73850"/>
          </a:xfrm>
          <a:prstGeom prst="rect">
            <a:avLst/>
          </a:prstGeom>
        </p:spPr>
        <p:txBody>
          <a:bodyPr anchor="t" rtlCol="false" tIns="0" lIns="0" bIns="0" rIns="0">
            <a:spAutoFit/>
          </a:bodyPr>
          <a:lstStyle/>
          <a:p>
            <a:pPr algn="ctr" marL="0" indent="0" lvl="0">
              <a:lnSpc>
                <a:spcPts val="2786"/>
              </a:lnSpc>
              <a:spcBef>
                <a:spcPct val="0"/>
              </a:spcBef>
            </a:pPr>
            <a:r>
              <a:rPr lang="en-US" sz="2786">
                <a:solidFill>
                  <a:srgbClr val="000000"/>
                </a:solidFill>
                <a:latin typeface="Itim"/>
                <a:ea typeface="Itim"/>
                <a:cs typeface="Itim"/>
                <a:sym typeface="Itim"/>
              </a:rPr>
              <a:t>ANALYSIS</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355186" y="2886170"/>
            <a:ext cx="11679790" cy="2786305"/>
            <a:chOff x="0" y="0"/>
            <a:chExt cx="3076159" cy="733842"/>
          </a:xfrm>
        </p:grpSpPr>
        <p:sp>
          <p:nvSpPr>
            <p:cNvPr name="Freeform 11" id="11"/>
            <p:cNvSpPr/>
            <p:nvPr/>
          </p:nvSpPr>
          <p:spPr>
            <a:xfrm flipH="false" flipV="false" rot="0">
              <a:off x="0" y="0"/>
              <a:ext cx="3076159" cy="733842"/>
            </a:xfrm>
            <a:custGeom>
              <a:avLst/>
              <a:gdLst/>
              <a:ahLst/>
              <a:cxnLst/>
              <a:rect r="r" b="b" t="t" l="l"/>
              <a:pathLst>
                <a:path h="733842" w="3076159">
                  <a:moveTo>
                    <a:pt x="33805" y="0"/>
                  </a:moveTo>
                  <a:lnTo>
                    <a:pt x="3042353" y="0"/>
                  </a:lnTo>
                  <a:cubicBezTo>
                    <a:pt x="3051319" y="0"/>
                    <a:pt x="3059917" y="3562"/>
                    <a:pt x="3066257" y="9901"/>
                  </a:cubicBezTo>
                  <a:cubicBezTo>
                    <a:pt x="3072597" y="16241"/>
                    <a:pt x="3076159" y="24840"/>
                    <a:pt x="3076159" y="33805"/>
                  </a:cubicBezTo>
                  <a:lnTo>
                    <a:pt x="3076159" y="700036"/>
                  </a:lnTo>
                  <a:cubicBezTo>
                    <a:pt x="3076159" y="709002"/>
                    <a:pt x="3072597" y="717601"/>
                    <a:pt x="3066257" y="723940"/>
                  </a:cubicBezTo>
                  <a:cubicBezTo>
                    <a:pt x="3059917" y="730280"/>
                    <a:pt x="3051319" y="733842"/>
                    <a:pt x="3042353" y="733842"/>
                  </a:cubicBezTo>
                  <a:lnTo>
                    <a:pt x="33805" y="733842"/>
                  </a:lnTo>
                  <a:cubicBezTo>
                    <a:pt x="24840" y="733842"/>
                    <a:pt x="16241" y="730280"/>
                    <a:pt x="9901" y="723940"/>
                  </a:cubicBezTo>
                  <a:cubicBezTo>
                    <a:pt x="3562" y="717601"/>
                    <a:pt x="0" y="709002"/>
                    <a:pt x="0" y="700036"/>
                  </a:cubicBezTo>
                  <a:lnTo>
                    <a:pt x="0" y="33805"/>
                  </a:lnTo>
                  <a:cubicBezTo>
                    <a:pt x="0" y="24840"/>
                    <a:pt x="3562" y="16241"/>
                    <a:pt x="9901" y="9901"/>
                  </a:cubicBezTo>
                  <a:cubicBezTo>
                    <a:pt x="16241" y="3562"/>
                    <a:pt x="24840" y="0"/>
                    <a:pt x="33805" y="0"/>
                  </a:cubicBezTo>
                  <a:close/>
                </a:path>
              </a:pathLst>
            </a:custGeom>
            <a:solidFill>
              <a:srgbClr val="FFFFFF"/>
            </a:solidFill>
          </p:spPr>
        </p:sp>
        <p:sp>
          <p:nvSpPr>
            <p:cNvPr name="TextBox 12" id="12"/>
            <p:cNvSpPr txBox="true"/>
            <p:nvPr/>
          </p:nvSpPr>
          <p:spPr>
            <a:xfrm>
              <a:off x="0" y="47625"/>
              <a:ext cx="3076159" cy="686217"/>
            </a:xfrm>
            <a:prstGeom prst="rect">
              <a:avLst/>
            </a:prstGeom>
          </p:spPr>
          <p:txBody>
            <a:bodyPr anchor="ctr" rtlCol="false" tIns="50800" lIns="50800" bIns="50800" rIns="50800"/>
            <a:lstStyle/>
            <a:p>
              <a:pPr algn="ctr">
                <a:lnSpc>
                  <a:spcPts val="2486"/>
                </a:lnSpc>
              </a:pPr>
            </a:p>
          </p:txBody>
        </p:sp>
      </p:grpSp>
      <p:sp>
        <p:nvSpPr>
          <p:cNvPr name="TextBox 13" id="13"/>
          <p:cNvSpPr txBox="true"/>
          <p:nvPr/>
        </p:nvSpPr>
        <p:spPr>
          <a:xfrm rot="0">
            <a:off x="584766" y="3114751"/>
            <a:ext cx="11045406" cy="2215896"/>
          </a:xfrm>
          <a:prstGeom prst="rect">
            <a:avLst/>
          </a:prstGeom>
        </p:spPr>
        <p:txBody>
          <a:bodyPr anchor="t" rtlCol="false" tIns="0" lIns="0" bIns="0" rIns="0">
            <a:spAutoFit/>
          </a:bodyPr>
          <a:lstStyle/>
          <a:p>
            <a:pPr algn="l" marL="0" indent="0" lvl="0">
              <a:lnSpc>
                <a:spcPts val="2490"/>
              </a:lnSpc>
              <a:spcBef>
                <a:spcPct val="0"/>
              </a:spcBef>
            </a:pPr>
            <a:r>
              <a:rPr lang="en-US" sz="2490">
                <a:solidFill>
                  <a:srgbClr val="000000"/>
                </a:solidFill>
                <a:latin typeface="Itim"/>
                <a:ea typeface="Itim"/>
                <a:cs typeface="Itim"/>
                <a:sym typeface="Itim"/>
              </a:rPr>
              <a:t>คือการเปลี่ยนวิธีจัดการสถานะและข้อมูลหลากรูปแบบ จากเดิมที่ภาษาอื่นใช้แนวคิด OOP / DYNAMIC TYPING (การใช้ CLASS HIERARCHY, DYNAMIC DISPATCH หรือ STD::VARIANT) มาเป็นการใช้ ALGEBRAIC DATA TYPES (SUM TYPES) ผ่าน ENUM ที่แนบข้อมูลไว้ใน VARIANT ได้โดยตรง ร่วมกับระบบ EXHAUSTIVE PATTERN MATCHING (MATCH) และการจัดเก็บแบบ TAGGED UNION บน STACK ทำให้ RUST สามารถจัดการข้อมูลได้กะทัดรัด ตรวจสอบกรณีต่างๆ ได้อย่างรวดเร็ว และไม่มี OVERHEAD จาก GARBAGE COLLECTOR (GC) หรือการจอง HEAP โดยไม่จำเป็น</a:t>
            </a:r>
          </a:p>
        </p:txBody>
      </p:sp>
      <p:grpSp>
        <p:nvGrpSpPr>
          <p:cNvPr name="Group 14" id="14"/>
          <p:cNvGrpSpPr/>
          <p:nvPr/>
        </p:nvGrpSpPr>
        <p:grpSpPr>
          <a:xfrm rot="0">
            <a:off x="267574" y="6953998"/>
            <a:ext cx="11679790" cy="2786305"/>
            <a:chOff x="0" y="0"/>
            <a:chExt cx="3076159" cy="733842"/>
          </a:xfrm>
        </p:grpSpPr>
        <p:sp>
          <p:nvSpPr>
            <p:cNvPr name="Freeform 15" id="15"/>
            <p:cNvSpPr/>
            <p:nvPr/>
          </p:nvSpPr>
          <p:spPr>
            <a:xfrm flipH="false" flipV="false" rot="0">
              <a:off x="0" y="0"/>
              <a:ext cx="3076159" cy="733842"/>
            </a:xfrm>
            <a:custGeom>
              <a:avLst/>
              <a:gdLst/>
              <a:ahLst/>
              <a:cxnLst/>
              <a:rect r="r" b="b" t="t" l="l"/>
              <a:pathLst>
                <a:path h="733842" w="3076159">
                  <a:moveTo>
                    <a:pt x="33805" y="0"/>
                  </a:moveTo>
                  <a:lnTo>
                    <a:pt x="3042353" y="0"/>
                  </a:lnTo>
                  <a:cubicBezTo>
                    <a:pt x="3051319" y="0"/>
                    <a:pt x="3059917" y="3562"/>
                    <a:pt x="3066257" y="9901"/>
                  </a:cubicBezTo>
                  <a:cubicBezTo>
                    <a:pt x="3072597" y="16241"/>
                    <a:pt x="3076159" y="24840"/>
                    <a:pt x="3076159" y="33805"/>
                  </a:cubicBezTo>
                  <a:lnTo>
                    <a:pt x="3076159" y="700036"/>
                  </a:lnTo>
                  <a:cubicBezTo>
                    <a:pt x="3076159" y="709002"/>
                    <a:pt x="3072597" y="717601"/>
                    <a:pt x="3066257" y="723940"/>
                  </a:cubicBezTo>
                  <a:cubicBezTo>
                    <a:pt x="3059917" y="730280"/>
                    <a:pt x="3051319" y="733842"/>
                    <a:pt x="3042353" y="733842"/>
                  </a:cubicBezTo>
                  <a:lnTo>
                    <a:pt x="33805" y="733842"/>
                  </a:lnTo>
                  <a:cubicBezTo>
                    <a:pt x="24840" y="733842"/>
                    <a:pt x="16241" y="730280"/>
                    <a:pt x="9901" y="723940"/>
                  </a:cubicBezTo>
                  <a:cubicBezTo>
                    <a:pt x="3562" y="717601"/>
                    <a:pt x="0" y="709002"/>
                    <a:pt x="0" y="700036"/>
                  </a:cubicBezTo>
                  <a:lnTo>
                    <a:pt x="0" y="33805"/>
                  </a:lnTo>
                  <a:cubicBezTo>
                    <a:pt x="0" y="24840"/>
                    <a:pt x="3562" y="16241"/>
                    <a:pt x="9901" y="9901"/>
                  </a:cubicBezTo>
                  <a:cubicBezTo>
                    <a:pt x="16241" y="3562"/>
                    <a:pt x="24840" y="0"/>
                    <a:pt x="33805" y="0"/>
                  </a:cubicBezTo>
                  <a:close/>
                </a:path>
              </a:pathLst>
            </a:custGeom>
            <a:solidFill>
              <a:srgbClr val="FFFFFF"/>
            </a:solidFill>
          </p:spPr>
        </p:sp>
        <p:sp>
          <p:nvSpPr>
            <p:cNvPr name="TextBox 16" id="16"/>
            <p:cNvSpPr txBox="true"/>
            <p:nvPr/>
          </p:nvSpPr>
          <p:spPr>
            <a:xfrm>
              <a:off x="0" y="47625"/>
              <a:ext cx="3076159" cy="686217"/>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584766" y="7001623"/>
            <a:ext cx="11045406" cy="2215896"/>
          </a:xfrm>
          <a:prstGeom prst="rect">
            <a:avLst/>
          </a:prstGeom>
        </p:spPr>
        <p:txBody>
          <a:bodyPr anchor="t" rtlCol="false" tIns="0" lIns="0" bIns="0" rIns="0">
            <a:spAutoFit/>
          </a:bodyPr>
          <a:lstStyle/>
          <a:p>
            <a:pPr algn="l" marL="0" indent="0" lvl="0">
              <a:lnSpc>
                <a:spcPts val="2490"/>
              </a:lnSpc>
              <a:spcBef>
                <a:spcPct val="0"/>
              </a:spcBef>
            </a:pPr>
            <a:r>
              <a:rPr lang="en-US" sz="2490">
                <a:solidFill>
                  <a:srgbClr val="000000"/>
                </a:solidFill>
                <a:latin typeface="Itim"/>
                <a:ea typeface="Itim"/>
                <a:cs typeface="Itim"/>
                <a:sym typeface="Itim"/>
              </a:rPr>
              <a:t>RUST ถูกออกแบบมาบนปรัชญา "ZERO-COST ABSTRACTIONS, COMPILE-TIME SAFETY และ DATA-ORIENTED DESIGN" โดยมุ่งเน้นย้ายข้อผิดพลาดทั้งหมดที่อาจเกิดขึ้นขณะทำงาน (RUNTIME ERRORS เช่น การลืมเช็คบางกรณี, NULL POINTER หรือ TYPE ERROR) มาให้ COMPILER บังคับตรวจจับให้ครบถ้วนตั้งแต่ขั้นตอน COMPILE TIME ภาษาจึงเลือกใช้ SUM TYPES และ PATTERN MATCHING เพื่อให้ได้ความปลอดภัยสูงสุดโดยไม่ต้องแลกมาด้วย GARBAGE COLLECTOR เหมือน JAVA/PYTHON และยังคงประสิทธิภาพระดับ SYSTEM-LEVEL PROGRAMMING เท่า C/C++ </a:t>
            </a:r>
          </a:p>
        </p:txBody>
      </p:sp>
      <p:grpSp>
        <p:nvGrpSpPr>
          <p:cNvPr name="Group 18" id="18"/>
          <p:cNvGrpSpPr/>
          <p:nvPr/>
        </p:nvGrpSpPr>
        <p:grpSpPr>
          <a:xfrm rot="0">
            <a:off x="584766" y="1901256"/>
            <a:ext cx="6571661" cy="813463"/>
            <a:chOff x="0" y="0"/>
            <a:chExt cx="1968848" cy="243711"/>
          </a:xfrm>
        </p:grpSpPr>
        <p:sp>
          <p:nvSpPr>
            <p:cNvPr name="Freeform 19" id="19"/>
            <p:cNvSpPr/>
            <p:nvPr/>
          </p:nvSpPr>
          <p:spPr>
            <a:xfrm flipH="false" flipV="false" rot="0">
              <a:off x="0" y="0"/>
              <a:ext cx="1968848" cy="243711"/>
            </a:xfrm>
            <a:custGeom>
              <a:avLst/>
              <a:gdLst/>
              <a:ahLst/>
              <a:cxnLst/>
              <a:rect r="r" b="b" t="t" l="l"/>
              <a:pathLst>
                <a:path h="243711" w="1968848">
                  <a:moveTo>
                    <a:pt x="117808" y="0"/>
                  </a:moveTo>
                  <a:lnTo>
                    <a:pt x="1851041" y="0"/>
                  </a:lnTo>
                  <a:cubicBezTo>
                    <a:pt x="1882285" y="0"/>
                    <a:pt x="1912250" y="12412"/>
                    <a:pt x="1934343" y="34505"/>
                  </a:cubicBezTo>
                  <a:cubicBezTo>
                    <a:pt x="1956437" y="56598"/>
                    <a:pt x="1968848" y="86563"/>
                    <a:pt x="1968848" y="117808"/>
                  </a:cubicBezTo>
                  <a:lnTo>
                    <a:pt x="1968848" y="125903"/>
                  </a:lnTo>
                  <a:cubicBezTo>
                    <a:pt x="1968848" y="157148"/>
                    <a:pt x="1956437" y="187113"/>
                    <a:pt x="1934343" y="209206"/>
                  </a:cubicBezTo>
                  <a:cubicBezTo>
                    <a:pt x="1912250" y="231299"/>
                    <a:pt x="1882285" y="243711"/>
                    <a:pt x="1851041" y="243711"/>
                  </a:cubicBezTo>
                  <a:lnTo>
                    <a:pt x="117808" y="243711"/>
                  </a:lnTo>
                  <a:cubicBezTo>
                    <a:pt x="86563" y="243711"/>
                    <a:pt x="56598" y="231299"/>
                    <a:pt x="34505" y="209206"/>
                  </a:cubicBezTo>
                  <a:cubicBezTo>
                    <a:pt x="12412" y="187113"/>
                    <a:pt x="0" y="157148"/>
                    <a:pt x="0" y="125903"/>
                  </a:cubicBezTo>
                  <a:lnTo>
                    <a:pt x="0" y="117808"/>
                  </a:lnTo>
                  <a:cubicBezTo>
                    <a:pt x="0" y="86563"/>
                    <a:pt x="12412" y="56598"/>
                    <a:pt x="34505" y="34505"/>
                  </a:cubicBezTo>
                  <a:cubicBezTo>
                    <a:pt x="56598" y="12412"/>
                    <a:pt x="86563" y="0"/>
                    <a:pt x="117808" y="0"/>
                  </a:cubicBezTo>
                  <a:close/>
                </a:path>
              </a:pathLst>
            </a:custGeom>
            <a:solidFill>
              <a:srgbClr val="FFE88B"/>
            </a:solidFill>
            <a:ln w="38100" cap="rnd">
              <a:solidFill>
                <a:srgbClr val="FFC153"/>
              </a:solidFill>
              <a:prstDash val="solid"/>
              <a:round/>
            </a:ln>
          </p:spPr>
        </p:sp>
        <p:sp>
          <p:nvSpPr>
            <p:cNvPr name="TextBox 20" id="20"/>
            <p:cNvSpPr txBox="true"/>
            <p:nvPr/>
          </p:nvSpPr>
          <p:spPr>
            <a:xfrm>
              <a:off x="0" y="19050"/>
              <a:ext cx="1968848" cy="224661"/>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1171088" y="1948881"/>
            <a:ext cx="5399017" cy="728001"/>
          </a:xfrm>
          <a:prstGeom prst="rect">
            <a:avLst/>
          </a:prstGeom>
        </p:spPr>
        <p:txBody>
          <a:bodyPr anchor="t" rtlCol="false" tIns="0" lIns="0" bIns="0" rIns="0">
            <a:spAutoFit/>
          </a:bodyPr>
          <a:lstStyle/>
          <a:p>
            <a:pPr algn="l" marL="0" indent="0" lvl="0">
              <a:lnSpc>
                <a:spcPts val="2786"/>
              </a:lnSpc>
              <a:spcBef>
                <a:spcPct val="0"/>
              </a:spcBef>
            </a:pPr>
            <a:r>
              <a:rPr lang="en-US" sz="2786">
                <a:solidFill>
                  <a:srgbClr val="000000"/>
                </a:solidFill>
                <a:latin typeface="Itim"/>
                <a:ea typeface="Itim"/>
                <a:cs typeface="Itim"/>
                <a:sym typeface="Itim"/>
              </a:rPr>
              <a:t>ความแตกต่างสำคัญระหว่าง RUST กับภาษาอื่น (C++, JAVA, PYTHON)</a:t>
            </a:r>
          </a:p>
        </p:txBody>
      </p:sp>
      <p:grpSp>
        <p:nvGrpSpPr>
          <p:cNvPr name="Group 22" id="22"/>
          <p:cNvGrpSpPr/>
          <p:nvPr/>
        </p:nvGrpSpPr>
        <p:grpSpPr>
          <a:xfrm rot="0">
            <a:off x="355186" y="6125021"/>
            <a:ext cx="5076066" cy="738610"/>
            <a:chOff x="0" y="0"/>
            <a:chExt cx="1520773" cy="221285"/>
          </a:xfrm>
        </p:grpSpPr>
        <p:sp>
          <p:nvSpPr>
            <p:cNvPr name="Freeform 23" id="23"/>
            <p:cNvSpPr/>
            <p:nvPr/>
          </p:nvSpPr>
          <p:spPr>
            <a:xfrm flipH="false" flipV="false" rot="0">
              <a:off x="0" y="0"/>
              <a:ext cx="1520773" cy="221285"/>
            </a:xfrm>
            <a:custGeom>
              <a:avLst/>
              <a:gdLst/>
              <a:ahLst/>
              <a:cxnLst/>
              <a:rect r="r" b="b" t="t" l="l"/>
              <a:pathLst>
                <a:path h="221285" w="1520773">
                  <a:moveTo>
                    <a:pt x="110643" y="0"/>
                  </a:moveTo>
                  <a:lnTo>
                    <a:pt x="1410130" y="0"/>
                  </a:lnTo>
                  <a:cubicBezTo>
                    <a:pt x="1471237" y="0"/>
                    <a:pt x="1520773" y="49536"/>
                    <a:pt x="1520773" y="110643"/>
                  </a:cubicBezTo>
                  <a:lnTo>
                    <a:pt x="1520773" y="110643"/>
                  </a:lnTo>
                  <a:cubicBezTo>
                    <a:pt x="1520773" y="139987"/>
                    <a:pt x="1509116" y="168129"/>
                    <a:pt x="1488367" y="188879"/>
                  </a:cubicBezTo>
                  <a:cubicBezTo>
                    <a:pt x="1467617" y="209628"/>
                    <a:pt x="1439475" y="221285"/>
                    <a:pt x="1410130" y="221285"/>
                  </a:cubicBezTo>
                  <a:lnTo>
                    <a:pt x="110643" y="221285"/>
                  </a:lnTo>
                  <a:cubicBezTo>
                    <a:pt x="81298" y="221285"/>
                    <a:pt x="53156" y="209628"/>
                    <a:pt x="32406" y="188879"/>
                  </a:cubicBezTo>
                  <a:cubicBezTo>
                    <a:pt x="11657" y="168129"/>
                    <a:pt x="0" y="139987"/>
                    <a:pt x="0" y="110643"/>
                  </a:cubicBezTo>
                  <a:lnTo>
                    <a:pt x="0" y="110643"/>
                  </a:lnTo>
                  <a:cubicBezTo>
                    <a:pt x="0" y="81298"/>
                    <a:pt x="11657" y="53156"/>
                    <a:pt x="32406" y="32406"/>
                  </a:cubicBezTo>
                  <a:cubicBezTo>
                    <a:pt x="53156" y="11657"/>
                    <a:pt x="81298" y="0"/>
                    <a:pt x="110643" y="0"/>
                  </a:cubicBezTo>
                  <a:close/>
                </a:path>
              </a:pathLst>
            </a:custGeom>
            <a:solidFill>
              <a:srgbClr val="FFE88B"/>
            </a:solidFill>
            <a:ln w="38100" cap="rnd">
              <a:solidFill>
                <a:srgbClr val="FFC153"/>
              </a:solidFill>
              <a:prstDash val="solid"/>
              <a:round/>
            </a:ln>
          </p:spPr>
        </p:sp>
        <p:sp>
          <p:nvSpPr>
            <p:cNvPr name="TextBox 24" id="24"/>
            <p:cNvSpPr txBox="true"/>
            <p:nvPr/>
          </p:nvSpPr>
          <p:spPr>
            <a:xfrm>
              <a:off x="0" y="19050"/>
              <a:ext cx="1520773" cy="202235"/>
            </a:xfrm>
            <a:prstGeom prst="rect">
              <a:avLst/>
            </a:prstGeom>
          </p:spPr>
          <p:txBody>
            <a:bodyPr anchor="ctr" rtlCol="false" tIns="50800" lIns="50800" bIns="50800" rIns="50800"/>
            <a:lstStyle/>
            <a:p>
              <a:pPr algn="ctr">
                <a:lnSpc>
                  <a:spcPts val="2694"/>
                </a:lnSpc>
              </a:pPr>
            </a:p>
          </p:txBody>
        </p:sp>
      </p:grpSp>
      <p:sp>
        <p:nvSpPr>
          <p:cNvPr name="TextBox 25" id="25"/>
          <p:cNvSpPr txBox="true"/>
          <p:nvPr/>
        </p:nvSpPr>
        <p:spPr>
          <a:xfrm rot="0">
            <a:off x="584766" y="6367777"/>
            <a:ext cx="5399017" cy="375576"/>
          </a:xfrm>
          <a:prstGeom prst="rect">
            <a:avLst/>
          </a:prstGeom>
        </p:spPr>
        <p:txBody>
          <a:bodyPr anchor="t" rtlCol="false" tIns="0" lIns="0" bIns="0" rIns="0">
            <a:spAutoFit/>
          </a:bodyPr>
          <a:lstStyle/>
          <a:p>
            <a:pPr algn="l" marL="0" indent="0" lvl="0">
              <a:lnSpc>
                <a:spcPts val="2786"/>
              </a:lnSpc>
              <a:spcBef>
                <a:spcPct val="0"/>
              </a:spcBef>
            </a:pPr>
            <a:r>
              <a:rPr lang="en-US" sz="2786">
                <a:solidFill>
                  <a:srgbClr val="000000"/>
                </a:solidFill>
                <a:latin typeface="Itim"/>
                <a:ea typeface="Itim"/>
                <a:cs typeface="Itim"/>
                <a:sym typeface="Itim"/>
              </a:rPr>
              <a:t>เหตุผลด้านการออกแบบภาษา</a:t>
            </a:r>
          </a:p>
        </p:txBody>
      </p:sp>
      <p:sp>
        <p:nvSpPr>
          <p:cNvPr name="TextBox 26" id="26"/>
          <p:cNvSpPr txBox="true"/>
          <p:nvPr/>
        </p:nvSpPr>
        <p:spPr>
          <a:xfrm rot="0">
            <a:off x="267574" y="9854603"/>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Tree>
  </p:cSld>
  <p:clrMapOvr>
    <a:masterClrMapping/>
  </p:clrMapOvr>
  <p:transition spd="fast">
    <p:fade/>
  </p:transition>
</p:sld>
</file>

<file path=ppt/slides/slide43.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PPL-PERSPECTIVE</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294966"/>
            <a:ext cx="3386614" cy="650929"/>
            <a:chOff x="0" y="0"/>
            <a:chExt cx="1014619" cy="195016"/>
          </a:xfrm>
        </p:grpSpPr>
        <p:sp>
          <p:nvSpPr>
            <p:cNvPr name="Freeform 11" id="11"/>
            <p:cNvSpPr/>
            <p:nvPr/>
          </p:nvSpPr>
          <p:spPr>
            <a:xfrm flipH="false" flipV="false" rot="0">
              <a:off x="0" y="0"/>
              <a:ext cx="1014619" cy="195016"/>
            </a:xfrm>
            <a:custGeom>
              <a:avLst/>
              <a:gdLst/>
              <a:ahLst/>
              <a:cxnLst/>
              <a:rect r="r" b="b" t="t" l="l"/>
              <a:pathLst>
                <a:path h="195016" w="1014619">
                  <a:moveTo>
                    <a:pt x="97508" y="0"/>
                  </a:moveTo>
                  <a:lnTo>
                    <a:pt x="917110" y="0"/>
                  </a:lnTo>
                  <a:cubicBezTo>
                    <a:pt x="970963" y="0"/>
                    <a:pt x="1014619" y="43656"/>
                    <a:pt x="1014619" y="97508"/>
                  </a:cubicBezTo>
                  <a:lnTo>
                    <a:pt x="1014619" y="97508"/>
                  </a:lnTo>
                  <a:cubicBezTo>
                    <a:pt x="1014619" y="123369"/>
                    <a:pt x="1004345" y="148170"/>
                    <a:pt x="986059" y="166457"/>
                  </a:cubicBezTo>
                  <a:cubicBezTo>
                    <a:pt x="967773" y="184743"/>
                    <a:pt x="942971" y="195016"/>
                    <a:pt x="917110" y="195016"/>
                  </a:cubicBezTo>
                  <a:lnTo>
                    <a:pt x="97508" y="195016"/>
                  </a:lnTo>
                  <a:cubicBezTo>
                    <a:pt x="71647" y="195016"/>
                    <a:pt x="46846" y="184743"/>
                    <a:pt x="28559" y="166457"/>
                  </a:cubicBezTo>
                  <a:cubicBezTo>
                    <a:pt x="10273" y="148170"/>
                    <a:pt x="0" y="123369"/>
                    <a:pt x="0" y="97508"/>
                  </a:cubicBezTo>
                  <a:lnTo>
                    <a:pt x="0" y="97508"/>
                  </a:lnTo>
                  <a:cubicBezTo>
                    <a:pt x="0" y="71647"/>
                    <a:pt x="10273" y="46846"/>
                    <a:pt x="28559" y="28559"/>
                  </a:cubicBezTo>
                  <a:cubicBezTo>
                    <a:pt x="46846" y="10273"/>
                    <a:pt x="71647" y="0"/>
                    <a:pt x="97508"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014619" cy="175966"/>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40005"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SYNTAX</a:t>
            </a:r>
          </a:p>
        </p:txBody>
      </p:sp>
      <p:grpSp>
        <p:nvGrpSpPr>
          <p:cNvPr name="Group 14" id="14"/>
          <p:cNvGrpSpPr/>
          <p:nvPr/>
        </p:nvGrpSpPr>
        <p:grpSpPr>
          <a:xfrm rot="0">
            <a:off x="214267" y="3444004"/>
            <a:ext cx="6749484" cy="1875051"/>
            <a:chOff x="0" y="0"/>
            <a:chExt cx="1777642" cy="493841"/>
          </a:xfrm>
        </p:grpSpPr>
        <p:sp>
          <p:nvSpPr>
            <p:cNvPr name="Freeform 15" id="15"/>
            <p:cNvSpPr/>
            <p:nvPr/>
          </p:nvSpPr>
          <p:spPr>
            <a:xfrm flipH="false" flipV="false" rot="0">
              <a:off x="0" y="0"/>
              <a:ext cx="1777642" cy="493841"/>
            </a:xfrm>
            <a:custGeom>
              <a:avLst/>
              <a:gdLst/>
              <a:ahLst/>
              <a:cxnLst/>
              <a:rect r="r" b="b" t="t" l="l"/>
              <a:pathLst>
                <a:path h="493841" w="1777642">
                  <a:moveTo>
                    <a:pt x="58499" y="0"/>
                  </a:moveTo>
                  <a:lnTo>
                    <a:pt x="1719143" y="0"/>
                  </a:lnTo>
                  <a:cubicBezTo>
                    <a:pt x="1734658" y="0"/>
                    <a:pt x="1749537" y="6163"/>
                    <a:pt x="1760508" y="17134"/>
                  </a:cubicBezTo>
                  <a:cubicBezTo>
                    <a:pt x="1771479" y="28105"/>
                    <a:pt x="1777642" y="42984"/>
                    <a:pt x="1777642" y="58499"/>
                  </a:cubicBezTo>
                  <a:lnTo>
                    <a:pt x="1777642" y="435342"/>
                  </a:lnTo>
                  <a:cubicBezTo>
                    <a:pt x="1777642" y="450857"/>
                    <a:pt x="1771479" y="465736"/>
                    <a:pt x="1760508" y="476707"/>
                  </a:cubicBezTo>
                  <a:cubicBezTo>
                    <a:pt x="1749537" y="487677"/>
                    <a:pt x="1734658" y="493841"/>
                    <a:pt x="1719143" y="493841"/>
                  </a:cubicBezTo>
                  <a:lnTo>
                    <a:pt x="58499" y="493841"/>
                  </a:lnTo>
                  <a:cubicBezTo>
                    <a:pt x="42984" y="493841"/>
                    <a:pt x="28105" y="487677"/>
                    <a:pt x="17134" y="476707"/>
                  </a:cubicBezTo>
                  <a:cubicBezTo>
                    <a:pt x="6163" y="465736"/>
                    <a:pt x="0" y="450857"/>
                    <a:pt x="0" y="435342"/>
                  </a:cubicBezTo>
                  <a:lnTo>
                    <a:pt x="0" y="58499"/>
                  </a:lnTo>
                  <a:cubicBezTo>
                    <a:pt x="0" y="42984"/>
                    <a:pt x="6163" y="28105"/>
                    <a:pt x="17134" y="17134"/>
                  </a:cubicBezTo>
                  <a:cubicBezTo>
                    <a:pt x="28105" y="6163"/>
                    <a:pt x="42984" y="0"/>
                    <a:pt x="58499" y="0"/>
                  </a:cubicBezTo>
                  <a:close/>
                </a:path>
              </a:pathLst>
            </a:custGeom>
            <a:solidFill>
              <a:srgbClr val="FFFFFF"/>
            </a:solidFill>
          </p:spPr>
        </p:sp>
        <p:sp>
          <p:nvSpPr>
            <p:cNvPr name="TextBox 16" id="16"/>
            <p:cNvSpPr txBox="true"/>
            <p:nvPr/>
          </p:nvSpPr>
          <p:spPr>
            <a:xfrm>
              <a:off x="0" y="47625"/>
              <a:ext cx="1777642" cy="446216"/>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584766" y="3610885"/>
            <a:ext cx="5399017" cy="15871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ประกาศ ENUM เพื่อรวมกลุ่มของข้อมูลหลายแบบไว้ด้วยกันและใช้ไวยากรณ์ MATCH หรือ IF LET เพื่อทำการเช็คเงื่อนไขและดึงข้อมูลข้างในออกมาใช้งานในบรรทัดเดียวกันได้เลย</a:t>
            </a:r>
          </a:p>
        </p:txBody>
      </p:sp>
      <p:grpSp>
        <p:nvGrpSpPr>
          <p:cNvPr name="Group 18" id="18"/>
          <p:cNvGrpSpPr/>
          <p:nvPr/>
        </p:nvGrpSpPr>
        <p:grpSpPr>
          <a:xfrm rot="0">
            <a:off x="769943" y="5817165"/>
            <a:ext cx="3511231" cy="705449"/>
            <a:chOff x="0" y="0"/>
            <a:chExt cx="1051954" cy="211350"/>
          </a:xfrm>
        </p:grpSpPr>
        <p:sp>
          <p:nvSpPr>
            <p:cNvPr name="Freeform 19" id="19"/>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0" id="20"/>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173950" y="6028774"/>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SEMANTICS</a:t>
            </a:r>
          </a:p>
        </p:txBody>
      </p:sp>
      <p:grpSp>
        <p:nvGrpSpPr>
          <p:cNvPr name="Group 22" id="22"/>
          <p:cNvGrpSpPr/>
          <p:nvPr/>
        </p:nvGrpSpPr>
        <p:grpSpPr>
          <a:xfrm rot="0">
            <a:off x="214267" y="7265564"/>
            <a:ext cx="6749484" cy="1875051"/>
            <a:chOff x="0" y="0"/>
            <a:chExt cx="1777642" cy="493841"/>
          </a:xfrm>
        </p:grpSpPr>
        <p:sp>
          <p:nvSpPr>
            <p:cNvPr name="Freeform 23" id="23"/>
            <p:cNvSpPr/>
            <p:nvPr/>
          </p:nvSpPr>
          <p:spPr>
            <a:xfrm flipH="false" flipV="false" rot="0">
              <a:off x="0" y="0"/>
              <a:ext cx="1777642" cy="493841"/>
            </a:xfrm>
            <a:custGeom>
              <a:avLst/>
              <a:gdLst/>
              <a:ahLst/>
              <a:cxnLst/>
              <a:rect r="r" b="b" t="t" l="l"/>
              <a:pathLst>
                <a:path h="493841" w="1777642">
                  <a:moveTo>
                    <a:pt x="58499" y="0"/>
                  </a:moveTo>
                  <a:lnTo>
                    <a:pt x="1719143" y="0"/>
                  </a:lnTo>
                  <a:cubicBezTo>
                    <a:pt x="1734658" y="0"/>
                    <a:pt x="1749537" y="6163"/>
                    <a:pt x="1760508" y="17134"/>
                  </a:cubicBezTo>
                  <a:cubicBezTo>
                    <a:pt x="1771479" y="28105"/>
                    <a:pt x="1777642" y="42984"/>
                    <a:pt x="1777642" y="58499"/>
                  </a:cubicBezTo>
                  <a:lnTo>
                    <a:pt x="1777642" y="435342"/>
                  </a:lnTo>
                  <a:cubicBezTo>
                    <a:pt x="1777642" y="450857"/>
                    <a:pt x="1771479" y="465736"/>
                    <a:pt x="1760508" y="476707"/>
                  </a:cubicBezTo>
                  <a:cubicBezTo>
                    <a:pt x="1749537" y="487677"/>
                    <a:pt x="1734658" y="493841"/>
                    <a:pt x="1719143" y="493841"/>
                  </a:cubicBezTo>
                  <a:lnTo>
                    <a:pt x="58499" y="493841"/>
                  </a:lnTo>
                  <a:cubicBezTo>
                    <a:pt x="42984" y="493841"/>
                    <a:pt x="28105" y="487677"/>
                    <a:pt x="17134" y="476707"/>
                  </a:cubicBezTo>
                  <a:cubicBezTo>
                    <a:pt x="6163" y="465736"/>
                    <a:pt x="0" y="450857"/>
                    <a:pt x="0" y="435342"/>
                  </a:cubicBezTo>
                  <a:lnTo>
                    <a:pt x="0" y="58499"/>
                  </a:lnTo>
                  <a:cubicBezTo>
                    <a:pt x="0" y="42984"/>
                    <a:pt x="6163" y="28105"/>
                    <a:pt x="17134" y="17134"/>
                  </a:cubicBezTo>
                  <a:cubicBezTo>
                    <a:pt x="28105" y="6163"/>
                    <a:pt x="42984" y="0"/>
                    <a:pt x="58499" y="0"/>
                  </a:cubicBezTo>
                  <a:close/>
                </a:path>
              </a:pathLst>
            </a:custGeom>
            <a:solidFill>
              <a:srgbClr val="FFFFFF"/>
            </a:solidFill>
          </p:spPr>
        </p:sp>
        <p:sp>
          <p:nvSpPr>
            <p:cNvPr name="TextBox 24" id="24"/>
            <p:cNvSpPr txBox="true"/>
            <p:nvPr/>
          </p:nvSpPr>
          <p:spPr>
            <a:xfrm>
              <a:off x="0" y="47625"/>
              <a:ext cx="1777642" cy="446216"/>
            </a:xfrm>
            <a:prstGeom prst="rect">
              <a:avLst/>
            </a:prstGeom>
          </p:spPr>
          <p:txBody>
            <a:bodyPr anchor="ctr" rtlCol="false" tIns="50800" lIns="50800" bIns="50800" rIns="50800"/>
            <a:lstStyle/>
            <a:p>
              <a:pPr algn="ctr">
                <a:lnSpc>
                  <a:spcPts val="2486"/>
                </a:lnSpc>
              </a:pPr>
            </a:p>
          </p:txBody>
        </p:sp>
      </p:grpSp>
      <p:sp>
        <p:nvSpPr>
          <p:cNvPr name="TextBox 25" id="25"/>
          <p:cNvSpPr txBox="true"/>
          <p:nvPr/>
        </p:nvSpPr>
        <p:spPr>
          <a:xfrm rot="0">
            <a:off x="584766" y="7351289"/>
            <a:ext cx="5399017" cy="15871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ของ RUST แต่ละตัว สามารถผูกข้อมูลต่างชนิดกันไว้ข้างในได้ และตัว MATCH ใน RUST มีพฤติกรรมเป็น EXPRESSION คือสามารถประมวลผลแล้วคืนค่า ออกมาใส่ตัวแปรต่อได้ทันที</a:t>
            </a:r>
          </a:p>
        </p:txBody>
      </p:sp>
      <p:grpSp>
        <p:nvGrpSpPr>
          <p:cNvPr name="Group 26" id="26"/>
          <p:cNvGrpSpPr/>
          <p:nvPr/>
        </p:nvGrpSpPr>
        <p:grpSpPr>
          <a:xfrm rot="0">
            <a:off x="9144000" y="2294966"/>
            <a:ext cx="3511231" cy="705449"/>
            <a:chOff x="0" y="0"/>
            <a:chExt cx="1051954" cy="211350"/>
          </a:xfrm>
        </p:grpSpPr>
        <p:sp>
          <p:nvSpPr>
            <p:cNvPr name="Freeform 27" id="27"/>
            <p:cNvSpPr/>
            <p:nvPr/>
          </p:nvSpPr>
          <p:spPr>
            <a:xfrm flipH="false" flipV="false" rot="0">
              <a:off x="0" y="0"/>
              <a:ext cx="1051954" cy="211350"/>
            </a:xfrm>
            <a:custGeom>
              <a:avLst/>
              <a:gdLst/>
              <a:ahLst/>
              <a:cxnLst/>
              <a:rect r="r" b="b" t="t" l="l"/>
              <a:pathLst>
                <a:path h="211350" w="1051954">
                  <a:moveTo>
                    <a:pt x="105675" y="0"/>
                  </a:moveTo>
                  <a:lnTo>
                    <a:pt x="946279" y="0"/>
                  </a:lnTo>
                  <a:cubicBezTo>
                    <a:pt x="1004641" y="0"/>
                    <a:pt x="1051954" y="47312"/>
                    <a:pt x="1051954" y="105675"/>
                  </a:cubicBezTo>
                  <a:lnTo>
                    <a:pt x="1051954" y="105675"/>
                  </a:lnTo>
                  <a:cubicBezTo>
                    <a:pt x="1051954" y="164038"/>
                    <a:pt x="1004641" y="211350"/>
                    <a:pt x="946279" y="211350"/>
                  </a:cubicBezTo>
                  <a:lnTo>
                    <a:pt x="105675" y="211350"/>
                  </a:lnTo>
                  <a:cubicBezTo>
                    <a:pt x="47312" y="211350"/>
                    <a:pt x="0" y="164038"/>
                    <a:pt x="0" y="105675"/>
                  </a:cubicBezTo>
                  <a:lnTo>
                    <a:pt x="0" y="105675"/>
                  </a:lnTo>
                  <a:cubicBezTo>
                    <a:pt x="0" y="47312"/>
                    <a:pt x="47312" y="0"/>
                    <a:pt x="105675" y="0"/>
                  </a:cubicBezTo>
                  <a:close/>
                </a:path>
              </a:pathLst>
            </a:custGeom>
            <a:solidFill>
              <a:srgbClr val="FFE88B"/>
            </a:solidFill>
            <a:ln w="38100" cap="rnd">
              <a:solidFill>
                <a:srgbClr val="FFC153"/>
              </a:solidFill>
              <a:prstDash val="solid"/>
              <a:round/>
            </a:ln>
          </p:spPr>
        </p:sp>
        <p:sp>
          <p:nvSpPr>
            <p:cNvPr name="TextBox 28" id="28"/>
            <p:cNvSpPr txBox="true"/>
            <p:nvPr/>
          </p:nvSpPr>
          <p:spPr>
            <a:xfrm>
              <a:off x="0" y="19050"/>
              <a:ext cx="1051954" cy="192300"/>
            </a:xfrm>
            <a:prstGeom prst="rect">
              <a:avLst/>
            </a:prstGeom>
          </p:spPr>
          <p:txBody>
            <a:bodyPr anchor="ctr" rtlCol="false" tIns="50800" lIns="50800" bIns="50800" rIns="50800"/>
            <a:lstStyle/>
            <a:p>
              <a:pPr algn="ctr">
                <a:lnSpc>
                  <a:spcPts val="2694"/>
                </a:lnSpc>
              </a:pPr>
            </a:p>
          </p:txBody>
        </p:sp>
      </p:grpSp>
      <p:sp>
        <p:nvSpPr>
          <p:cNvPr name="TextBox 29" id="29"/>
          <p:cNvSpPr txBox="true"/>
          <p:nvPr/>
        </p:nvSpPr>
        <p:spPr>
          <a:xfrm rot="0">
            <a:off x="8200107" y="247931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TYPE SYSTEM</a:t>
            </a:r>
          </a:p>
        </p:txBody>
      </p:sp>
      <p:grpSp>
        <p:nvGrpSpPr>
          <p:cNvPr name="Group 30" id="30"/>
          <p:cNvGrpSpPr/>
          <p:nvPr/>
        </p:nvGrpSpPr>
        <p:grpSpPr>
          <a:xfrm rot="0">
            <a:off x="8719447" y="3150429"/>
            <a:ext cx="6749484" cy="4153235"/>
            <a:chOff x="0" y="0"/>
            <a:chExt cx="1777642" cy="1093856"/>
          </a:xfrm>
        </p:grpSpPr>
        <p:sp>
          <p:nvSpPr>
            <p:cNvPr name="Freeform 31" id="31"/>
            <p:cNvSpPr/>
            <p:nvPr/>
          </p:nvSpPr>
          <p:spPr>
            <a:xfrm flipH="false" flipV="false" rot="0">
              <a:off x="0" y="0"/>
              <a:ext cx="1777642" cy="1093856"/>
            </a:xfrm>
            <a:custGeom>
              <a:avLst/>
              <a:gdLst/>
              <a:ahLst/>
              <a:cxnLst/>
              <a:rect r="r" b="b" t="t" l="l"/>
              <a:pathLst>
                <a:path h="1093856" w="1777642">
                  <a:moveTo>
                    <a:pt x="58499" y="0"/>
                  </a:moveTo>
                  <a:lnTo>
                    <a:pt x="1719143" y="0"/>
                  </a:lnTo>
                  <a:cubicBezTo>
                    <a:pt x="1734658" y="0"/>
                    <a:pt x="1749537" y="6163"/>
                    <a:pt x="1760508" y="17134"/>
                  </a:cubicBezTo>
                  <a:cubicBezTo>
                    <a:pt x="1771479" y="28105"/>
                    <a:pt x="1777642" y="42984"/>
                    <a:pt x="1777642" y="58499"/>
                  </a:cubicBezTo>
                  <a:lnTo>
                    <a:pt x="1777642" y="1035357"/>
                  </a:lnTo>
                  <a:cubicBezTo>
                    <a:pt x="1777642" y="1050872"/>
                    <a:pt x="1771479" y="1065751"/>
                    <a:pt x="1760508" y="1076722"/>
                  </a:cubicBezTo>
                  <a:cubicBezTo>
                    <a:pt x="1749537" y="1087693"/>
                    <a:pt x="1734658" y="1093856"/>
                    <a:pt x="1719143" y="1093856"/>
                  </a:cubicBezTo>
                  <a:lnTo>
                    <a:pt x="58499" y="1093856"/>
                  </a:lnTo>
                  <a:cubicBezTo>
                    <a:pt x="42984" y="1093856"/>
                    <a:pt x="28105" y="1087693"/>
                    <a:pt x="17134" y="1076722"/>
                  </a:cubicBezTo>
                  <a:cubicBezTo>
                    <a:pt x="6163" y="1065751"/>
                    <a:pt x="0" y="1050872"/>
                    <a:pt x="0" y="1035357"/>
                  </a:cubicBezTo>
                  <a:lnTo>
                    <a:pt x="0" y="58499"/>
                  </a:lnTo>
                  <a:cubicBezTo>
                    <a:pt x="0" y="42984"/>
                    <a:pt x="6163" y="28105"/>
                    <a:pt x="17134" y="17134"/>
                  </a:cubicBezTo>
                  <a:cubicBezTo>
                    <a:pt x="28105" y="6163"/>
                    <a:pt x="42984" y="0"/>
                    <a:pt x="58499" y="0"/>
                  </a:cubicBezTo>
                  <a:close/>
                </a:path>
              </a:pathLst>
            </a:custGeom>
            <a:solidFill>
              <a:srgbClr val="FFFFFF"/>
            </a:solidFill>
          </p:spPr>
        </p:sp>
        <p:sp>
          <p:nvSpPr>
            <p:cNvPr name="TextBox 32" id="32"/>
            <p:cNvSpPr txBox="true"/>
            <p:nvPr/>
          </p:nvSpPr>
          <p:spPr>
            <a:xfrm>
              <a:off x="0" y="47625"/>
              <a:ext cx="1777642" cy="1046231"/>
            </a:xfrm>
            <a:prstGeom prst="rect">
              <a:avLst/>
            </a:prstGeom>
          </p:spPr>
          <p:txBody>
            <a:bodyPr anchor="ctr" rtlCol="false" tIns="50800" lIns="50800" bIns="50800" rIns="50800"/>
            <a:lstStyle/>
            <a:p>
              <a:pPr algn="ctr">
                <a:lnSpc>
                  <a:spcPts val="2486"/>
                </a:lnSpc>
              </a:pPr>
            </a:p>
          </p:txBody>
        </p:sp>
      </p:grpSp>
      <p:sp>
        <p:nvSpPr>
          <p:cNvPr name="TextBox 33" id="33"/>
          <p:cNvSpPr txBox="true"/>
          <p:nvPr/>
        </p:nvSpPr>
        <p:spPr>
          <a:xfrm rot="0">
            <a:off x="9394680" y="3328137"/>
            <a:ext cx="5399017" cy="37874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ENUM ถูกจัดเป็น SUM TYPE คือชนิดข้อมูลที่เลือกได้แค่อย่างเดียวจากตัวเลือกที่มี ต่างจาก STRUCT ที่เป็น PRODUCT TYPE คือ รวมทุกอย่างพร้อมกัน เมื่อนำ ENUM มาผสมกับ GENERICS (การใส่ชนิดข้อมูลแบบยืดหยุ่นได้ เช่นใน OPTION&lt;T&gt; และ RESULT&lt;T, E&gt;) ตัวคอมไพเลอร์จะบังคับให้เราต้องจัดการทั้งกรณี "สำเร็จ" และ "ผิดพลาด" ตั้งแต่ตอนเขียนโค้ด นอกจากนี้ RUST นำ OPTION&lt;T&gt; มาแทนที่การใช้ NULL ทำให้ไม่มีปัญหา ERROR ที่มาจากการเรียกใช้ค่าที่ไม่มีอยู่จริง </a:t>
            </a:r>
          </a:p>
        </p:txBody>
      </p:sp>
      <p:sp>
        <p:nvSpPr>
          <p:cNvPr name="TextBox 34" id="34"/>
          <p:cNvSpPr txBox="true"/>
          <p:nvPr/>
        </p:nvSpPr>
        <p:spPr>
          <a:xfrm rot="0">
            <a:off x="256362" y="9578504"/>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Tree>
  </p:cSld>
  <p:clrMapOvr>
    <a:masterClrMapping/>
  </p:clrMapOvr>
  <p:transition spd="fast">
    <p:fade/>
  </p:transition>
</p:sld>
</file>

<file path=ppt/slides/slide44.xml><?xml version="1.0" encoding="utf-8"?>
<p:sld xmlns:p="http://schemas.openxmlformats.org/presentationml/2006/main" xmlns:a="http://schemas.openxmlformats.org/drawingml/2006/main">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55186" y="805836"/>
            <a:ext cx="4340746" cy="743013"/>
            <a:chOff x="0" y="0"/>
            <a:chExt cx="1300473" cy="222604"/>
          </a:xfrm>
        </p:grpSpPr>
        <p:sp>
          <p:nvSpPr>
            <p:cNvPr name="Freeform 3" id="3"/>
            <p:cNvSpPr/>
            <p:nvPr/>
          </p:nvSpPr>
          <p:spPr>
            <a:xfrm flipH="false" flipV="false" rot="0">
              <a:off x="0" y="0"/>
              <a:ext cx="1300473" cy="222604"/>
            </a:xfrm>
            <a:custGeom>
              <a:avLst/>
              <a:gdLst/>
              <a:ahLst/>
              <a:cxnLst/>
              <a:rect r="r" b="b" t="t" l="l"/>
              <a:pathLst>
                <a:path h="222604" w="1300473">
                  <a:moveTo>
                    <a:pt x="111302" y="0"/>
                  </a:moveTo>
                  <a:lnTo>
                    <a:pt x="1189171" y="0"/>
                  </a:lnTo>
                  <a:cubicBezTo>
                    <a:pt x="1218690" y="0"/>
                    <a:pt x="1247001" y="11726"/>
                    <a:pt x="1267874" y="32600"/>
                  </a:cubicBezTo>
                  <a:cubicBezTo>
                    <a:pt x="1288747" y="53473"/>
                    <a:pt x="1300473" y="81783"/>
                    <a:pt x="1300473" y="111302"/>
                  </a:cubicBezTo>
                  <a:lnTo>
                    <a:pt x="1300473" y="111302"/>
                  </a:lnTo>
                  <a:cubicBezTo>
                    <a:pt x="1300473" y="140821"/>
                    <a:pt x="1288747" y="169132"/>
                    <a:pt x="1267874" y="190005"/>
                  </a:cubicBezTo>
                  <a:cubicBezTo>
                    <a:pt x="1247001" y="210878"/>
                    <a:pt x="1218690" y="222604"/>
                    <a:pt x="1189171" y="222604"/>
                  </a:cubicBezTo>
                  <a:lnTo>
                    <a:pt x="111302" y="222604"/>
                  </a:lnTo>
                  <a:cubicBezTo>
                    <a:pt x="81783" y="222604"/>
                    <a:pt x="53473" y="210878"/>
                    <a:pt x="32600" y="190005"/>
                  </a:cubicBezTo>
                  <a:cubicBezTo>
                    <a:pt x="11726" y="169132"/>
                    <a:pt x="0" y="140821"/>
                    <a:pt x="0" y="111302"/>
                  </a:cubicBezTo>
                  <a:lnTo>
                    <a:pt x="0" y="111302"/>
                  </a:lnTo>
                  <a:cubicBezTo>
                    <a:pt x="0" y="81783"/>
                    <a:pt x="11726" y="53473"/>
                    <a:pt x="32600" y="32600"/>
                  </a:cubicBezTo>
                  <a:cubicBezTo>
                    <a:pt x="53473" y="11726"/>
                    <a:pt x="81783" y="0"/>
                    <a:pt x="1113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00473" cy="203554"/>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584766" y="332735"/>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8" id="8"/>
          <p:cNvSpPr txBox="true"/>
          <p:nvPr/>
        </p:nvSpPr>
        <p:spPr>
          <a:xfrm rot="0">
            <a:off x="-173950" y="1014230"/>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PPL-PERSPECTIVE</a:t>
            </a:r>
          </a:p>
        </p:txBody>
      </p:sp>
      <p:sp>
        <p:nvSpPr>
          <p:cNvPr name="TextBox 9" id="9"/>
          <p:cNvSpPr txBox="true"/>
          <p:nvPr/>
        </p:nvSpPr>
        <p:spPr>
          <a:xfrm rot="0">
            <a:off x="-173950" y="361310"/>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3 - MEMBER 3</a:t>
            </a:r>
          </a:p>
        </p:txBody>
      </p:sp>
      <p:grpSp>
        <p:nvGrpSpPr>
          <p:cNvPr name="Group 10" id="10"/>
          <p:cNvGrpSpPr/>
          <p:nvPr/>
        </p:nvGrpSpPr>
        <p:grpSpPr>
          <a:xfrm rot="0">
            <a:off x="766196" y="2329729"/>
            <a:ext cx="4392815" cy="895728"/>
            <a:chOff x="0" y="0"/>
            <a:chExt cx="1316073" cy="268357"/>
          </a:xfrm>
        </p:grpSpPr>
        <p:sp>
          <p:nvSpPr>
            <p:cNvPr name="Freeform 11" id="11"/>
            <p:cNvSpPr/>
            <p:nvPr/>
          </p:nvSpPr>
          <p:spPr>
            <a:xfrm flipH="false" flipV="false" rot="0">
              <a:off x="0" y="0"/>
              <a:ext cx="1316073" cy="268357"/>
            </a:xfrm>
            <a:custGeom>
              <a:avLst/>
              <a:gdLst/>
              <a:ahLst/>
              <a:cxnLst/>
              <a:rect r="r" b="b" t="t" l="l"/>
              <a:pathLst>
                <a:path h="268357" w="1316073">
                  <a:moveTo>
                    <a:pt x="134179" y="0"/>
                  </a:moveTo>
                  <a:lnTo>
                    <a:pt x="1181895" y="0"/>
                  </a:lnTo>
                  <a:cubicBezTo>
                    <a:pt x="1217481" y="0"/>
                    <a:pt x="1251610" y="14137"/>
                    <a:pt x="1276773" y="39300"/>
                  </a:cubicBezTo>
                  <a:cubicBezTo>
                    <a:pt x="1301937" y="64463"/>
                    <a:pt x="1316073" y="98592"/>
                    <a:pt x="1316073" y="134179"/>
                  </a:cubicBezTo>
                  <a:lnTo>
                    <a:pt x="1316073" y="134179"/>
                  </a:lnTo>
                  <a:cubicBezTo>
                    <a:pt x="1316073" y="208283"/>
                    <a:pt x="1255999" y="268357"/>
                    <a:pt x="1181895" y="268357"/>
                  </a:cubicBezTo>
                  <a:lnTo>
                    <a:pt x="134179" y="268357"/>
                  </a:lnTo>
                  <a:cubicBezTo>
                    <a:pt x="60074" y="268357"/>
                    <a:pt x="0" y="208283"/>
                    <a:pt x="0" y="134179"/>
                  </a:cubicBezTo>
                  <a:lnTo>
                    <a:pt x="0" y="134179"/>
                  </a:lnTo>
                  <a:cubicBezTo>
                    <a:pt x="0" y="60074"/>
                    <a:pt x="60074" y="0"/>
                    <a:pt x="134179" y="0"/>
                  </a:cubicBezTo>
                  <a:close/>
                </a:path>
              </a:pathLst>
            </a:custGeom>
            <a:solidFill>
              <a:srgbClr val="FFE88B"/>
            </a:solidFill>
            <a:ln w="38100" cap="rnd">
              <a:solidFill>
                <a:srgbClr val="FFC153"/>
              </a:solidFill>
              <a:prstDash val="solid"/>
              <a:round/>
            </a:ln>
          </p:spPr>
        </p:sp>
        <p:sp>
          <p:nvSpPr>
            <p:cNvPr name="TextBox 12" id="12"/>
            <p:cNvSpPr txBox="true"/>
            <p:nvPr/>
          </p:nvSpPr>
          <p:spPr>
            <a:xfrm>
              <a:off x="0" y="19050"/>
              <a:ext cx="1316073" cy="249307"/>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263096" y="2479315"/>
            <a:ext cx="5399017" cy="644181"/>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MEMORY AND RESOURCE MANAGEMENT </a:t>
            </a:r>
          </a:p>
        </p:txBody>
      </p:sp>
      <p:grpSp>
        <p:nvGrpSpPr>
          <p:cNvPr name="Group 14" id="14"/>
          <p:cNvGrpSpPr/>
          <p:nvPr/>
        </p:nvGrpSpPr>
        <p:grpSpPr>
          <a:xfrm rot="0">
            <a:off x="200340" y="3396907"/>
            <a:ext cx="6350215" cy="1898538"/>
            <a:chOff x="0" y="0"/>
            <a:chExt cx="1672485" cy="500026"/>
          </a:xfrm>
        </p:grpSpPr>
        <p:sp>
          <p:nvSpPr>
            <p:cNvPr name="Freeform 15" id="15"/>
            <p:cNvSpPr/>
            <p:nvPr/>
          </p:nvSpPr>
          <p:spPr>
            <a:xfrm flipH="false" flipV="false" rot="0">
              <a:off x="0" y="0"/>
              <a:ext cx="1672485" cy="500026"/>
            </a:xfrm>
            <a:custGeom>
              <a:avLst/>
              <a:gdLst/>
              <a:ahLst/>
              <a:cxnLst/>
              <a:rect r="r" b="b" t="t" l="l"/>
              <a:pathLst>
                <a:path h="500026" w="1672485">
                  <a:moveTo>
                    <a:pt x="62177" y="0"/>
                  </a:moveTo>
                  <a:lnTo>
                    <a:pt x="1610307" y="0"/>
                  </a:lnTo>
                  <a:cubicBezTo>
                    <a:pt x="1626798" y="0"/>
                    <a:pt x="1642613" y="6551"/>
                    <a:pt x="1654273" y="18211"/>
                  </a:cubicBezTo>
                  <a:cubicBezTo>
                    <a:pt x="1665934" y="29872"/>
                    <a:pt x="1672485" y="45687"/>
                    <a:pt x="1672485" y="62177"/>
                  </a:cubicBezTo>
                  <a:lnTo>
                    <a:pt x="1672485" y="437849"/>
                  </a:lnTo>
                  <a:cubicBezTo>
                    <a:pt x="1672485" y="472189"/>
                    <a:pt x="1644647" y="500026"/>
                    <a:pt x="1610307" y="500026"/>
                  </a:cubicBezTo>
                  <a:lnTo>
                    <a:pt x="62177" y="500026"/>
                  </a:lnTo>
                  <a:cubicBezTo>
                    <a:pt x="45687" y="500026"/>
                    <a:pt x="29872" y="493476"/>
                    <a:pt x="18211" y="481815"/>
                  </a:cubicBezTo>
                  <a:cubicBezTo>
                    <a:pt x="6551" y="470155"/>
                    <a:pt x="0" y="454340"/>
                    <a:pt x="0" y="437849"/>
                  </a:cubicBezTo>
                  <a:lnTo>
                    <a:pt x="0" y="62177"/>
                  </a:lnTo>
                  <a:cubicBezTo>
                    <a:pt x="0" y="45687"/>
                    <a:pt x="6551" y="29872"/>
                    <a:pt x="18211" y="18211"/>
                  </a:cubicBezTo>
                  <a:cubicBezTo>
                    <a:pt x="29872" y="6551"/>
                    <a:pt x="45687" y="0"/>
                    <a:pt x="62177" y="0"/>
                  </a:cubicBezTo>
                  <a:close/>
                </a:path>
              </a:pathLst>
            </a:custGeom>
            <a:solidFill>
              <a:srgbClr val="FFFFFF"/>
            </a:solidFill>
          </p:spPr>
        </p:sp>
        <p:sp>
          <p:nvSpPr>
            <p:cNvPr name="TextBox 16" id="16"/>
            <p:cNvSpPr txBox="true"/>
            <p:nvPr/>
          </p:nvSpPr>
          <p:spPr>
            <a:xfrm>
              <a:off x="0" y="47625"/>
              <a:ext cx="1672485" cy="452401"/>
            </a:xfrm>
            <a:prstGeom prst="rect">
              <a:avLst/>
            </a:prstGeom>
          </p:spPr>
          <p:txBody>
            <a:bodyPr anchor="ctr" rtlCol="false" tIns="50800" lIns="50800" bIns="50800" rIns="50800"/>
            <a:lstStyle/>
            <a:p>
              <a:pPr algn="ctr">
                <a:lnSpc>
                  <a:spcPts val="2486"/>
                </a:lnSpc>
              </a:pPr>
            </a:p>
          </p:txBody>
        </p:sp>
      </p:grpSp>
      <p:sp>
        <p:nvSpPr>
          <p:cNvPr name="TextBox 17" id="17"/>
          <p:cNvSpPr txBox="true"/>
          <p:nvPr/>
        </p:nvSpPr>
        <p:spPr>
          <a:xfrm rot="0">
            <a:off x="584766" y="3610885"/>
            <a:ext cx="5399017" cy="12728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เบื้องหลังการทำงาน ENUM จะถูกจัดเก็บแบบ TAGGED UNION ใน MEMORY โดยจองพื้นที่เท่ากับขนาดของตัวที่ใหญ่ที่สุด บวกกับ TAG เล็กๆ ไว้ระบุประเภท</a:t>
            </a:r>
          </a:p>
        </p:txBody>
      </p:sp>
      <p:grpSp>
        <p:nvGrpSpPr>
          <p:cNvPr name="Group 18" id="18"/>
          <p:cNvGrpSpPr/>
          <p:nvPr/>
        </p:nvGrpSpPr>
        <p:grpSpPr>
          <a:xfrm rot="0">
            <a:off x="263096" y="5817165"/>
            <a:ext cx="5720687" cy="813801"/>
            <a:chOff x="0" y="0"/>
            <a:chExt cx="1713899" cy="243812"/>
          </a:xfrm>
        </p:grpSpPr>
        <p:sp>
          <p:nvSpPr>
            <p:cNvPr name="Freeform 19" id="19"/>
            <p:cNvSpPr/>
            <p:nvPr/>
          </p:nvSpPr>
          <p:spPr>
            <a:xfrm flipH="false" flipV="false" rot="0">
              <a:off x="0" y="0"/>
              <a:ext cx="1713899" cy="243812"/>
            </a:xfrm>
            <a:custGeom>
              <a:avLst/>
              <a:gdLst/>
              <a:ahLst/>
              <a:cxnLst/>
              <a:rect r="r" b="b" t="t" l="l"/>
              <a:pathLst>
                <a:path h="243812" w="1713899">
                  <a:moveTo>
                    <a:pt x="121906" y="0"/>
                  </a:moveTo>
                  <a:lnTo>
                    <a:pt x="1591993" y="0"/>
                  </a:lnTo>
                  <a:cubicBezTo>
                    <a:pt x="1624325" y="0"/>
                    <a:pt x="1655332" y="12844"/>
                    <a:pt x="1678194" y="35705"/>
                  </a:cubicBezTo>
                  <a:cubicBezTo>
                    <a:pt x="1701056" y="58567"/>
                    <a:pt x="1713899" y="89575"/>
                    <a:pt x="1713899" y="121906"/>
                  </a:cubicBezTo>
                  <a:lnTo>
                    <a:pt x="1713899" y="121906"/>
                  </a:lnTo>
                  <a:cubicBezTo>
                    <a:pt x="1713899" y="154238"/>
                    <a:pt x="1701056" y="185245"/>
                    <a:pt x="1678194" y="208107"/>
                  </a:cubicBezTo>
                  <a:cubicBezTo>
                    <a:pt x="1655332" y="230969"/>
                    <a:pt x="1624325" y="243812"/>
                    <a:pt x="1591993" y="243812"/>
                  </a:cubicBezTo>
                  <a:lnTo>
                    <a:pt x="121906" y="243812"/>
                  </a:lnTo>
                  <a:cubicBezTo>
                    <a:pt x="89575" y="243812"/>
                    <a:pt x="58567" y="230969"/>
                    <a:pt x="35705" y="208107"/>
                  </a:cubicBezTo>
                  <a:cubicBezTo>
                    <a:pt x="12844" y="185245"/>
                    <a:pt x="0" y="154238"/>
                    <a:pt x="0" y="121906"/>
                  </a:cubicBezTo>
                  <a:lnTo>
                    <a:pt x="0" y="121906"/>
                  </a:lnTo>
                  <a:cubicBezTo>
                    <a:pt x="0" y="89575"/>
                    <a:pt x="12844" y="58567"/>
                    <a:pt x="35705" y="35705"/>
                  </a:cubicBezTo>
                  <a:cubicBezTo>
                    <a:pt x="58567" y="12844"/>
                    <a:pt x="89575" y="0"/>
                    <a:pt x="121906" y="0"/>
                  </a:cubicBezTo>
                  <a:close/>
                </a:path>
              </a:pathLst>
            </a:custGeom>
            <a:solidFill>
              <a:srgbClr val="FFE88B"/>
            </a:solidFill>
            <a:ln w="38100" cap="rnd">
              <a:solidFill>
                <a:srgbClr val="FFC153"/>
              </a:solidFill>
              <a:prstDash val="solid"/>
              <a:round/>
            </a:ln>
          </p:spPr>
        </p:sp>
        <p:sp>
          <p:nvSpPr>
            <p:cNvPr name="TextBox 20" id="20"/>
            <p:cNvSpPr txBox="true"/>
            <p:nvPr/>
          </p:nvSpPr>
          <p:spPr>
            <a:xfrm>
              <a:off x="0" y="19050"/>
              <a:ext cx="1713899" cy="224762"/>
            </a:xfrm>
            <a:prstGeom prst="rect">
              <a:avLst/>
            </a:prstGeom>
          </p:spPr>
          <p:txBody>
            <a:bodyPr anchor="ctr" rtlCol="false" tIns="50800" lIns="50800" bIns="50800" rIns="50800"/>
            <a:lstStyle/>
            <a:p>
              <a:pPr algn="ctr">
                <a:lnSpc>
                  <a:spcPts val="2694"/>
                </a:lnSpc>
              </a:pPr>
            </a:p>
          </p:txBody>
        </p:sp>
      </p:grpSp>
      <p:sp>
        <p:nvSpPr>
          <p:cNvPr name="TextBox 21" id="21"/>
          <p:cNvSpPr txBox="true"/>
          <p:nvPr/>
        </p:nvSpPr>
        <p:spPr>
          <a:xfrm rot="0">
            <a:off x="355186" y="6028774"/>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ABSTRACTION/OTHER PPL CONCEPT </a:t>
            </a:r>
          </a:p>
        </p:txBody>
      </p:sp>
      <p:grpSp>
        <p:nvGrpSpPr>
          <p:cNvPr name="Group 22" id="22"/>
          <p:cNvGrpSpPr/>
          <p:nvPr/>
        </p:nvGrpSpPr>
        <p:grpSpPr>
          <a:xfrm rot="0">
            <a:off x="200340" y="6773842"/>
            <a:ext cx="6350215" cy="3350072"/>
            <a:chOff x="0" y="0"/>
            <a:chExt cx="1672485" cy="882323"/>
          </a:xfrm>
        </p:grpSpPr>
        <p:sp>
          <p:nvSpPr>
            <p:cNvPr name="Freeform 23" id="23"/>
            <p:cNvSpPr/>
            <p:nvPr/>
          </p:nvSpPr>
          <p:spPr>
            <a:xfrm flipH="false" flipV="false" rot="0">
              <a:off x="0" y="0"/>
              <a:ext cx="1672485" cy="882323"/>
            </a:xfrm>
            <a:custGeom>
              <a:avLst/>
              <a:gdLst/>
              <a:ahLst/>
              <a:cxnLst/>
              <a:rect r="r" b="b" t="t" l="l"/>
              <a:pathLst>
                <a:path h="882323" w="1672485">
                  <a:moveTo>
                    <a:pt x="62177" y="0"/>
                  </a:moveTo>
                  <a:lnTo>
                    <a:pt x="1610307" y="0"/>
                  </a:lnTo>
                  <a:cubicBezTo>
                    <a:pt x="1626798" y="0"/>
                    <a:pt x="1642613" y="6551"/>
                    <a:pt x="1654273" y="18211"/>
                  </a:cubicBezTo>
                  <a:cubicBezTo>
                    <a:pt x="1665934" y="29872"/>
                    <a:pt x="1672485" y="45687"/>
                    <a:pt x="1672485" y="62177"/>
                  </a:cubicBezTo>
                  <a:lnTo>
                    <a:pt x="1672485" y="820146"/>
                  </a:lnTo>
                  <a:cubicBezTo>
                    <a:pt x="1672485" y="854486"/>
                    <a:pt x="1644647" y="882323"/>
                    <a:pt x="1610307" y="882323"/>
                  </a:cubicBezTo>
                  <a:lnTo>
                    <a:pt x="62177" y="882323"/>
                  </a:lnTo>
                  <a:cubicBezTo>
                    <a:pt x="45687" y="882323"/>
                    <a:pt x="29872" y="875773"/>
                    <a:pt x="18211" y="864112"/>
                  </a:cubicBezTo>
                  <a:cubicBezTo>
                    <a:pt x="6551" y="852452"/>
                    <a:pt x="0" y="836637"/>
                    <a:pt x="0" y="820146"/>
                  </a:cubicBezTo>
                  <a:lnTo>
                    <a:pt x="0" y="62177"/>
                  </a:lnTo>
                  <a:cubicBezTo>
                    <a:pt x="0" y="45687"/>
                    <a:pt x="6551" y="29872"/>
                    <a:pt x="18211" y="18211"/>
                  </a:cubicBezTo>
                  <a:cubicBezTo>
                    <a:pt x="29872" y="6551"/>
                    <a:pt x="45687" y="0"/>
                    <a:pt x="62177" y="0"/>
                  </a:cubicBezTo>
                  <a:close/>
                </a:path>
              </a:pathLst>
            </a:custGeom>
            <a:solidFill>
              <a:srgbClr val="FFFFFF"/>
            </a:solidFill>
          </p:spPr>
        </p:sp>
        <p:sp>
          <p:nvSpPr>
            <p:cNvPr name="TextBox 24" id="24"/>
            <p:cNvSpPr txBox="true"/>
            <p:nvPr/>
          </p:nvSpPr>
          <p:spPr>
            <a:xfrm>
              <a:off x="0" y="47625"/>
              <a:ext cx="1672485" cy="834698"/>
            </a:xfrm>
            <a:prstGeom prst="rect">
              <a:avLst/>
            </a:prstGeom>
          </p:spPr>
          <p:txBody>
            <a:bodyPr anchor="ctr" rtlCol="false" tIns="50800" lIns="50800" bIns="50800" rIns="50800"/>
            <a:lstStyle/>
            <a:p>
              <a:pPr algn="ctr">
                <a:lnSpc>
                  <a:spcPts val="2486"/>
                </a:lnSpc>
              </a:pPr>
            </a:p>
          </p:txBody>
        </p:sp>
      </p:grpSp>
      <p:sp>
        <p:nvSpPr>
          <p:cNvPr name="TextBox 25" id="25"/>
          <p:cNvSpPr txBox="true"/>
          <p:nvPr/>
        </p:nvSpPr>
        <p:spPr>
          <a:xfrm rot="0">
            <a:off x="584766" y="6954817"/>
            <a:ext cx="5399017" cy="2844456"/>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ABSTRACTION: ช่วยให้นักพัฒนาสามารถจำลองโดเมนของปัญหาที่ซับซ้อนได้อย่างเป็นรูปธรรมผ่านภาษาที่มีระดับการABSTRACTION สูง แต่ยังคงควบคุมฮาร์ดแวร์ได้ใกล้ชิด,  ENUM และ PATTERN MATCHING คือแนวคิด ALGEBRAIC DATA TYPE (ADT) ซึ่งดึงเอาข้อดีของภาษาฝั่ง FUNCTIONAL เข้ามาผสมผสานกับภาษาเชิงระบบ </a:t>
            </a:r>
          </a:p>
        </p:txBody>
      </p:sp>
      <p:grpSp>
        <p:nvGrpSpPr>
          <p:cNvPr name="Group 26" id="26"/>
          <p:cNvGrpSpPr/>
          <p:nvPr/>
        </p:nvGrpSpPr>
        <p:grpSpPr>
          <a:xfrm rot="0">
            <a:off x="9144000" y="2431690"/>
            <a:ext cx="5720687" cy="813801"/>
            <a:chOff x="0" y="0"/>
            <a:chExt cx="1713899" cy="243812"/>
          </a:xfrm>
        </p:grpSpPr>
        <p:sp>
          <p:nvSpPr>
            <p:cNvPr name="Freeform 27" id="27"/>
            <p:cNvSpPr/>
            <p:nvPr/>
          </p:nvSpPr>
          <p:spPr>
            <a:xfrm flipH="false" flipV="false" rot="0">
              <a:off x="0" y="0"/>
              <a:ext cx="1713899" cy="243812"/>
            </a:xfrm>
            <a:custGeom>
              <a:avLst/>
              <a:gdLst/>
              <a:ahLst/>
              <a:cxnLst/>
              <a:rect r="r" b="b" t="t" l="l"/>
              <a:pathLst>
                <a:path h="243812" w="1713899">
                  <a:moveTo>
                    <a:pt x="121906" y="0"/>
                  </a:moveTo>
                  <a:lnTo>
                    <a:pt x="1591993" y="0"/>
                  </a:lnTo>
                  <a:cubicBezTo>
                    <a:pt x="1624325" y="0"/>
                    <a:pt x="1655332" y="12844"/>
                    <a:pt x="1678194" y="35705"/>
                  </a:cubicBezTo>
                  <a:cubicBezTo>
                    <a:pt x="1701056" y="58567"/>
                    <a:pt x="1713899" y="89575"/>
                    <a:pt x="1713899" y="121906"/>
                  </a:cubicBezTo>
                  <a:lnTo>
                    <a:pt x="1713899" y="121906"/>
                  </a:lnTo>
                  <a:cubicBezTo>
                    <a:pt x="1713899" y="154238"/>
                    <a:pt x="1701056" y="185245"/>
                    <a:pt x="1678194" y="208107"/>
                  </a:cubicBezTo>
                  <a:cubicBezTo>
                    <a:pt x="1655332" y="230969"/>
                    <a:pt x="1624325" y="243812"/>
                    <a:pt x="1591993" y="243812"/>
                  </a:cubicBezTo>
                  <a:lnTo>
                    <a:pt x="121906" y="243812"/>
                  </a:lnTo>
                  <a:cubicBezTo>
                    <a:pt x="89575" y="243812"/>
                    <a:pt x="58567" y="230969"/>
                    <a:pt x="35705" y="208107"/>
                  </a:cubicBezTo>
                  <a:cubicBezTo>
                    <a:pt x="12844" y="185245"/>
                    <a:pt x="0" y="154238"/>
                    <a:pt x="0" y="121906"/>
                  </a:cubicBezTo>
                  <a:lnTo>
                    <a:pt x="0" y="121906"/>
                  </a:lnTo>
                  <a:cubicBezTo>
                    <a:pt x="0" y="89575"/>
                    <a:pt x="12844" y="58567"/>
                    <a:pt x="35705" y="35705"/>
                  </a:cubicBezTo>
                  <a:cubicBezTo>
                    <a:pt x="58567" y="12844"/>
                    <a:pt x="89575" y="0"/>
                    <a:pt x="121906" y="0"/>
                  </a:cubicBezTo>
                  <a:close/>
                </a:path>
              </a:pathLst>
            </a:custGeom>
            <a:solidFill>
              <a:srgbClr val="FFE88B"/>
            </a:solidFill>
            <a:ln w="38100" cap="rnd">
              <a:solidFill>
                <a:srgbClr val="FFC153"/>
              </a:solidFill>
              <a:prstDash val="solid"/>
              <a:round/>
            </a:ln>
          </p:spPr>
        </p:sp>
        <p:sp>
          <p:nvSpPr>
            <p:cNvPr name="TextBox 28" id="28"/>
            <p:cNvSpPr txBox="true"/>
            <p:nvPr/>
          </p:nvSpPr>
          <p:spPr>
            <a:xfrm>
              <a:off x="0" y="19050"/>
              <a:ext cx="1713899" cy="224762"/>
            </a:xfrm>
            <a:prstGeom prst="rect">
              <a:avLst/>
            </a:prstGeom>
          </p:spPr>
          <p:txBody>
            <a:bodyPr anchor="ctr" rtlCol="false" tIns="50800" lIns="50800" bIns="50800" rIns="50800"/>
            <a:lstStyle/>
            <a:p>
              <a:pPr algn="ctr">
                <a:lnSpc>
                  <a:spcPts val="2694"/>
                </a:lnSpc>
              </a:pPr>
            </a:p>
          </p:txBody>
        </p:sp>
      </p:grpSp>
      <p:sp>
        <p:nvSpPr>
          <p:cNvPr name="TextBox 29" id="29"/>
          <p:cNvSpPr txBox="true"/>
          <p:nvPr/>
        </p:nvSpPr>
        <p:spPr>
          <a:xfrm rot="0">
            <a:off x="9304835" y="2697475"/>
            <a:ext cx="5399017" cy="329856"/>
          </a:xfrm>
          <a:prstGeom prst="rect">
            <a:avLst/>
          </a:prstGeom>
        </p:spPr>
        <p:txBody>
          <a:bodyPr anchor="t" rtlCol="false" tIns="0" lIns="0" bIns="0" rIns="0">
            <a:spAutoFit/>
          </a:bodyPr>
          <a:lstStyle/>
          <a:p>
            <a:pPr algn="ctr" marL="0" indent="0" lvl="0">
              <a:lnSpc>
                <a:spcPts val="2486"/>
              </a:lnSpc>
              <a:spcBef>
                <a:spcPct val="0"/>
              </a:spcBef>
            </a:pPr>
            <a:r>
              <a:rPr lang="en-US" sz="2486">
                <a:solidFill>
                  <a:srgbClr val="000000"/>
                </a:solidFill>
                <a:latin typeface="Itim"/>
                <a:ea typeface="Itim"/>
                <a:cs typeface="Itim"/>
                <a:sym typeface="Itim"/>
              </a:rPr>
              <a:t>WHY RUST?</a:t>
            </a:r>
          </a:p>
        </p:txBody>
      </p:sp>
      <p:grpSp>
        <p:nvGrpSpPr>
          <p:cNvPr name="Group 30" id="30"/>
          <p:cNvGrpSpPr/>
          <p:nvPr/>
        </p:nvGrpSpPr>
        <p:grpSpPr>
          <a:xfrm rot="0">
            <a:off x="8728896" y="3754249"/>
            <a:ext cx="6550895" cy="3417537"/>
            <a:chOff x="0" y="0"/>
            <a:chExt cx="1725339" cy="900092"/>
          </a:xfrm>
        </p:grpSpPr>
        <p:sp>
          <p:nvSpPr>
            <p:cNvPr name="Freeform 31" id="31"/>
            <p:cNvSpPr/>
            <p:nvPr/>
          </p:nvSpPr>
          <p:spPr>
            <a:xfrm flipH="false" flipV="false" rot="0">
              <a:off x="0" y="0"/>
              <a:ext cx="1725338" cy="900092"/>
            </a:xfrm>
            <a:custGeom>
              <a:avLst/>
              <a:gdLst/>
              <a:ahLst/>
              <a:cxnLst/>
              <a:rect r="r" b="b" t="t" l="l"/>
              <a:pathLst>
                <a:path h="900092" w="1725338">
                  <a:moveTo>
                    <a:pt x="60272" y="0"/>
                  </a:moveTo>
                  <a:lnTo>
                    <a:pt x="1665066" y="0"/>
                  </a:lnTo>
                  <a:cubicBezTo>
                    <a:pt x="1698354" y="0"/>
                    <a:pt x="1725338" y="26985"/>
                    <a:pt x="1725338" y="60272"/>
                  </a:cubicBezTo>
                  <a:lnTo>
                    <a:pt x="1725338" y="839820"/>
                  </a:lnTo>
                  <a:cubicBezTo>
                    <a:pt x="1725338" y="873107"/>
                    <a:pt x="1698354" y="900092"/>
                    <a:pt x="1665066" y="900092"/>
                  </a:cubicBezTo>
                  <a:lnTo>
                    <a:pt x="60272" y="900092"/>
                  </a:lnTo>
                  <a:cubicBezTo>
                    <a:pt x="26985" y="900092"/>
                    <a:pt x="0" y="873107"/>
                    <a:pt x="0" y="839820"/>
                  </a:cubicBezTo>
                  <a:lnTo>
                    <a:pt x="0" y="60272"/>
                  </a:lnTo>
                  <a:cubicBezTo>
                    <a:pt x="0" y="26985"/>
                    <a:pt x="26985" y="0"/>
                    <a:pt x="60272" y="0"/>
                  </a:cubicBezTo>
                  <a:close/>
                </a:path>
              </a:pathLst>
            </a:custGeom>
            <a:solidFill>
              <a:srgbClr val="FFFFFF"/>
            </a:solidFill>
          </p:spPr>
        </p:sp>
        <p:sp>
          <p:nvSpPr>
            <p:cNvPr name="TextBox 32" id="32"/>
            <p:cNvSpPr txBox="true"/>
            <p:nvPr/>
          </p:nvSpPr>
          <p:spPr>
            <a:xfrm>
              <a:off x="0" y="47625"/>
              <a:ext cx="1725339" cy="852467"/>
            </a:xfrm>
            <a:prstGeom prst="rect">
              <a:avLst/>
            </a:prstGeom>
          </p:spPr>
          <p:txBody>
            <a:bodyPr anchor="ctr" rtlCol="false" tIns="50800" lIns="50800" bIns="50800" rIns="50800"/>
            <a:lstStyle/>
            <a:p>
              <a:pPr algn="ctr">
                <a:lnSpc>
                  <a:spcPts val="2486"/>
                </a:lnSpc>
              </a:pPr>
            </a:p>
          </p:txBody>
        </p:sp>
      </p:grpSp>
      <p:sp>
        <p:nvSpPr>
          <p:cNvPr name="TextBox 33" id="33"/>
          <p:cNvSpPr txBox="true"/>
          <p:nvPr/>
        </p:nvSpPr>
        <p:spPr>
          <a:xfrm rot="0">
            <a:off x="9304835" y="4113950"/>
            <a:ext cx="5399017" cy="2530131"/>
          </a:xfrm>
          <a:prstGeom prst="rect">
            <a:avLst/>
          </a:prstGeom>
        </p:spPr>
        <p:txBody>
          <a:bodyPr anchor="t" rtlCol="false" tIns="0" lIns="0" bIns="0" rIns="0">
            <a:spAutoFit/>
          </a:bodyPr>
          <a:lstStyle/>
          <a:p>
            <a:pPr algn="l" marL="0" indent="0" lvl="0">
              <a:lnSpc>
                <a:spcPts val="2486"/>
              </a:lnSpc>
              <a:spcBef>
                <a:spcPct val="0"/>
              </a:spcBef>
            </a:pPr>
            <a:r>
              <a:rPr lang="en-US" sz="2486">
                <a:solidFill>
                  <a:srgbClr val="000000"/>
                </a:solidFill>
                <a:latin typeface="Itim"/>
                <a:ea typeface="Itim"/>
                <a:cs typeface="Itim"/>
                <a:sym typeface="Itim"/>
              </a:rPr>
              <a:t>เขียนง่ายเหมือนภาษา HIGH-LEVEL แต่คอมไพล์ออกมาเป็น MACHINE CODE ที่ทำงานเร็วพอๆกับ C/C++ โดยไม่มีระบบ GARBAGE COLLECTION มาดึงเครื่องให้ช้าลง อีกทั้งยังตรวจจับข้อผิดพลาดได้ตั้งแต่ COMPILE TIME เป็นส่วนใหญ่ ทำให้โค้ดปลอดภัยและมีประสิทธิภาพสูง โดยไม่มี RUNTIME OVERHEAD เพิ่มขึ้น</a:t>
            </a:r>
          </a:p>
        </p:txBody>
      </p:sp>
      <p:sp>
        <p:nvSpPr>
          <p:cNvPr name="TextBox 34" id="34"/>
          <p:cNvSpPr txBox="true"/>
          <p:nvPr/>
        </p:nvSpPr>
        <p:spPr>
          <a:xfrm rot="0">
            <a:off x="10449471" y="9827847"/>
            <a:ext cx="7580227" cy="257466"/>
          </a:xfrm>
          <a:prstGeom prst="rect">
            <a:avLst/>
          </a:prstGeom>
        </p:spPr>
        <p:txBody>
          <a:bodyPr anchor="t" rtlCol="false" tIns="0" lIns="0" bIns="0" rIns="0">
            <a:spAutoFit/>
          </a:bodyPr>
          <a:lstStyle/>
          <a:p>
            <a:pPr algn="l" marL="0" indent="0" lvl="0">
              <a:lnSpc>
                <a:spcPts val="1886"/>
              </a:lnSpc>
              <a:spcBef>
                <a:spcPct val="0"/>
              </a:spcBef>
            </a:pPr>
            <a:r>
              <a:rPr lang="en-US" sz="1886">
                <a:solidFill>
                  <a:srgbClr val="000000"/>
                </a:solidFill>
                <a:latin typeface="Itim"/>
                <a:ea typeface="Itim"/>
                <a:cs typeface="Itim"/>
                <a:sym typeface="Itim"/>
              </a:rPr>
              <a:t>517321 PRINCIPLES OF PROGRAMMING LANGUAGES – RUST TUTORIAL</a:t>
            </a:r>
          </a:p>
        </p:txBody>
      </p:sp>
    </p:spTree>
  </p:cSld>
  <p:clrMapOvr>
    <a:masterClrMapping/>
  </p:clrMapOvr>
  <p:transition spd="fast">
    <p:fade/>
  </p:transition>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FF9DD"/>
        </a:solidFill>
      </p:bgPr>
    </p:bg>
    <p:spTree>
      <p:nvGrpSpPr>
        <p:cNvPr id="1" name=""/>
        <p:cNvGrpSpPr/>
        <p:nvPr/>
      </p:nvGrpSpPr>
      <p:grpSpPr>
        <a:xfrm>
          <a:off x="0" y="0"/>
          <a:ext cx="0" cy="0"/>
          <a:chOff x="0" y="0"/>
          <a:chExt cx="0" cy="0"/>
        </a:xfrm>
      </p:grpSpPr>
      <p:grpSp>
        <p:nvGrpSpPr>
          <p:cNvPr name="Group 2" id="2"/>
          <p:cNvGrpSpPr/>
          <p:nvPr/>
        </p:nvGrpSpPr>
        <p:grpSpPr>
          <a:xfrm rot="0">
            <a:off x="1423656" y="1500458"/>
            <a:ext cx="5549704" cy="1767183"/>
            <a:chOff x="0" y="0"/>
            <a:chExt cx="1350569" cy="430059"/>
          </a:xfrm>
        </p:grpSpPr>
        <p:sp>
          <p:nvSpPr>
            <p:cNvPr name="Freeform 3" id="3"/>
            <p:cNvSpPr/>
            <p:nvPr/>
          </p:nvSpPr>
          <p:spPr>
            <a:xfrm flipH="false" flipV="false" rot="0">
              <a:off x="0" y="0"/>
              <a:ext cx="1350569" cy="430059"/>
            </a:xfrm>
            <a:custGeom>
              <a:avLst/>
              <a:gdLst/>
              <a:ahLst/>
              <a:cxnLst/>
              <a:rect r="r" b="b" t="t" l="l"/>
              <a:pathLst>
                <a:path h="430059" w="1350569">
                  <a:moveTo>
                    <a:pt x="139502" y="0"/>
                  </a:moveTo>
                  <a:lnTo>
                    <a:pt x="1211067" y="0"/>
                  </a:lnTo>
                  <a:cubicBezTo>
                    <a:pt x="1288112" y="0"/>
                    <a:pt x="1350569" y="62457"/>
                    <a:pt x="1350569" y="139502"/>
                  </a:cubicBezTo>
                  <a:lnTo>
                    <a:pt x="1350569" y="290558"/>
                  </a:lnTo>
                  <a:cubicBezTo>
                    <a:pt x="1350569" y="367602"/>
                    <a:pt x="1288112" y="430059"/>
                    <a:pt x="1211067" y="430059"/>
                  </a:cubicBezTo>
                  <a:lnTo>
                    <a:pt x="139502" y="430059"/>
                  </a:lnTo>
                  <a:cubicBezTo>
                    <a:pt x="62457" y="430059"/>
                    <a:pt x="0" y="367602"/>
                    <a:pt x="0" y="290558"/>
                  </a:cubicBezTo>
                  <a:lnTo>
                    <a:pt x="0" y="139502"/>
                  </a:lnTo>
                  <a:cubicBezTo>
                    <a:pt x="0" y="62457"/>
                    <a:pt x="62457" y="0"/>
                    <a:pt x="139502" y="0"/>
                  </a:cubicBezTo>
                  <a:close/>
                </a:path>
              </a:pathLst>
            </a:custGeom>
            <a:solidFill>
              <a:srgbClr val="F6BD3B"/>
            </a:solidFill>
            <a:ln w="38100" cap="rnd">
              <a:solidFill>
                <a:srgbClr val="000000"/>
              </a:solidFill>
              <a:prstDash val="solid"/>
              <a:round/>
            </a:ln>
          </p:spPr>
        </p:sp>
        <p:sp>
          <p:nvSpPr>
            <p:cNvPr name="TextBox 4" id="4"/>
            <p:cNvSpPr txBox="true"/>
            <p:nvPr/>
          </p:nvSpPr>
          <p:spPr>
            <a:xfrm>
              <a:off x="0" y="19050"/>
              <a:ext cx="1350569" cy="411009"/>
            </a:xfrm>
            <a:prstGeom prst="rect">
              <a:avLst/>
            </a:prstGeom>
          </p:spPr>
          <p:txBody>
            <a:bodyPr anchor="ctr" rtlCol="false" tIns="50800" lIns="50800" bIns="50800" rIns="50800"/>
            <a:lstStyle/>
            <a:p>
              <a:pPr algn="ctr">
                <a:lnSpc>
                  <a:spcPts val="2694"/>
                </a:lnSpc>
              </a:pPr>
              <a:r>
                <a:rPr lang="en-US" b="true" sz="2449">
                  <a:solidFill>
                    <a:srgbClr val="000000"/>
                  </a:solidFill>
                  <a:latin typeface="Aristotelica Pro Condensed Bold"/>
                  <a:ea typeface="Aristotelica Pro Condensed Bold"/>
                  <a:cs typeface="Aristotelica Pro Condensed Bold"/>
                  <a:sym typeface="Aristotelica Pro Condensed Bold"/>
                </a:rPr>
                <a:t> </a:t>
              </a:r>
            </a:p>
          </p:txBody>
        </p:sp>
      </p:grpSp>
      <p:sp>
        <p:nvSpPr>
          <p:cNvPr name="Freeform 5" id="5"/>
          <p:cNvSpPr/>
          <p:nvPr/>
        </p:nvSpPr>
        <p:spPr>
          <a:xfrm flipH="false" flipV="false" rot="0">
            <a:off x="12599823" y="449484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73377" y="3739270"/>
            <a:ext cx="15141247" cy="4720524"/>
          </a:xfrm>
          <a:prstGeom prst="rect">
            <a:avLst/>
          </a:prstGeom>
        </p:spPr>
        <p:txBody>
          <a:bodyPr anchor="t" rtlCol="false" tIns="0" lIns="0" bIns="0" rIns="0">
            <a:spAutoFit/>
          </a:bodyPr>
          <a:lstStyle/>
          <a:p>
            <a:pPr algn="l">
              <a:lnSpc>
                <a:spcPts val="12488"/>
              </a:lnSpc>
            </a:pPr>
            <a:r>
              <a:rPr lang="en-US" sz="9756">
                <a:solidFill>
                  <a:srgbClr val="E74724"/>
                </a:solidFill>
                <a:latin typeface="ไอติม"/>
                <a:ea typeface="ไอติม"/>
                <a:cs typeface="ไอติม"/>
                <a:sym typeface="ไอติม"/>
              </a:rPr>
              <a:t>COMMON MISTAKES</a:t>
            </a:r>
          </a:p>
          <a:p>
            <a:pPr algn="l">
              <a:lnSpc>
                <a:spcPts val="12488"/>
              </a:lnSpc>
            </a:pPr>
            <a:r>
              <a:rPr lang="en-US" sz="9756">
                <a:solidFill>
                  <a:srgbClr val="E74724"/>
                </a:solidFill>
                <a:latin typeface="ไอติม"/>
                <a:ea typeface="ไอติม"/>
                <a:cs typeface="ไอติม"/>
                <a:sym typeface="ไอติม"/>
              </a:rPr>
              <a:t>&amp; CHALLENGE</a:t>
            </a:r>
          </a:p>
          <a:p>
            <a:pPr algn="l" marL="0" indent="0" lvl="0">
              <a:lnSpc>
                <a:spcPts val="12488"/>
              </a:lnSpc>
            </a:pPr>
          </a:p>
        </p:txBody>
      </p:sp>
      <p:sp>
        <p:nvSpPr>
          <p:cNvPr name="TextBox 7" id="7"/>
          <p:cNvSpPr txBox="true"/>
          <p:nvPr/>
        </p:nvSpPr>
        <p:spPr>
          <a:xfrm rot="0">
            <a:off x="2436206" y="1911115"/>
            <a:ext cx="3524603" cy="1098270"/>
          </a:xfrm>
          <a:prstGeom prst="rect">
            <a:avLst/>
          </a:prstGeom>
        </p:spPr>
        <p:txBody>
          <a:bodyPr anchor="t" rtlCol="false" tIns="0" lIns="0" bIns="0" rIns="0">
            <a:spAutoFit/>
          </a:bodyPr>
          <a:lstStyle/>
          <a:p>
            <a:pPr algn="l" marL="0" indent="0" lvl="0">
              <a:lnSpc>
                <a:spcPts val="8225"/>
              </a:lnSpc>
              <a:spcBef>
                <a:spcPct val="0"/>
              </a:spcBef>
            </a:pPr>
            <a:r>
              <a:rPr lang="en-US" sz="8225">
                <a:solidFill>
                  <a:srgbClr val="000000"/>
                </a:solidFill>
                <a:latin typeface="ไอติม"/>
                <a:ea typeface="ไอติม"/>
                <a:cs typeface="ไอติม"/>
                <a:sym typeface="ไอติม"/>
              </a:rPr>
              <a:t>PART 4</a:t>
            </a:r>
          </a:p>
        </p:txBody>
      </p:sp>
    </p:spTree>
  </p:cSld>
  <p:clrMapOvr>
    <a:masterClrMapping/>
  </p:clrMapOvr>
  <p:transition spd="fast">
    <p:fade/>
  </p:transition>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644999" y="7270423"/>
            <a:ext cx="16998003" cy="2099899"/>
            <a:chOff x="0" y="0"/>
            <a:chExt cx="4476840" cy="553060"/>
          </a:xfrm>
        </p:grpSpPr>
        <p:sp>
          <p:nvSpPr>
            <p:cNvPr name="Freeform 3" id="3"/>
            <p:cNvSpPr/>
            <p:nvPr/>
          </p:nvSpPr>
          <p:spPr>
            <a:xfrm flipH="false" flipV="false" rot="0">
              <a:off x="0" y="0"/>
              <a:ext cx="4476840" cy="553060"/>
            </a:xfrm>
            <a:custGeom>
              <a:avLst/>
              <a:gdLst/>
              <a:ahLst/>
              <a:cxnLst/>
              <a:rect r="r" b="b" t="t" l="l"/>
              <a:pathLst>
                <a:path h="553060" w="4476840">
                  <a:moveTo>
                    <a:pt x="0" y="0"/>
                  </a:moveTo>
                  <a:lnTo>
                    <a:pt x="4476840" y="0"/>
                  </a:lnTo>
                  <a:lnTo>
                    <a:pt x="4476840" y="553060"/>
                  </a:lnTo>
                  <a:lnTo>
                    <a:pt x="0" y="553060"/>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4476840" cy="524485"/>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569741"/>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575879" y="1014387"/>
            <a:ext cx="5719602" cy="1018034"/>
            <a:chOff x="0" y="0"/>
            <a:chExt cx="1506397" cy="268124"/>
          </a:xfrm>
        </p:grpSpPr>
        <p:sp>
          <p:nvSpPr>
            <p:cNvPr name="Freeform 9" id="9"/>
            <p:cNvSpPr/>
            <p:nvPr/>
          </p:nvSpPr>
          <p:spPr>
            <a:xfrm flipH="false" flipV="false" rot="0">
              <a:off x="0" y="0"/>
              <a:ext cx="1506397" cy="268124"/>
            </a:xfrm>
            <a:custGeom>
              <a:avLst/>
              <a:gdLst/>
              <a:ahLst/>
              <a:cxnLst/>
              <a:rect r="r" b="b" t="t" l="l"/>
              <a:pathLst>
                <a:path h="268124" w="1506397">
                  <a:moveTo>
                    <a:pt x="134062" y="0"/>
                  </a:moveTo>
                  <a:lnTo>
                    <a:pt x="1372335" y="0"/>
                  </a:lnTo>
                  <a:cubicBezTo>
                    <a:pt x="1446376" y="0"/>
                    <a:pt x="1506397" y="60022"/>
                    <a:pt x="1506397" y="134062"/>
                  </a:cubicBezTo>
                  <a:lnTo>
                    <a:pt x="1506397" y="134062"/>
                  </a:lnTo>
                  <a:cubicBezTo>
                    <a:pt x="1506397" y="208103"/>
                    <a:pt x="1446376" y="268124"/>
                    <a:pt x="1372335" y="268124"/>
                  </a:cubicBezTo>
                  <a:lnTo>
                    <a:pt x="134062" y="268124"/>
                  </a:lnTo>
                  <a:cubicBezTo>
                    <a:pt x="60022" y="268124"/>
                    <a:pt x="0" y="208103"/>
                    <a:pt x="0" y="134062"/>
                  </a:cubicBezTo>
                  <a:lnTo>
                    <a:pt x="0" y="134062"/>
                  </a:lnTo>
                  <a:cubicBezTo>
                    <a:pt x="0" y="60022"/>
                    <a:pt x="60022" y="0"/>
                    <a:pt x="134062" y="0"/>
                  </a:cubicBezTo>
                  <a:close/>
                </a:path>
              </a:pathLst>
            </a:custGeom>
            <a:solidFill>
              <a:srgbClr val="F6BD3B"/>
            </a:solidFill>
            <a:ln w="38100" cap="rnd">
              <a:solidFill>
                <a:srgbClr val="000000"/>
              </a:solidFill>
              <a:prstDash val="solid"/>
              <a:round/>
            </a:ln>
          </p:spPr>
        </p:sp>
        <p:sp>
          <p:nvSpPr>
            <p:cNvPr name="TextBox 10" id="10"/>
            <p:cNvSpPr txBox="true"/>
            <p:nvPr/>
          </p:nvSpPr>
          <p:spPr>
            <a:xfrm>
              <a:off x="0" y="19050"/>
              <a:ext cx="1506397" cy="249074"/>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6217285" y="1276238"/>
            <a:ext cx="9742901" cy="1106805"/>
          </a:xfrm>
          <a:prstGeom prst="rect">
            <a:avLst/>
          </a:prstGeom>
        </p:spPr>
        <p:txBody>
          <a:bodyPr anchor="t" rtlCol="false" tIns="0" lIns="0" bIns="0" rIns="0">
            <a:spAutoFit/>
          </a:bodyPr>
          <a:lstStyle/>
          <a:p>
            <a:pPr algn="l">
              <a:lnSpc>
                <a:spcPts val="4200"/>
              </a:lnSpc>
            </a:pPr>
            <a:r>
              <a:rPr lang="en-US" sz="4200">
                <a:solidFill>
                  <a:srgbClr val="990941"/>
                </a:solidFill>
                <a:latin typeface="ไอติม"/>
                <a:ea typeface="ไอติม"/>
                <a:cs typeface="ไอติม"/>
                <a:sym typeface="ไอติม"/>
              </a:rPr>
              <a:t>  </a:t>
            </a:r>
            <a:r>
              <a:rPr lang="en-US" sz="4200">
                <a:solidFill>
                  <a:srgbClr val="990941"/>
                </a:solidFill>
                <a:latin typeface="ไอติม"/>
                <a:ea typeface="ไอติม"/>
                <a:cs typeface="ไอติม"/>
                <a:sym typeface="ไอติม"/>
              </a:rPr>
              <a:t>Mistake 1 - Non exhaustive match</a:t>
            </a:r>
          </a:p>
          <a:p>
            <a:pPr algn="l" marL="0" indent="0" lvl="0">
              <a:lnSpc>
                <a:spcPts val="4200"/>
              </a:lnSpc>
              <a:spcBef>
                <a:spcPct val="0"/>
              </a:spcBef>
            </a:pPr>
          </a:p>
        </p:txBody>
      </p:sp>
      <p:grpSp>
        <p:nvGrpSpPr>
          <p:cNvPr name="Group 12" id="12"/>
          <p:cNvGrpSpPr/>
          <p:nvPr/>
        </p:nvGrpSpPr>
        <p:grpSpPr>
          <a:xfrm rot="0">
            <a:off x="1106974" y="2200802"/>
            <a:ext cx="16152326" cy="4649888"/>
            <a:chOff x="0" y="0"/>
            <a:chExt cx="21536434" cy="6199850"/>
          </a:xfrm>
        </p:grpSpPr>
        <p:sp>
          <p:nvSpPr>
            <p:cNvPr name="Freeform 13" id="13"/>
            <p:cNvSpPr/>
            <p:nvPr/>
          </p:nvSpPr>
          <p:spPr>
            <a:xfrm flipH="false" flipV="false" rot="0">
              <a:off x="0" y="802631"/>
              <a:ext cx="9554098" cy="5397219"/>
            </a:xfrm>
            <a:custGeom>
              <a:avLst/>
              <a:gdLst/>
              <a:ahLst/>
              <a:cxnLst/>
              <a:rect r="r" b="b" t="t" l="l"/>
              <a:pathLst>
                <a:path h="5397219" w="9554098">
                  <a:moveTo>
                    <a:pt x="0" y="0"/>
                  </a:moveTo>
                  <a:lnTo>
                    <a:pt x="9554098" y="0"/>
                  </a:lnTo>
                  <a:lnTo>
                    <a:pt x="9554098" y="5397219"/>
                  </a:lnTo>
                  <a:lnTo>
                    <a:pt x="0" y="5397219"/>
                  </a:lnTo>
                  <a:lnTo>
                    <a:pt x="0" y="0"/>
                  </a:lnTo>
                  <a:close/>
                </a:path>
              </a:pathLst>
            </a:custGeom>
            <a:blipFill>
              <a:blip r:embed="rId2"/>
              <a:stretch>
                <a:fillRect l="0" t="0" r="0" b="-129671"/>
              </a:stretch>
            </a:blipFill>
          </p:spPr>
        </p:sp>
        <p:sp>
          <p:nvSpPr>
            <p:cNvPr name="Freeform 14" id="14"/>
            <p:cNvSpPr/>
            <p:nvPr/>
          </p:nvSpPr>
          <p:spPr>
            <a:xfrm flipH="false" flipV="false" rot="0">
              <a:off x="12362408" y="802631"/>
              <a:ext cx="9174026" cy="5397219"/>
            </a:xfrm>
            <a:custGeom>
              <a:avLst/>
              <a:gdLst/>
              <a:ahLst/>
              <a:cxnLst/>
              <a:rect r="r" b="b" t="t" l="l"/>
              <a:pathLst>
                <a:path h="5397219" w="9174026">
                  <a:moveTo>
                    <a:pt x="0" y="0"/>
                  </a:moveTo>
                  <a:lnTo>
                    <a:pt x="9174026" y="0"/>
                  </a:lnTo>
                  <a:lnTo>
                    <a:pt x="9174026" y="5397219"/>
                  </a:lnTo>
                  <a:lnTo>
                    <a:pt x="0" y="5397219"/>
                  </a:lnTo>
                  <a:lnTo>
                    <a:pt x="0" y="0"/>
                  </a:lnTo>
                  <a:close/>
                </a:path>
              </a:pathLst>
            </a:custGeom>
            <a:blipFill>
              <a:blip r:embed="rId2"/>
              <a:stretch>
                <a:fillRect l="0" t="-118741" r="0" b="-1793"/>
              </a:stretch>
            </a:blipFill>
          </p:spPr>
        </p:sp>
        <p:sp>
          <p:nvSpPr>
            <p:cNvPr name="TextBox 15" id="15"/>
            <p:cNvSpPr txBox="true"/>
            <p:nvPr/>
          </p:nvSpPr>
          <p:spPr>
            <a:xfrm rot="0">
              <a:off x="0" y="-19050"/>
              <a:ext cx="3322861" cy="505025"/>
            </a:xfrm>
            <a:prstGeom prst="rect">
              <a:avLst/>
            </a:prstGeom>
          </p:spPr>
          <p:txBody>
            <a:bodyPr anchor="t" rtlCol="false" tIns="0" lIns="0" bIns="0" rIns="0">
              <a:spAutoFit/>
            </a:bodyPr>
            <a:lstStyle/>
            <a:p>
              <a:pPr algn="l">
                <a:lnSpc>
                  <a:spcPts val="2694"/>
                </a:lnSpc>
                <a:spcBef>
                  <a:spcPct val="0"/>
                </a:spcBef>
              </a:pPr>
              <a:r>
                <a:rPr lang="en-US" sz="2449">
                  <a:solidFill>
                    <a:srgbClr val="000000"/>
                  </a:solidFill>
                  <a:latin typeface="Amiko TH"/>
                  <a:ea typeface="Amiko TH"/>
                  <a:cs typeface="Amiko TH"/>
                  <a:sym typeface="Amiko TH"/>
                </a:rPr>
                <a:t>❌ INCORRECT</a:t>
              </a:r>
            </a:p>
          </p:txBody>
        </p:sp>
        <p:sp>
          <p:nvSpPr>
            <p:cNvPr name="TextBox 16" id="16"/>
            <p:cNvSpPr txBox="true"/>
            <p:nvPr/>
          </p:nvSpPr>
          <p:spPr>
            <a:xfrm rot="0">
              <a:off x="12362408" y="-19050"/>
              <a:ext cx="3019925" cy="505025"/>
            </a:xfrm>
            <a:prstGeom prst="rect">
              <a:avLst/>
            </a:prstGeom>
          </p:spPr>
          <p:txBody>
            <a:bodyPr anchor="t" rtlCol="false" tIns="0" lIns="0" bIns="0" rIns="0">
              <a:spAutoFit/>
            </a:bodyPr>
            <a:lstStyle/>
            <a:p>
              <a:pPr algn="l">
                <a:lnSpc>
                  <a:spcPts val="2694"/>
                </a:lnSpc>
                <a:spcBef>
                  <a:spcPct val="0"/>
                </a:spcBef>
              </a:pPr>
              <a:r>
                <a:rPr lang="en-US" sz="2449">
                  <a:solidFill>
                    <a:srgbClr val="000000"/>
                  </a:solidFill>
                  <a:latin typeface="Amiko TH"/>
                  <a:ea typeface="Amiko TH"/>
                  <a:cs typeface="Amiko TH"/>
                  <a:sym typeface="Amiko TH"/>
                </a:rPr>
                <a:t>✅ CORRECT</a:t>
              </a:r>
            </a:p>
          </p:txBody>
        </p:sp>
      </p:grpSp>
      <p:sp>
        <p:nvSpPr>
          <p:cNvPr name="TextBox 17" id="17"/>
          <p:cNvSpPr txBox="true"/>
          <p:nvPr/>
        </p:nvSpPr>
        <p:spPr>
          <a:xfrm rot="0">
            <a:off x="1106974" y="7358347"/>
            <a:ext cx="16478275" cy="1914525"/>
          </a:xfrm>
          <a:prstGeom prst="rect">
            <a:avLst/>
          </a:prstGeom>
        </p:spPr>
        <p:txBody>
          <a:bodyPr anchor="t" rtlCol="false" tIns="0" lIns="0" bIns="0" rIns="0">
            <a:spAutoFit/>
          </a:bodyPr>
          <a:lstStyle/>
          <a:p>
            <a:pPr algn="l">
              <a:lnSpc>
                <a:spcPts val="4200"/>
              </a:lnSpc>
            </a:pPr>
            <a:r>
              <a:rPr lang="en-US" sz="3500">
                <a:solidFill>
                  <a:srgbClr val="990941"/>
                </a:solidFill>
                <a:latin typeface="Itim"/>
                <a:ea typeface="Itim"/>
                <a:cs typeface="Itim"/>
                <a:sym typeface="Itim"/>
              </a:rPr>
              <a:t>Why?</a:t>
            </a:r>
          </a:p>
          <a:p>
            <a:pPr algn="l" marL="0" indent="0" lvl="0">
              <a:lnSpc>
                <a:spcPts val="3600"/>
              </a:lnSpc>
              <a:spcBef>
                <a:spcPct val="0"/>
              </a:spcBef>
            </a:pPr>
            <a:r>
              <a:rPr lang="en-US" sz="3000">
                <a:solidFill>
                  <a:srgbClr val="000000"/>
                </a:solidFill>
                <a:latin typeface="Itim"/>
                <a:ea typeface="Itim"/>
                <a:cs typeface="Itim"/>
                <a:sym typeface="Itim"/>
              </a:rPr>
              <a:t>P</a:t>
            </a:r>
            <a:r>
              <a:rPr lang="en-US" sz="3000">
                <a:solidFill>
                  <a:srgbClr val="000000"/>
                </a:solidFill>
                <a:latin typeface="Itim"/>
                <a:ea typeface="Itim"/>
                <a:cs typeface="Itim"/>
                <a:sym typeface="Itim"/>
              </a:rPr>
              <a:t>ayment มี variants 3 อัน คือ Cash , CreditCard , PromptPay แต่ match จัดกา</a:t>
            </a:r>
            <a:r>
              <a:rPr lang="en-US" sz="3000" strike="noStrike" u="none">
                <a:solidFill>
                  <a:srgbClr val="000000"/>
                </a:solidFill>
                <a:latin typeface="Itim"/>
                <a:ea typeface="Itim"/>
                <a:cs typeface="Itim"/>
                <a:sym typeface="Itim"/>
              </a:rPr>
              <a:t>รเพียง Cash จึงทำให้เกิด error non-exhaustive เพราะ match ใน Rust ต้องครอบคลุมทุก variant ของ enum </a:t>
            </a:r>
          </a:p>
          <a:p>
            <a:pPr algn="l" marL="0" indent="0" lvl="0">
              <a:lnSpc>
                <a:spcPts val="3600"/>
              </a:lnSpc>
              <a:spcBef>
                <a:spcPct val="0"/>
              </a:spcBef>
            </a:pPr>
            <a:r>
              <a:rPr lang="en-US" sz="3000" strike="noStrike" u="none">
                <a:solidFill>
                  <a:srgbClr val="000000"/>
                </a:solidFill>
                <a:latin typeface="Itim"/>
                <a:ea typeface="Itim"/>
                <a:cs typeface="Itim"/>
                <a:sym typeface="Itim"/>
              </a:rPr>
              <a:t>ดังนั้นใน Correct Code จึงใช้ _ เพื่อครอบคลุมทุกกรณีที่เหลือให้แสดงผลออกมาเป็น "ชำระด้วยวิธีอื่น"</a:t>
            </a:r>
          </a:p>
        </p:txBody>
      </p:sp>
      <p:sp>
        <p:nvSpPr>
          <p:cNvPr name="TextBox 18" id="18"/>
          <p:cNvSpPr txBox="true"/>
          <p:nvPr/>
        </p:nvSpPr>
        <p:spPr>
          <a:xfrm rot="0">
            <a:off x="575879" y="1252076"/>
            <a:ext cx="5641406" cy="637907"/>
          </a:xfrm>
          <a:prstGeom prst="rect">
            <a:avLst/>
          </a:prstGeom>
        </p:spPr>
        <p:txBody>
          <a:bodyPr anchor="t" rtlCol="false" tIns="0" lIns="0" bIns="0" rIns="0">
            <a:spAutoFit/>
          </a:bodyPr>
          <a:lstStyle/>
          <a:p>
            <a:pPr algn="ctr" marL="0" indent="0" lvl="0">
              <a:lnSpc>
                <a:spcPts val="4864"/>
              </a:lnSpc>
              <a:spcBef>
                <a:spcPct val="0"/>
              </a:spcBef>
            </a:pPr>
            <a:r>
              <a:rPr lang="en-US" sz="4864">
                <a:solidFill>
                  <a:srgbClr val="000000"/>
                </a:solidFill>
                <a:latin typeface="ไอติม"/>
                <a:ea typeface="ไอติม"/>
                <a:cs typeface="ไอติม"/>
                <a:sym typeface="ไอติม"/>
              </a:rPr>
              <a:t>COMMON MISTAKE</a:t>
            </a:r>
          </a:p>
        </p:txBody>
      </p:sp>
      <p:sp>
        <p:nvSpPr>
          <p:cNvPr name="TextBox 19" id="19"/>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20" id="20"/>
          <p:cNvSpPr txBox="true"/>
          <p:nvPr/>
        </p:nvSpPr>
        <p:spPr>
          <a:xfrm rot="0">
            <a:off x="-173950" y="598316"/>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nvGrpSpPr>
          <p:cNvPr name="Group 21" id="21"/>
          <p:cNvGrpSpPr/>
          <p:nvPr/>
        </p:nvGrpSpPr>
        <p:grpSpPr>
          <a:xfrm rot="0">
            <a:off x="2021289" y="5687839"/>
            <a:ext cx="6086502" cy="419100"/>
            <a:chOff x="0" y="0"/>
            <a:chExt cx="8115337" cy="558800"/>
          </a:xfrm>
        </p:grpSpPr>
        <p:sp>
          <p:nvSpPr>
            <p:cNvPr name="AutoShape 22" id="22"/>
            <p:cNvSpPr/>
            <p:nvPr/>
          </p:nvSpPr>
          <p:spPr>
            <a:xfrm>
              <a:off x="25400" y="533400"/>
              <a:ext cx="8064537" cy="0"/>
            </a:xfrm>
            <a:prstGeom prst="line">
              <a:avLst/>
            </a:prstGeom>
            <a:ln cap="flat" w="50800">
              <a:solidFill>
                <a:srgbClr val="CF4327"/>
              </a:solidFill>
              <a:prstDash val="solid"/>
              <a:headEnd type="none" len="sm" w="sm"/>
              <a:tailEnd type="none" len="sm" w="sm"/>
            </a:ln>
          </p:spPr>
        </p:sp>
        <p:sp>
          <p:nvSpPr>
            <p:cNvPr name="AutoShape 23" id="23"/>
            <p:cNvSpPr/>
            <p:nvPr/>
          </p:nvSpPr>
          <p:spPr>
            <a:xfrm flipH="true" flipV="true">
              <a:off x="25400" y="1264"/>
              <a:ext cx="0" cy="555784"/>
            </a:xfrm>
            <a:prstGeom prst="line">
              <a:avLst/>
            </a:prstGeom>
            <a:ln cap="flat" w="50800">
              <a:solidFill>
                <a:srgbClr val="CF4327"/>
              </a:solidFill>
              <a:prstDash val="solid"/>
              <a:headEnd type="none" len="sm" w="sm"/>
              <a:tailEnd type="none" len="sm" w="sm"/>
            </a:ln>
          </p:spPr>
        </p:sp>
        <p:sp>
          <p:nvSpPr>
            <p:cNvPr name="AutoShape 24" id="24"/>
            <p:cNvSpPr/>
            <p:nvPr/>
          </p:nvSpPr>
          <p:spPr>
            <a:xfrm>
              <a:off x="25400" y="25400"/>
              <a:ext cx="8064537" cy="0"/>
            </a:xfrm>
            <a:prstGeom prst="line">
              <a:avLst/>
            </a:prstGeom>
            <a:ln cap="flat" w="50800">
              <a:solidFill>
                <a:srgbClr val="CF4327"/>
              </a:solidFill>
              <a:prstDash val="solid"/>
              <a:headEnd type="none" len="sm" w="sm"/>
              <a:tailEnd type="none" len="sm" w="sm"/>
            </a:ln>
          </p:spPr>
        </p:sp>
        <p:sp>
          <p:nvSpPr>
            <p:cNvPr name="AutoShape 25" id="25"/>
            <p:cNvSpPr/>
            <p:nvPr/>
          </p:nvSpPr>
          <p:spPr>
            <a:xfrm flipV="true">
              <a:off x="8089937" y="1264"/>
              <a:ext cx="0" cy="555784"/>
            </a:xfrm>
            <a:prstGeom prst="line">
              <a:avLst/>
            </a:prstGeom>
            <a:ln cap="flat" w="50800">
              <a:solidFill>
                <a:srgbClr val="CF4327"/>
              </a:solidFill>
              <a:prstDash val="solid"/>
              <a:headEnd type="none" len="sm" w="sm"/>
              <a:tailEnd type="none" len="sm" w="sm"/>
            </a:ln>
          </p:spPr>
        </p:sp>
      </p:grpSp>
      <p:grpSp>
        <p:nvGrpSpPr>
          <p:cNvPr name="Group 26" id="26"/>
          <p:cNvGrpSpPr/>
          <p:nvPr/>
        </p:nvGrpSpPr>
        <p:grpSpPr>
          <a:xfrm rot="0">
            <a:off x="11437944" y="5592868"/>
            <a:ext cx="5561115" cy="707489"/>
            <a:chOff x="0" y="0"/>
            <a:chExt cx="7414821" cy="943319"/>
          </a:xfrm>
        </p:grpSpPr>
        <p:sp>
          <p:nvSpPr>
            <p:cNvPr name="AutoShape 27" id="27"/>
            <p:cNvSpPr/>
            <p:nvPr/>
          </p:nvSpPr>
          <p:spPr>
            <a:xfrm>
              <a:off x="25400" y="903182"/>
              <a:ext cx="7364021" cy="0"/>
            </a:xfrm>
            <a:prstGeom prst="line">
              <a:avLst/>
            </a:prstGeom>
            <a:ln cap="flat" w="50800">
              <a:solidFill>
                <a:srgbClr val="CF4327"/>
              </a:solidFill>
              <a:prstDash val="solid"/>
              <a:headEnd type="none" len="sm" w="sm"/>
              <a:tailEnd type="none" len="sm" w="sm"/>
            </a:ln>
          </p:spPr>
        </p:sp>
        <p:sp>
          <p:nvSpPr>
            <p:cNvPr name="AutoShape 28" id="28"/>
            <p:cNvSpPr/>
            <p:nvPr/>
          </p:nvSpPr>
          <p:spPr>
            <a:xfrm flipV="true">
              <a:off x="25400" y="0"/>
              <a:ext cx="0" cy="943319"/>
            </a:xfrm>
            <a:prstGeom prst="line">
              <a:avLst/>
            </a:prstGeom>
            <a:ln cap="flat" w="50800">
              <a:solidFill>
                <a:srgbClr val="CF4327"/>
              </a:solidFill>
              <a:prstDash val="solid"/>
              <a:headEnd type="none" len="sm" w="sm"/>
              <a:tailEnd type="none" len="sm" w="sm"/>
            </a:ln>
          </p:spPr>
        </p:sp>
        <p:sp>
          <p:nvSpPr>
            <p:cNvPr name="AutoShape 29" id="29"/>
            <p:cNvSpPr/>
            <p:nvPr/>
          </p:nvSpPr>
          <p:spPr>
            <a:xfrm>
              <a:off x="25400" y="40965"/>
              <a:ext cx="7364021" cy="0"/>
            </a:xfrm>
            <a:prstGeom prst="line">
              <a:avLst/>
            </a:prstGeom>
            <a:ln cap="flat" w="50800">
              <a:solidFill>
                <a:srgbClr val="CF4327"/>
              </a:solidFill>
              <a:prstDash val="solid"/>
              <a:headEnd type="none" len="sm" w="sm"/>
              <a:tailEnd type="none" len="sm" w="sm"/>
            </a:ln>
          </p:spPr>
        </p:sp>
        <p:sp>
          <p:nvSpPr>
            <p:cNvPr name="AutoShape 30" id="30"/>
            <p:cNvSpPr/>
            <p:nvPr/>
          </p:nvSpPr>
          <p:spPr>
            <a:xfrm flipV="true">
              <a:off x="7389421" y="0"/>
              <a:ext cx="0" cy="943319"/>
            </a:xfrm>
            <a:prstGeom prst="line">
              <a:avLst/>
            </a:prstGeom>
            <a:ln cap="flat" w="50800">
              <a:solidFill>
                <a:srgbClr val="CF4327"/>
              </a:solidFill>
              <a:prstDash val="solid"/>
              <a:headEnd type="none" len="sm" w="sm"/>
              <a:tailEnd type="none" len="sm" w="sm"/>
            </a:ln>
          </p:spPr>
        </p:sp>
      </p:grpSp>
    </p:spTree>
  </p:cSld>
  <p:clrMapOvr>
    <a:masterClrMapping/>
  </p:clrMapOvr>
  <p:transition spd="fast">
    <p:fade/>
  </p:transition>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644999" y="7270423"/>
            <a:ext cx="16998003" cy="2099899"/>
            <a:chOff x="0" y="0"/>
            <a:chExt cx="4476840" cy="553060"/>
          </a:xfrm>
        </p:grpSpPr>
        <p:sp>
          <p:nvSpPr>
            <p:cNvPr name="Freeform 3" id="3"/>
            <p:cNvSpPr/>
            <p:nvPr/>
          </p:nvSpPr>
          <p:spPr>
            <a:xfrm flipH="false" flipV="false" rot="0">
              <a:off x="0" y="0"/>
              <a:ext cx="4476840" cy="553060"/>
            </a:xfrm>
            <a:custGeom>
              <a:avLst/>
              <a:gdLst/>
              <a:ahLst/>
              <a:cxnLst/>
              <a:rect r="r" b="b" t="t" l="l"/>
              <a:pathLst>
                <a:path h="553060" w="4476840">
                  <a:moveTo>
                    <a:pt x="0" y="0"/>
                  </a:moveTo>
                  <a:lnTo>
                    <a:pt x="4476840" y="0"/>
                  </a:lnTo>
                  <a:lnTo>
                    <a:pt x="4476840" y="553060"/>
                  </a:lnTo>
                  <a:lnTo>
                    <a:pt x="0" y="553060"/>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4476840" cy="524485"/>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569741"/>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575879" y="1014387"/>
            <a:ext cx="5719602" cy="1018034"/>
            <a:chOff x="0" y="0"/>
            <a:chExt cx="1506397" cy="268124"/>
          </a:xfrm>
        </p:grpSpPr>
        <p:sp>
          <p:nvSpPr>
            <p:cNvPr name="Freeform 9" id="9"/>
            <p:cNvSpPr/>
            <p:nvPr/>
          </p:nvSpPr>
          <p:spPr>
            <a:xfrm flipH="false" flipV="false" rot="0">
              <a:off x="0" y="0"/>
              <a:ext cx="1506397" cy="268124"/>
            </a:xfrm>
            <a:custGeom>
              <a:avLst/>
              <a:gdLst/>
              <a:ahLst/>
              <a:cxnLst/>
              <a:rect r="r" b="b" t="t" l="l"/>
              <a:pathLst>
                <a:path h="268124" w="1506397">
                  <a:moveTo>
                    <a:pt x="134062" y="0"/>
                  </a:moveTo>
                  <a:lnTo>
                    <a:pt x="1372335" y="0"/>
                  </a:lnTo>
                  <a:cubicBezTo>
                    <a:pt x="1446376" y="0"/>
                    <a:pt x="1506397" y="60022"/>
                    <a:pt x="1506397" y="134062"/>
                  </a:cubicBezTo>
                  <a:lnTo>
                    <a:pt x="1506397" y="134062"/>
                  </a:lnTo>
                  <a:cubicBezTo>
                    <a:pt x="1506397" y="208103"/>
                    <a:pt x="1446376" y="268124"/>
                    <a:pt x="1372335" y="268124"/>
                  </a:cubicBezTo>
                  <a:lnTo>
                    <a:pt x="134062" y="268124"/>
                  </a:lnTo>
                  <a:cubicBezTo>
                    <a:pt x="60022" y="268124"/>
                    <a:pt x="0" y="208103"/>
                    <a:pt x="0" y="134062"/>
                  </a:cubicBezTo>
                  <a:lnTo>
                    <a:pt x="0" y="134062"/>
                  </a:lnTo>
                  <a:cubicBezTo>
                    <a:pt x="0" y="60022"/>
                    <a:pt x="60022" y="0"/>
                    <a:pt x="134062" y="0"/>
                  </a:cubicBezTo>
                  <a:close/>
                </a:path>
              </a:pathLst>
            </a:custGeom>
            <a:solidFill>
              <a:srgbClr val="F6BD3B"/>
            </a:solidFill>
            <a:ln w="38100" cap="rnd">
              <a:solidFill>
                <a:srgbClr val="000000"/>
              </a:solidFill>
              <a:prstDash val="solid"/>
              <a:round/>
            </a:ln>
          </p:spPr>
        </p:sp>
        <p:sp>
          <p:nvSpPr>
            <p:cNvPr name="TextBox 10" id="10"/>
            <p:cNvSpPr txBox="true"/>
            <p:nvPr/>
          </p:nvSpPr>
          <p:spPr>
            <a:xfrm>
              <a:off x="0" y="19050"/>
              <a:ext cx="1506397" cy="249074"/>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575879" y="2854102"/>
            <a:ext cx="8252875" cy="3718004"/>
          </a:xfrm>
          <a:custGeom>
            <a:avLst/>
            <a:gdLst/>
            <a:ahLst/>
            <a:cxnLst/>
            <a:rect r="r" b="b" t="t" l="l"/>
            <a:pathLst>
              <a:path h="3718004" w="8252875">
                <a:moveTo>
                  <a:pt x="0" y="0"/>
                </a:moveTo>
                <a:lnTo>
                  <a:pt x="8252875" y="0"/>
                </a:lnTo>
                <a:lnTo>
                  <a:pt x="8252875" y="3718004"/>
                </a:lnTo>
                <a:lnTo>
                  <a:pt x="0" y="3718004"/>
                </a:lnTo>
                <a:lnTo>
                  <a:pt x="0" y="0"/>
                </a:lnTo>
                <a:close/>
              </a:path>
            </a:pathLst>
          </a:custGeom>
          <a:blipFill>
            <a:blip r:embed="rId2"/>
            <a:stretch>
              <a:fillRect l="0" t="0" r="-5473" b="-124007"/>
            </a:stretch>
          </a:blipFill>
        </p:spPr>
      </p:sp>
      <p:sp>
        <p:nvSpPr>
          <p:cNvPr name="Freeform 12" id="12"/>
          <p:cNvSpPr/>
          <p:nvPr/>
        </p:nvSpPr>
        <p:spPr>
          <a:xfrm flipH="false" flipV="false" rot="0">
            <a:off x="9388080" y="2854102"/>
            <a:ext cx="8432213" cy="3718004"/>
          </a:xfrm>
          <a:custGeom>
            <a:avLst/>
            <a:gdLst/>
            <a:ahLst/>
            <a:cxnLst/>
            <a:rect r="r" b="b" t="t" l="l"/>
            <a:pathLst>
              <a:path h="3718004" w="8432213">
                <a:moveTo>
                  <a:pt x="0" y="0"/>
                </a:moveTo>
                <a:lnTo>
                  <a:pt x="8432213" y="0"/>
                </a:lnTo>
                <a:lnTo>
                  <a:pt x="8432213" y="3718004"/>
                </a:lnTo>
                <a:lnTo>
                  <a:pt x="0" y="3718004"/>
                </a:lnTo>
                <a:lnTo>
                  <a:pt x="0" y="0"/>
                </a:lnTo>
                <a:close/>
              </a:path>
            </a:pathLst>
          </a:custGeom>
          <a:blipFill>
            <a:blip r:embed="rId2"/>
            <a:stretch>
              <a:fillRect l="0" t="-126899" r="-4562" b="0"/>
            </a:stretch>
          </a:blipFill>
        </p:spPr>
      </p:sp>
      <p:sp>
        <p:nvSpPr>
          <p:cNvPr name="TextBox 13" id="13"/>
          <p:cNvSpPr txBox="true"/>
          <p:nvPr/>
        </p:nvSpPr>
        <p:spPr>
          <a:xfrm rot="0">
            <a:off x="904863" y="7586947"/>
            <a:ext cx="16478275" cy="1457325"/>
          </a:xfrm>
          <a:prstGeom prst="rect">
            <a:avLst/>
          </a:prstGeom>
        </p:spPr>
        <p:txBody>
          <a:bodyPr anchor="t" rtlCol="false" tIns="0" lIns="0" bIns="0" rIns="0">
            <a:spAutoFit/>
          </a:bodyPr>
          <a:lstStyle/>
          <a:p>
            <a:pPr algn="l">
              <a:lnSpc>
                <a:spcPts val="4200"/>
              </a:lnSpc>
            </a:pPr>
            <a:r>
              <a:rPr lang="en-US" sz="3500">
                <a:solidFill>
                  <a:srgbClr val="990941"/>
                </a:solidFill>
                <a:latin typeface="Itim"/>
                <a:ea typeface="Itim"/>
                <a:cs typeface="Itim"/>
                <a:sym typeface="Itim"/>
              </a:rPr>
              <a:t>Why?</a:t>
            </a:r>
          </a:p>
          <a:p>
            <a:pPr algn="l" marL="0" indent="0" lvl="0">
              <a:lnSpc>
                <a:spcPts val="3600"/>
              </a:lnSpc>
              <a:spcBef>
                <a:spcPct val="0"/>
              </a:spcBef>
            </a:pPr>
            <a:r>
              <a:rPr lang="en-US" sz="3000">
                <a:solidFill>
                  <a:srgbClr val="000000"/>
                </a:solidFill>
                <a:latin typeface="Itim"/>
                <a:ea typeface="Itim"/>
                <a:cs typeface="Itim"/>
                <a:sym typeface="Itim"/>
              </a:rPr>
              <a:t>match msg จะเอาค่าที่อยู่ใน msg มาใช้ใน match ถ้าข้อมูลนั้นเป็น String อาจทำให้ค่าถูกย้ายออกไปแล้วทำให้ msg ใช้ต่อไม่ได้ แต่การใช้ match &amp;msg จะเป็นกา</a:t>
            </a:r>
            <a:r>
              <a:rPr lang="en-US" sz="3000" strike="noStrike" u="none">
                <a:solidFill>
                  <a:srgbClr val="000000"/>
                </a:solidFill>
                <a:latin typeface="Itim"/>
                <a:ea typeface="Itim"/>
                <a:cs typeface="Itim"/>
                <a:sym typeface="Itim"/>
              </a:rPr>
              <a:t>รยืมข้อมูลมาดู ทำให้ยังสามารถใช้ msg ต่อได้หลังจาก match</a:t>
            </a:r>
          </a:p>
        </p:txBody>
      </p:sp>
      <p:sp>
        <p:nvSpPr>
          <p:cNvPr name="TextBox 14" id="14"/>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5" id="15"/>
          <p:cNvSpPr txBox="true"/>
          <p:nvPr/>
        </p:nvSpPr>
        <p:spPr>
          <a:xfrm rot="0">
            <a:off x="6349587" y="1276238"/>
            <a:ext cx="11255314" cy="573405"/>
          </a:xfrm>
          <a:prstGeom prst="rect">
            <a:avLst/>
          </a:prstGeom>
        </p:spPr>
        <p:txBody>
          <a:bodyPr anchor="t" rtlCol="false" tIns="0" lIns="0" bIns="0" rIns="0">
            <a:spAutoFit/>
          </a:bodyPr>
          <a:lstStyle/>
          <a:p>
            <a:pPr algn="l" marL="0" indent="0" lvl="0">
              <a:lnSpc>
                <a:spcPts val="4200"/>
              </a:lnSpc>
              <a:spcBef>
                <a:spcPct val="0"/>
              </a:spcBef>
            </a:pPr>
            <a:r>
              <a:rPr lang="en-US" sz="4200">
                <a:solidFill>
                  <a:srgbClr val="990941"/>
                </a:solidFill>
                <a:latin typeface="ไอติม"/>
                <a:ea typeface="ไอติม"/>
                <a:cs typeface="ไอติม"/>
                <a:sym typeface="ไอติม"/>
              </a:rPr>
              <a:t> </a:t>
            </a:r>
            <a:r>
              <a:rPr lang="en-US" sz="4200">
                <a:solidFill>
                  <a:srgbClr val="990941"/>
                </a:solidFill>
                <a:latin typeface="ไอติม"/>
                <a:ea typeface="ไอติม"/>
                <a:cs typeface="ไอติม"/>
                <a:sym typeface="ไอติม"/>
              </a:rPr>
              <a:t>Mistake 2 - สับสนเรื่อง Ownership เมื่อใช้ match</a:t>
            </a:r>
          </a:p>
        </p:txBody>
      </p:sp>
      <p:sp>
        <p:nvSpPr>
          <p:cNvPr name="TextBox 16" id="16"/>
          <p:cNvSpPr txBox="true"/>
          <p:nvPr/>
        </p:nvSpPr>
        <p:spPr>
          <a:xfrm rot="0">
            <a:off x="575879" y="1252076"/>
            <a:ext cx="5641406" cy="637907"/>
          </a:xfrm>
          <a:prstGeom prst="rect">
            <a:avLst/>
          </a:prstGeom>
        </p:spPr>
        <p:txBody>
          <a:bodyPr anchor="t" rtlCol="false" tIns="0" lIns="0" bIns="0" rIns="0">
            <a:spAutoFit/>
          </a:bodyPr>
          <a:lstStyle/>
          <a:p>
            <a:pPr algn="ctr" marL="0" indent="0" lvl="0">
              <a:lnSpc>
                <a:spcPts val="4864"/>
              </a:lnSpc>
              <a:spcBef>
                <a:spcPct val="0"/>
              </a:spcBef>
            </a:pPr>
            <a:r>
              <a:rPr lang="en-US" sz="4864">
                <a:solidFill>
                  <a:srgbClr val="000000"/>
                </a:solidFill>
                <a:latin typeface="ไอติม"/>
                <a:ea typeface="ไอติม"/>
                <a:cs typeface="ไอติม"/>
                <a:sym typeface="ไอติม"/>
              </a:rPr>
              <a:t>COMMON MISTAKE</a:t>
            </a:r>
          </a:p>
        </p:txBody>
      </p:sp>
      <p:sp>
        <p:nvSpPr>
          <p:cNvPr name="TextBox 17" id="17"/>
          <p:cNvSpPr txBox="true"/>
          <p:nvPr/>
        </p:nvSpPr>
        <p:spPr>
          <a:xfrm rot="0">
            <a:off x="-173950" y="598316"/>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sp>
        <p:nvSpPr>
          <p:cNvPr name="TextBox 18" id="18"/>
          <p:cNvSpPr txBox="true"/>
          <p:nvPr/>
        </p:nvSpPr>
        <p:spPr>
          <a:xfrm rot="0">
            <a:off x="575879" y="2270546"/>
            <a:ext cx="2432337" cy="383531"/>
          </a:xfrm>
          <a:prstGeom prst="rect">
            <a:avLst/>
          </a:prstGeom>
        </p:spPr>
        <p:txBody>
          <a:bodyPr anchor="t" rtlCol="false" tIns="0" lIns="0" bIns="0" rIns="0">
            <a:spAutoFit/>
          </a:bodyPr>
          <a:lstStyle/>
          <a:p>
            <a:pPr algn="just">
              <a:lnSpc>
                <a:spcPts val="2694"/>
              </a:lnSpc>
              <a:spcBef>
                <a:spcPct val="0"/>
              </a:spcBef>
            </a:pPr>
            <a:r>
              <a:rPr lang="en-US" sz="2449">
                <a:solidFill>
                  <a:srgbClr val="000000"/>
                </a:solidFill>
                <a:latin typeface="Amiko TH"/>
                <a:ea typeface="Amiko TH"/>
                <a:cs typeface="Amiko TH"/>
                <a:sym typeface="Amiko TH"/>
              </a:rPr>
              <a:t>❌ INCORRECT</a:t>
            </a:r>
          </a:p>
        </p:txBody>
      </p:sp>
      <p:sp>
        <p:nvSpPr>
          <p:cNvPr name="TextBox 19" id="19"/>
          <p:cNvSpPr txBox="true"/>
          <p:nvPr/>
        </p:nvSpPr>
        <p:spPr>
          <a:xfrm rot="0">
            <a:off x="9388080" y="2270546"/>
            <a:ext cx="2309800" cy="383531"/>
          </a:xfrm>
          <a:prstGeom prst="rect">
            <a:avLst/>
          </a:prstGeom>
        </p:spPr>
        <p:txBody>
          <a:bodyPr anchor="t" rtlCol="false" tIns="0" lIns="0" bIns="0" rIns="0">
            <a:spAutoFit/>
          </a:bodyPr>
          <a:lstStyle/>
          <a:p>
            <a:pPr algn="l">
              <a:lnSpc>
                <a:spcPts val="2694"/>
              </a:lnSpc>
              <a:spcBef>
                <a:spcPct val="0"/>
              </a:spcBef>
            </a:pPr>
            <a:r>
              <a:rPr lang="en-US" sz="2449">
                <a:solidFill>
                  <a:srgbClr val="000000"/>
                </a:solidFill>
                <a:latin typeface="Amiko TH"/>
                <a:ea typeface="Amiko TH"/>
                <a:cs typeface="Amiko TH"/>
                <a:sym typeface="Amiko TH"/>
              </a:rPr>
              <a:t>✅ CORRECT</a:t>
            </a:r>
          </a:p>
        </p:txBody>
      </p:sp>
      <p:grpSp>
        <p:nvGrpSpPr>
          <p:cNvPr name="Group 20" id="20"/>
          <p:cNvGrpSpPr/>
          <p:nvPr/>
        </p:nvGrpSpPr>
        <p:grpSpPr>
          <a:xfrm rot="0">
            <a:off x="1888592" y="4424730"/>
            <a:ext cx="620127" cy="288374"/>
            <a:chOff x="0" y="0"/>
            <a:chExt cx="826836" cy="384498"/>
          </a:xfrm>
        </p:grpSpPr>
        <p:sp>
          <p:nvSpPr>
            <p:cNvPr name="AutoShape 21" id="21"/>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22" id="22"/>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23" id="23"/>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24" id="24"/>
            <p:cNvSpPr/>
            <p:nvPr/>
          </p:nvSpPr>
          <p:spPr>
            <a:xfrm>
              <a:off x="0" y="19050"/>
              <a:ext cx="826836" cy="0"/>
            </a:xfrm>
            <a:prstGeom prst="line">
              <a:avLst/>
            </a:prstGeom>
            <a:ln cap="flat" w="38100">
              <a:solidFill>
                <a:srgbClr val="CF4327"/>
              </a:solidFill>
              <a:prstDash val="solid"/>
              <a:headEnd type="none" len="sm" w="sm"/>
              <a:tailEnd type="none" len="sm" w="sm"/>
            </a:ln>
          </p:spPr>
        </p:sp>
      </p:grpSp>
      <p:grpSp>
        <p:nvGrpSpPr>
          <p:cNvPr name="Group 25" id="25"/>
          <p:cNvGrpSpPr/>
          <p:nvPr/>
        </p:nvGrpSpPr>
        <p:grpSpPr>
          <a:xfrm rot="0">
            <a:off x="1888592" y="5269113"/>
            <a:ext cx="620127" cy="288374"/>
            <a:chOff x="0" y="0"/>
            <a:chExt cx="826836" cy="384498"/>
          </a:xfrm>
        </p:grpSpPr>
        <p:sp>
          <p:nvSpPr>
            <p:cNvPr name="AutoShape 26" id="26"/>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27" id="27"/>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28" id="28"/>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29" id="29"/>
            <p:cNvSpPr/>
            <p:nvPr/>
          </p:nvSpPr>
          <p:spPr>
            <a:xfrm>
              <a:off x="0" y="19050"/>
              <a:ext cx="826836" cy="0"/>
            </a:xfrm>
            <a:prstGeom prst="line">
              <a:avLst/>
            </a:prstGeom>
            <a:ln cap="flat" w="38100">
              <a:solidFill>
                <a:srgbClr val="CF4327"/>
              </a:solidFill>
              <a:prstDash val="solid"/>
              <a:headEnd type="none" len="sm" w="sm"/>
              <a:tailEnd type="none" len="sm" w="sm"/>
            </a:ln>
          </p:spPr>
        </p:sp>
      </p:grpSp>
      <p:grpSp>
        <p:nvGrpSpPr>
          <p:cNvPr name="Group 30" id="30"/>
          <p:cNvGrpSpPr/>
          <p:nvPr/>
        </p:nvGrpSpPr>
        <p:grpSpPr>
          <a:xfrm rot="0">
            <a:off x="10800757" y="4436238"/>
            <a:ext cx="620127" cy="288374"/>
            <a:chOff x="0" y="0"/>
            <a:chExt cx="826836" cy="384498"/>
          </a:xfrm>
        </p:grpSpPr>
        <p:sp>
          <p:nvSpPr>
            <p:cNvPr name="AutoShape 31" id="31"/>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32" id="32"/>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33" id="33"/>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34" id="34"/>
            <p:cNvSpPr/>
            <p:nvPr/>
          </p:nvSpPr>
          <p:spPr>
            <a:xfrm>
              <a:off x="0" y="19050"/>
              <a:ext cx="826836" cy="0"/>
            </a:xfrm>
            <a:prstGeom prst="line">
              <a:avLst/>
            </a:prstGeom>
            <a:ln cap="flat" w="38100">
              <a:solidFill>
                <a:srgbClr val="CF4327"/>
              </a:solidFill>
              <a:prstDash val="solid"/>
              <a:headEnd type="none" len="sm" w="sm"/>
              <a:tailEnd type="none" len="sm" w="sm"/>
            </a:ln>
          </p:spPr>
        </p:sp>
      </p:grpSp>
      <p:grpSp>
        <p:nvGrpSpPr>
          <p:cNvPr name="Group 35" id="35"/>
          <p:cNvGrpSpPr/>
          <p:nvPr/>
        </p:nvGrpSpPr>
        <p:grpSpPr>
          <a:xfrm rot="0">
            <a:off x="10800757" y="5269113"/>
            <a:ext cx="620127" cy="288374"/>
            <a:chOff x="0" y="0"/>
            <a:chExt cx="826836" cy="384498"/>
          </a:xfrm>
        </p:grpSpPr>
        <p:sp>
          <p:nvSpPr>
            <p:cNvPr name="AutoShape 36" id="36"/>
            <p:cNvSpPr/>
            <p:nvPr/>
          </p:nvSpPr>
          <p:spPr>
            <a:xfrm>
              <a:off x="0" y="365448"/>
              <a:ext cx="826836" cy="0"/>
            </a:xfrm>
            <a:prstGeom prst="line">
              <a:avLst/>
            </a:prstGeom>
            <a:ln cap="flat" w="38100">
              <a:solidFill>
                <a:srgbClr val="CF4327"/>
              </a:solidFill>
              <a:prstDash val="solid"/>
              <a:headEnd type="none" len="sm" w="sm"/>
              <a:tailEnd type="none" len="sm" w="sm"/>
            </a:ln>
          </p:spPr>
        </p:sp>
        <p:sp>
          <p:nvSpPr>
            <p:cNvPr name="AutoShape 37" id="37"/>
            <p:cNvSpPr/>
            <p:nvPr/>
          </p:nvSpPr>
          <p:spPr>
            <a:xfrm flipH="true" flipV="true">
              <a:off x="19050" y="0"/>
              <a:ext cx="0" cy="365448"/>
            </a:xfrm>
            <a:prstGeom prst="line">
              <a:avLst/>
            </a:prstGeom>
            <a:ln cap="flat" w="38100">
              <a:solidFill>
                <a:srgbClr val="CF4327"/>
              </a:solidFill>
              <a:prstDash val="solid"/>
              <a:headEnd type="none" len="sm" w="sm"/>
              <a:tailEnd type="none" len="sm" w="sm"/>
            </a:ln>
          </p:spPr>
        </p:sp>
        <p:sp>
          <p:nvSpPr>
            <p:cNvPr name="AutoShape 38" id="38"/>
            <p:cNvSpPr/>
            <p:nvPr/>
          </p:nvSpPr>
          <p:spPr>
            <a:xfrm flipV="true">
              <a:off x="806454" y="0"/>
              <a:ext cx="0" cy="365448"/>
            </a:xfrm>
            <a:prstGeom prst="line">
              <a:avLst/>
            </a:prstGeom>
            <a:ln cap="flat" w="38100">
              <a:solidFill>
                <a:srgbClr val="CF4327"/>
              </a:solidFill>
              <a:prstDash val="solid"/>
              <a:headEnd type="none" len="sm" w="sm"/>
              <a:tailEnd type="none" len="sm" w="sm"/>
            </a:ln>
          </p:spPr>
        </p:sp>
        <p:sp>
          <p:nvSpPr>
            <p:cNvPr name="AutoShape 39" id="39"/>
            <p:cNvSpPr/>
            <p:nvPr/>
          </p:nvSpPr>
          <p:spPr>
            <a:xfrm>
              <a:off x="0" y="19050"/>
              <a:ext cx="826836" cy="0"/>
            </a:xfrm>
            <a:prstGeom prst="line">
              <a:avLst/>
            </a:prstGeom>
            <a:ln cap="flat" w="38100">
              <a:solidFill>
                <a:srgbClr val="CF4327"/>
              </a:solidFill>
              <a:prstDash val="solid"/>
              <a:headEnd type="none" len="sm" w="sm"/>
              <a:tailEnd type="none" len="sm" w="sm"/>
            </a:ln>
          </p:spPr>
        </p:sp>
      </p:grpSp>
    </p:spTree>
  </p:cSld>
  <p:clrMapOvr>
    <a:masterClrMapping/>
  </p:clrMapOvr>
  <p:transition spd="fast">
    <p:fade/>
  </p:transition>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644999" y="7270423"/>
            <a:ext cx="16998003" cy="2099899"/>
            <a:chOff x="0" y="0"/>
            <a:chExt cx="4476840" cy="553060"/>
          </a:xfrm>
        </p:grpSpPr>
        <p:sp>
          <p:nvSpPr>
            <p:cNvPr name="Freeform 3" id="3"/>
            <p:cNvSpPr/>
            <p:nvPr/>
          </p:nvSpPr>
          <p:spPr>
            <a:xfrm flipH="false" flipV="false" rot="0">
              <a:off x="0" y="0"/>
              <a:ext cx="4476840" cy="553060"/>
            </a:xfrm>
            <a:custGeom>
              <a:avLst/>
              <a:gdLst/>
              <a:ahLst/>
              <a:cxnLst/>
              <a:rect r="r" b="b" t="t" l="l"/>
              <a:pathLst>
                <a:path h="553060" w="4476840">
                  <a:moveTo>
                    <a:pt x="0" y="0"/>
                  </a:moveTo>
                  <a:lnTo>
                    <a:pt x="4476840" y="0"/>
                  </a:lnTo>
                  <a:lnTo>
                    <a:pt x="4476840" y="553060"/>
                  </a:lnTo>
                  <a:lnTo>
                    <a:pt x="0" y="553060"/>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4476840" cy="524485"/>
            </a:xfrm>
            <a:prstGeom prst="rect">
              <a:avLst/>
            </a:prstGeom>
          </p:spPr>
          <p:txBody>
            <a:bodyPr anchor="ctr" rtlCol="false" tIns="50800" lIns="50800" bIns="50800" rIns="50800"/>
            <a:lstStyle/>
            <a:p>
              <a:pPr algn="l">
                <a:lnSpc>
                  <a:spcPts val="4399"/>
                </a:lnSpc>
              </a:pPr>
            </a:p>
          </p:txBody>
        </p:sp>
      </p:grpSp>
      <p:grpSp>
        <p:nvGrpSpPr>
          <p:cNvPr name="Group 5" id="5"/>
          <p:cNvGrpSpPr/>
          <p:nvPr/>
        </p:nvGrpSpPr>
        <p:grpSpPr>
          <a:xfrm rot="0">
            <a:off x="644999" y="569741"/>
            <a:ext cx="2790681" cy="329552"/>
            <a:chOff x="0" y="0"/>
            <a:chExt cx="734994" cy="86796"/>
          </a:xfrm>
        </p:grpSpPr>
        <p:sp>
          <p:nvSpPr>
            <p:cNvPr name="Freeform 6" id="6"/>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7" id="7"/>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grpSp>
        <p:nvGrpSpPr>
          <p:cNvPr name="Group 8" id="8"/>
          <p:cNvGrpSpPr/>
          <p:nvPr/>
        </p:nvGrpSpPr>
        <p:grpSpPr>
          <a:xfrm rot="0">
            <a:off x="575879" y="1014387"/>
            <a:ext cx="5719602" cy="1018034"/>
            <a:chOff x="0" y="0"/>
            <a:chExt cx="1506397" cy="268124"/>
          </a:xfrm>
        </p:grpSpPr>
        <p:sp>
          <p:nvSpPr>
            <p:cNvPr name="Freeform 9" id="9"/>
            <p:cNvSpPr/>
            <p:nvPr/>
          </p:nvSpPr>
          <p:spPr>
            <a:xfrm flipH="false" flipV="false" rot="0">
              <a:off x="0" y="0"/>
              <a:ext cx="1506397" cy="268124"/>
            </a:xfrm>
            <a:custGeom>
              <a:avLst/>
              <a:gdLst/>
              <a:ahLst/>
              <a:cxnLst/>
              <a:rect r="r" b="b" t="t" l="l"/>
              <a:pathLst>
                <a:path h="268124" w="1506397">
                  <a:moveTo>
                    <a:pt x="134062" y="0"/>
                  </a:moveTo>
                  <a:lnTo>
                    <a:pt x="1372335" y="0"/>
                  </a:lnTo>
                  <a:cubicBezTo>
                    <a:pt x="1446376" y="0"/>
                    <a:pt x="1506397" y="60022"/>
                    <a:pt x="1506397" y="134062"/>
                  </a:cubicBezTo>
                  <a:lnTo>
                    <a:pt x="1506397" y="134062"/>
                  </a:lnTo>
                  <a:cubicBezTo>
                    <a:pt x="1506397" y="208103"/>
                    <a:pt x="1446376" y="268124"/>
                    <a:pt x="1372335" y="268124"/>
                  </a:cubicBezTo>
                  <a:lnTo>
                    <a:pt x="134062" y="268124"/>
                  </a:lnTo>
                  <a:cubicBezTo>
                    <a:pt x="60022" y="268124"/>
                    <a:pt x="0" y="208103"/>
                    <a:pt x="0" y="134062"/>
                  </a:cubicBezTo>
                  <a:lnTo>
                    <a:pt x="0" y="134062"/>
                  </a:lnTo>
                  <a:cubicBezTo>
                    <a:pt x="0" y="60022"/>
                    <a:pt x="60022" y="0"/>
                    <a:pt x="134062" y="0"/>
                  </a:cubicBezTo>
                  <a:close/>
                </a:path>
              </a:pathLst>
            </a:custGeom>
            <a:solidFill>
              <a:srgbClr val="F6BD3B"/>
            </a:solidFill>
            <a:ln w="38100" cap="rnd">
              <a:solidFill>
                <a:srgbClr val="000000"/>
              </a:solidFill>
              <a:prstDash val="solid"/>
              <a:round/>
            </a:ln>
          </p:spPr>
        </p:sp>
        <p:sp>
          <p:nvSpPr>
            <p:cNvPr name="TextBox 10" id="10"/>
            <p:cNvSpPr txBox="true"/>
            <p:nvPr/>
          </p:nvSpPr>
          <p:spPr>
            <a:xfrm>
              <a:off x="0" y="19050"/>
              <a:ext cx="1506397" cy="249074"/>
            </a:xfrm>
            <a:prstGeom prst="rect">
              <a:avLst/>
            </a:prstGeom>
          </p:spPr>
          <p:txBody>
            <a:bodyPr anchor="ctr" rtlCol="false" tIns="50800" lIns="50800" bIns="50800" rIns="50800"/>
            <a:lstStyle/>
            <a:p>
              <a:pPr algn="ctr">
                <a:lnSpc>
                  <a:spcPts val="2694"/>
                </a:lnSpc>
              </a:pPr>
            </a:p>
          </p:txBody>
        </p:sp>
      </p:grpSp>
      <p:sp>
        <p:nvSpPr>
          <p:cNvPr name="Freeform 11" id="11"/>
          <p:cNvSpPr/>
          <p:nvPr/>
        </p:nvSpPr>
        <p:spPr>
          <a:xfrm flipH="false" flipV="false" rot="0">
            <a:off x="1623392" y="2613418"/>
            <a:ext cx="6927762" cy="4409355"/>
          </a:xfrm>
          <a:custGeom>
            <a:avLst/>
            <a:gdLst/>
            <a:ahLst/>
            <a:cxnLst/>
            <a:rect r="r" b="b" t="t" l="l"/>
            <a:pathLst>
              <a:path h="4409355" w="6927762">
                <a:moveTo>
                  <a:pt x="0" y="0"/>
                </a:moveTo>
                <a:lnTo>
                  <a:pt x="6927763" y="0"/>
                </a:lnTo>
                <a:lnTo>
                  <a:pt x="6927763" y="4409355"/>
                </a:lnTo>
                <a:lnTo>
                  <a:pt x="0" y="4409355"/>
                </a:lnTo>
                <a:lnTo>
                  <a:pt x="0" y="0"/>
                </a:lnTo>
                <a:close/>
              </a:path>
            </a:pathLst>
          </a:custGeom>
          <a:blipFill>
            <a:blip r:embed="rId2"/>
            <a:stretch>
              <a:fillRect l="0" t="0" r="0" b="-125723"/>
            </a:stretch>
          </a:blipFill>
        </p:spPr>
      </p:sp>
      <p:sp>
        <p:nvSpPr>
          <p:cNvPr name="Freeform 12" id="12"/>
          <p:cNvSpPr/>
          <p:nvPr/>
        </p:nvSpPr>
        <p:spPr>
          <a:xfrm flipH="false" flipV="false" rot="0">
            <a:off x="9943246" y="2613418"/>
            <a:ext cx="6895029" cy="4409355"/>
          </a:xfrm>
          <a:custGeom>
            <a:avLst/>
            <a:gdLst/>
            <a:ahLst/>
            <a:cxnLst/>
            <a:rect r="r" b="b" t="t" l="l"/>
            <a:pathLst>
              <a:path h="4409355" w="6895029">
                <a:moveTo>
                  <a:pt x="0" y="0"/>
                </a:moveTo>
                <a:lnTo>
                  <a:pt x="6895029" y="0"/>
                </a:lnTo>
                <a:lnTo>
                  <a:pt x="6895029" y="4409355"/>
                </a:lnTo>
                <a:lnTo>
                  <a:pt x="0" y="4409355"/>
                </a:lnTo>
                <a:lnTo>
                  <a:pt x="0" y="0"/>
                </a:lnTo>
                <a:close/>
              </a:path>
            </a:pathLst>
          </a:custGeom>
          <a:blipFill>
            <a:blip r:embed="rId2"/>
            <a:stretch>
              <a:fillRect l="0" t="-123133" r="0" b="-1523"/>
            </a:stretch>
          </a:blipFill>
        </p:spPr>
      </p:sp>
      <p:sp>
        <p:nvSpPr>
          <p:cNvPr name="TextBox 13" id="13"/>
          <p:cNvSpPr txBox="true"/>
          <p:nvPr/>
        </p:nvSpPr>
        <p:spPr>
          <a:xfrm rot="0">
            <a:off x="962025" y="7548847"/>
            <a:ext cx="16892866" cy="1457325"/>
          </a:xfrm>
          <a:prstGeom prst="rect">
            <a:avLst/>
          </a:prstGeom>
        </p:spPr>
        <p:txBody>
          <a:bodyPr anchor="t" rtlCol="false" tIns="0" lIns="0" bIns="0" rIns="0">
            <a:spAutoFit/>
          </a:bodyPr>
          <a:lstStyle/>
          <a:p>
            <a:pPr algn="l">
              <a:lnSpc>
                <a:spcPts val="4200"/>
              </a:lnSpc>
            </a:pPr>
            <a:r>
              <a:rPr lang="en-US" sz="3500">
                <a:solidFill>
                  <a:srgbClr val="990941"/>
                </a:solidFill>
                <a:latin typeface="Itim"/>
                <a:ea typeface="Itim"/>
                <a:cs typeface="Itim"/>
                <a:sym typeface="Itim"/>
              </a:rPr>
              <a:t>Why?</a:t>
            </a:r>
          </a:p>
          <a:p>
            <a:pPr algn="l" marL="0" indent="0" lvl="0">
              <a:lnSpc>
                <a:spcPts val="3600"/>
              </a:lnSpc>
              <a:spcBef>
                <a:spcPct val="0"/>
              </a:spcBef>
            </a:pPr>
            <a:r>
              <a:rPr lang="en-US" sz="3000">
                <a:solidFill>
                  <a:srgbClr val="000000"/>
                </a:solidFill>
                <a:latin typeface="Itim"/>
                <a:ea typeface="Itim"/>
                <a:cs typeface="Itim"/>
                <a:sym typeface="Itim"/>
              </a:rPr>
              <a:t>match จะตรวจสอบ pattern จากบนลงล่าง ใน Incorrect Code _ หมา</a:t>
            </a:r>
            <a:r>
              <a:rPr lang="en-US" sz="3000" strike="noStrike" u="none">
                <a:solidFill>
                  <a:srgbClr val="000000"/>
                </a:solidFill>
                <a:latin typeface="Itim"/>
                <a:ea typeface="Itim"/>
                <a:cs typeface="Itim"/>
                <a:sym typeface="Itim"/>
              </a:rPr>
              <a:t>ยถึงทุกกรณีที่เหลือ จึงทำให้ Status::Error</a:t>
            </a:r>
          </a:p>
          <a:p>
            <a:pPr algn="l" marL="0" indent="0" lvl="0">
              <a:lnSpc>
                <a:spcPts val="3600"/>
              </a:lnSpc>
              <a:spcBef>
                <a:spcPct val="0"/>
              </a:spcBef>
            </a:pPr>
            <a:r>
              <a:rPr lang="en-US" sz="3000" strike="noStrike" u="none">
                <a:solidFill>
                  <a:srgbClr val="000000"/>
                </a:solidFill>
                <a:latin typeface="Itim"/>
                <a:ea typeface="Itim"/>
                <a:cs typeface="Itim"/>
                <a:sym typeface="Itim"/>
              </a:rPr>
              <a:t>ที่อยู่ด้านหลังไม่สามารถทำงานได้ ดังนั้นควรวาง pattern ที่เฉพาะเจาะจงไว้ก่อน แล้วค่อยใช้ _ สำหรับกรณีที่เหลือ</a:t>
            </a:r>
          </a:p>
        </p:txBody>
      </p:sp>
      <p:sp>
        <p:nvSpPr>
          <p:cNvPr name="TextBox 14" id="14"/>
          <p:cNvSpPr txBox="true"/>
          <p:nvPr/>
        </p:nvSpPr>
        <p:spPr>
          <a:xfrm rot="0">
            <a:off x="-136980" y="9608447"/>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
        <p:nvSpPr>
          <p:cNvPr name="TextBox 15" id="15"/>
          <p:cNvSpPr txBox="true"/>
          <p:nvPr/>
        </p:nvSpPr>
        <p:spPr>
          <a:xfrm rot="0">
            <a:off x="6295480" y="1276238"/>
            <a:ext cx="11255314" cy="1106805"/>
          </a:xfrm>
          <a:prstGeom prst="rect">
            <a:avLst/>
          </a:prstGeom>
        </p:spPr>
        <p:txBody>
          <a:bodyPr anchor="t" rtlCol="false" tIns="0" lIns="0" bIns="0" rIns="0">
            <a:spAutoFit/>
          </a:bodyPr>
          <a:lstStyle/>
          <a:p>
            <a:pPr algn="l">
              <a:lnSpc>
                <a:spcPts val="4200"/>
              </a:lnSpc>
            </a:pPr>
            <a:r>
              <a:rPr lang="en-US" sz="4200">
                <a:solidFill>
                  <a:srgbClr val="990941"/>
                </a:solidFill>
                <a:latin typeface="ไอติม"/>
                <a:ea typeface="ไอติม"/>
                <a:cs typeface="ไอติม"/>
                <a:sym typeface="ไอติม"/>
              </a:rPr>
              <a:t> </a:t>
            </a:r>
            <a:r>
              <a:rPr lang="en-US" sz="4200">
                <a:solidFill>
                  <a:srgbClr val="990941"/>
                </a:solidFill>
                <a:latin typeface="ไอติม"/>
                <a:ea typeface="ไอติม"/>
                <a:cs typeface="ไอติม"/>
                <a:sym typeface="ไอติม"/>
              </a:rPr>
              <a:t>Mistake 3 - ลำดับ Pattern ใน match ผิด</a:t>
            </a:r>
          </a:p>
          <a:p>
            <a:pPr algn="l" marL="0" indent="0" lvl="0">
              <a:lnSpc>
                <a:spcPts val="4200"/>
              </a:lnSpc>
              <a:spcBef>
                <a:spcPct val="0"/>
              </a:spcBef>
            </a:pPr>
          </a:p>
        </p:txBody>
      </p:sp>
      <p:sp>
        <p:nvSpPr>
          <p:cNvPr name="TextBox 16" id="16"/>
          <p:cNvSpPr txBox="true"/>
          <p:nvPr/>
        </p:nvSpPr>
        <p:spPr>
          <a:xfrm rot="0">
            <a:off x="575879" y="1252076"/>
            <a:ext cx="5641406" cy="637907"/>
          </a:xfrm>
          <a:prstGeom prst="rect">
            <a:avLst/>
          </a:prstGeom>
        </p:spPr>
        <p:txBody>
          <a:bodyPr anchor="t" rtlCol="false" tIns="0" lIns="0" bIns="0" rIns="0">
            <a:spAutoFit/>
          </a:bodyPr>
          <a:lstStyle/>
          <a:p>
            <a:pPr algn="ctr" marL="0" indent="0" lvl="0">
              <a:lnSpc>
                <a:spcPts val="4864"/>
              </a:lnSpc>
              <a:spcBef>
                <a:spcPct val="0"/>
              </a:spcBef>
            </a:pPr>
            <a:r>
              <a:rPr lang="en-US" sz="4864">
                <a:solidFill>
                  <a:srgbClr val="000000"/>
                </a:solidFill>
                <a:latin typeface="ไอติม"/>
                <a:ea typeface="ไอติม"/>
                <a:cs typeface="ไอติม"/>
                <a:sym typeface="ไอติม"/>
              </a:rPr>
              <a:t>COMMON MISTAKE</a:t>
            </a:r>
          </a:p>
        </p:txBody>
      </p:sp>
      <p:sp>
        <p:nvSpPr>
          <p:cNvPr name="TextBox 17" id="17"/>
          <p:cNvSpPr txBox="true"/>
          <p:nvPr/>
        </p:nvSpPr>
        <p:spPr>
          <a:xfrm rot="0">
            <a:off x="1623392" y="2156246"/>
            <a:ext cx="2324033" cy="383531"/>
          </a:xfrm>
          <a:prstGeom prst="rect">
            <a:avLst/>
          </a:prstGeom>
        </p:spPr>
        <p:txBody>
          <a:bodyPr anchor="t" rtlCol="false" tIns="0" lIns="0" bIns="0" rIns="0">
            <a:spAutoFit/>
          </a:bodyPr>
          <a:lstStyle/>
          <a:p>
            <a:pPr algn="l">
              <a:lnSpc>
                <a:spcPts val="2694"/>
              </a:lnSpc>
              <a:spcBef>
                <a:spcPct val="0"/>
              </a:spcBef>
            </a:pPr>
            <a:r>
              <a:rPr lang="en-US" sz="2449">
                <a:solidFill>
                  <a:srgbClr val="000000"/>
                </a:solidFill>
                <a:latin typeface="Amiko TH"/>
                <a:ea typeface="Amiko TH"/>
                <a:cs typeface="Amiko TH"/>
                <a:sym typeface="Amiko TH"/>
              </a:rPr>
              <a:t>❌ INCORRECT</a:t>
            </a:r>
          </a:p>
        </p:txBody>
      </p:sp>
      <p:sp>
        <p:nvSpPr>
          <p:cNvPr name="TextBox 18" id="18"/>
          <p:cNvSpPr txBox="true"/>
          <p:nvPr/>
        </p:nvSpPr>
        <p:spPr>
          <a:xfrm rot="0">
            <a:off x="9974399" y="2181752"/>
            <a:ext cx="1948738" cy="383531"/>
          </a:xfrm>
          <a:prstGeom prst="rect">
            <a:avLst/>
          </a:prstGeom>
        </p:spPr>
        <p:txBody>
          <a:bodyPr anchor="t" rtlCol="false" tIns="0" lIns="0" bIns="0" rIns="0">
            <a:spAutoFit/>
          </a:bodyPr>
          <a:lstStyle/>
          <a:p>
            <a:pPr algn="l">
              <a:lnSpc>
                <a:spcPts val="2694"/>
              </a:lnSpc>
              <a:spcBef>
                <a:spcPct val="0"/>
              </a:spcBef>
            </a:pPr>
            <a:r>
              <a:rPr lang="en-US" sz="2449">
                <a:solidFill>
                  <a:srgbClr val="000000"/>
                </a:solidFill>
                <a:latin typeface="Amiko TH"/>
                <a:ea typeface="Amiko TH"/>
                <a:cs typeface="Amiko TH"/>
                <a:sym typeface="Amiko TH"/>
              </a:rPr>
              <a:t>✅ CORRECT</a:t>
            </a:r>
          </a:p>
        </p:txBody>
      </p:sp>
      <p:sp>
        <p:nvSpPr>
          <p:cNvPr name="TextBox 19" id="19"/>
          <p:cNvSpPr txBox="true"/>
          <p:nvPr/>
        </p:nvSpPr>
        <p:spPr>
          <a:xfrm rot="0">
            <a:off x="-173950" y="598316"/>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nvGrpSpPr>
          <p:cNvPr name="Group 20" id="20"/>
          <p:cNvGrpSpPr/>
          <p:nvPr/>
        </p:nvGrpSpPr>
        <p:grpSpPr>
          <a:xfrm rot="0">
            <a:off x="2661107" y="4660945"/>
            <a:ext cx="5292424" cy="966642"/>
            <a:chOff x="0" y="0"/>
            <a:chExt cx="7056565" cy="1288856"/>
          </a:xfrm>
        </p:grpSpPr>
        <p:sp>
          <p:nvSpPr>
            <p:cNvPr name="AutoShape 21" id="21"/>
            <p:cNvSpPr/>
            <p:nvPr/>
          </p:nvSpPr>
          <p:spPr>
            <a:xfrm>
              <a:off x="25400" y="1260380"/>
              <a:ext cx="7005765" cy="0"/>
            </a:xfrm>
            <a:prstGeom prst="line">
              <a:avLst/>
            </a:prstGeom>
            <a:ln cap="flat" w="50800">
              <a:solidFill>
                <a:srgbClr val="CF4327"/>
              </a:solidFill>
              <a:prstDash val="solid"/>
              <a:headEnd type="none" len="sm" w="sm"/>
              <a:tailEnd type="none" len="sm" w="sm"/>
            </a:ln>
          </p:spPr>
        </p:sp>
        <p:sp>
          <p:nvSpPr>
            <p:cNvPr name="AutoShape 22" id="22"/>
            <p:cNvSpPr/>
            <p:nvPr/>
          </p:nvSpPr>
          <p:spPr>
            <a:xfrm flipV="true">
              <a:off x="25400" y="0"/>
              <a:ext cx="0" cy="1288856"/>
            </a:xfrm>
            <a:prstGeom prst="line">
              <a:avLst/>
            </a:prstGeom>
            <a:ln cap="flat" w="50800">
              <a:solidFill>
                <a:srgbClr val="CF4327"/>
              </a:solidFill>
              <a:prstDash val="solid"/>
              <a:headEnd type="none" len="sm" w="sm"/>
              <a:tailEnd type="none" len="sm" w="sm"/>
            </a:ln>
          </p:spPr>
        </p:sp>
        <p:sp>
          <p:nvSpPr>
            <p:cNvPr name="AutoShape 23" id="23"/>
            <p:cNvSpPr/>
            <p:nvPr/>
          </p:nvSpPr>
          <p:spPr>
            <a:xfrm>
              <a:off x="25400" y="27617"/>
              <a:ext cx="7005765" cy="0"/>
            </a:xfrm>
            <a:prstGeom prst="line">
              <a:avLst/>
            </a:prstGeom>
            <a:ln cap="flat" w="50800">
              <a:solidFill>
                <a:srgbClr val="CF4327"/>
              </a:solidFill>
              <a:prstDash val="solid"/>
              <a:headEnd type="none" len="sm" w="sm"/>
              <a:tailEnd type="none" len="sm" w="sm"/>
            </a:ln>
          </p:spPr>
        </p:sp>
        <p:sp>
          <p:nvSpPr>
            <p:cNvPr name="AutoShape 24" id="24"/>
            <p:cNvSpPr/>
            <p:nvPr/>
          </p:nvSpPr>
          <p:spPr>
            <a:xfrm flipV="true">
              <a:off x="7031165" y="0"/>
              <a:ext cx="0" cy="1288856"/>
            </a:xfrm>
            <a:prstGeom prst="line">
              <a:avLst/>
            </a:prstGeom>
            <a:ln cap="flat" w="50800">
              <a:solidFill>
                <a:srgbClr val="CF4327"/>
              </a:solidFill>
              <a:prstDash val="solid"/>
              <a:headEnd type="none" len="sm" w="sm"/>
              <a:tailEnd type="none" len="sm" w="sm"/>
            </a:ln>
          </p:spPr>
        </p:sp>
      </p:grpSp>
      <p:grpSp>
        <p:nvGrpSpPr>
          <p:cNvPr name="Group 25" id="25"/>
          <p:cNvGrpSpPr/>
          <p:nvPr/>
        </p:nvGrpSpPr>
        <p:grpSpPr>
          <a:xfrm rot="0">
            <a:off x="10919385" y="4660179"/>
            <a:ext cx="5292424" cy="966642"/>
            <a:chOff x="0" y="0"/>
            <a:chExt cx="7056565" cy="1288856"/>
          </a:xfrm>
        </p:grpSpPr>
        <p:sp>
          <p:nvSpPr>
            <p:cNvPr name="AutoShape 26" id="26"/>
            <p:cNvSpPr/>
            <p:nvPr/>
          </p:nvSpPr>
          <p:spPr>
            <a:xfrm>
              <a:off x="25400" y="1260380"/>
              <a:ext cx="7005765" cy="0"/>
            </a:xfrm>
            <a:prstGeom prst="line">
              <a:avLst/>
            </a:prstGeom>
            <a:ln cap="flat" w="50800">
              <a:solidFill>
                <a:srgbClr val="CF4327"/>
              </a:solidFill>
              <a:prstDash val="solid"/>
              <a:headEnd type="none" len="sm" w="sm"/>
              <a:tailEnd type="none" len="sm" w="sm"/>
            </a:ln>
          </p:spPr>
        </p:sp>
        <p:sp>
          <p:nvSpPr>
            <p:cNvPr name="AutoShape 27" id="27"/>
            <p:cNvSpPr/>
            <p:nvPr/>
          </p:nvSpPr>
          <p:spPr>
            <a:xfrm flipV="true">
              <a:off x="25400" y="0"/>
              <a:ext cx="0" cy="1288856"/>
            </a:xfrm>
            <a:prstGeom prst="line">
              <a:avLst/>
            </a:prstGeom>
            <a:ln cap="flat" w="50800">
              <a:solidFill>
                <a:srgbClr val="CF4327"/>
              </a:solidFill>
              <a:prstDash val="solid"/>
              <a:headEnd type="none" len="sm" w="sm"/>
              <a:tailEnd type="none" len="sm" w="sm"/>
            </a:ln>
          </p:spPr>
        </p:sp>
        <p:sp>
          <p:nvSpPr>
            <p:cNvPr name="AutoShape 28" id="28"/>
            <p:cNvSpPr/>
            <p:nvPr/>
          </p:nvSpPr>
          <p:spPr>
            <a:xfrm>
              <a:off x="25400" y="27617"/>
              <a:ext cx="7005765" cy="0"/>
            </a:xfrm>
            <a:prstGeom prst="line">
              <a:avLst/>
            </a:prstGeom>
            <a:ln cap="flat" w="50800">
              <a:solidFill>
                <a:srgbClr val="CF4327"/>
              </a:solidFill>
              <a:prstDash val="solid"/>
              <a:headEnd type="none" len="sm" w="sm"/>
              <a:tailEnd type="none" len="sm" w="sm"/>
            </a:ln>
          </p:spPr>
        </p:sp>
        <p:sp>
          <p:nvSpPr>
            <p:cNvPr name="AutoShape 29" id="29"/>
            <p:cNvSpPr/>
            <p:nvPr/>
          </p:nvSpPr>
          <p:spPr>
            <a:xfrm flipV="true">
              <a:off x="7031165" y="0"/>
              <a:ext cx="0" cy="1288856"/>
            </a:xfrm>
            <a:prstGeom prst="line">
              <a:avLst/>
            </a:prstGeom>
            <a:ln cap="flat" w="50800">
              <a:solidFill>
                <a:srgbClr val="CF4327"/>
              </a:solidFill>
              <a:prstDash val="solid"/>
              <a:headEnd type="none" len="sm" w="sm"/>
              <a:tailEnd type="none" len="sm" w="sm"/>
            </a:ln>
          </p:spPr>
        </p:sp>
      </p:grpSp>
    </p:spTree>
  </p:cSld>
  <p:clrMapOvr>
    <a:masterClrMapping/>
  </p:clrMapOvr>
  <p:transition spd="fast">
    <p:fade/>
  </p:transition>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1945462" y="1857360"/>
            <a:ext cx="14268264" cy="2969635"/>
            <a:chOff x="0" y="0"/>
            <a:chExt cx="4274726" cy="889693"/>
          </a:xfrm>
        </p:grpSpPr>
        <p:sp>
          <p:nvSpPr>
            <p:cNvPr name="Freeform 3" id="3"/>
            <p:cNvSpPr/>
            <p:nvPr/>
          </p:nvSpPr>
          <p:spPr>
            <a:xfrm flipH="false" flipV="false" rot="0">
              <a:off x="0" y="0"/>
              <a:ext cx="4274726" cy="889693"/>
            </a:xfrm>
            <a:custGeom>
              <a:avLst/>
              <a:gdLst/>
              <a:ahLst/>
              <a:cxnLst/>
              <a:rect r="r" b="b" t="t" l="l"/>
              <a:pathLst>
                <a:path h="889693" w="4274726">
                  <a:moveTo>
                    <a:pt x="0" y="0"/>
                  </a:moveTo>
                  <a:lnTo>
                    <a:pt x="4274726" y="0"/>
                  </a:lnTo>
                  <a:lnTo>
                    <a:pt x="4274726" y="889693"/>
                  </a:lnTo>
                  <a:lnTo>
                    <a:pt x="0" y="889693"/>
                  </a:lnTo>
                  <a:close/>
                </a:path>
              </a:pathLst>
            </a:custGeom>
            <a:solidFill>
              <a:srgbClr val="FFFFFF"/>
            </a:solidFill>
            <a:ln w="38100" cap="sq">
              <a:solidFill>
                <a:srgbClr val="000000"/>
              </a:solidFill>
              <a:prstDash val="solid"/>
              <a:miter/>
            </a:ln>
          </p:spPr>
        </p:sp>
        <p:sp>
          <p:nvSpPr>
            <p:cNvPr name="TextBox 4" id="4"/>
            <p:cNvSpPr txBox="true"/>
            <p:nvPr/>
          </p:nvSpPr>
          <p:spPr>
            <a:xfrm>
              <a:off x="0" y="19050"/>
              <a:ext cx="4274726" cy="870643"/>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3750179" y="1399743"/>
            <a:ext cx="10821522" cy="902719"/>
            <a:chOff x="0" y="0"/>
            <a:chExt cx="3242093" cy="270452"/>
          </a:xfrm>
        </p:grpSpPr>
        <p:sp>
          <p:nvSpPr>
            <p:cNvPr name="Freeform 6" id="6"/>
            <p:cNvSpPr/>
            <p:nvPr/>
          </p:nvSpPr>
          <p:spPr>
            <a:xfrm flipH="false" flipV="false" rot="0">
              <a:off x="0" y="0"/>
              <a:ext cx="3242093" cy="270452"/>
            </a:xfrm>
            <a:custGeom>
              <a:avLst/>
              <a:gdLst/>
              <a:ahLst/>
              <a:cxnLst/>
              <a:rect r="r" b="b" t="t" l="l"/>
              <a:pathLst>
                <a:path h="270452" w="3242093">
                  <a:moveTo>
                    <a:pt x="71542" y="0"/>
                  </a:moveTo>
                  <a:lnTo>
                    <a:pt x="3170551" y="0"/>
                  </a:lnTo>
                  <a:cubicBezTo>
                    <a:pt x="3189525" y="0"/>
                    <a:pt x="3207722" y="7537"/>
                    <a:pt x="3221139" y="20954"/>
                  </a:cubicBezTo>
                  <a:cubicBezTo>
                    <a:pt x="3234556" y="34371"/>
                    <a:pt x="3242093" y="52568"/>
                    <a:pt x="3242093" y="71542"/>
                  </a:cubicBezTo>
                  <a:lnTo>
                    <a:pt x="3242093" y="198910"/>
                  </a:lnTo>
                  <a:cubicBezTo>
                    <a:pt x="3242093" y="238421"/>
                    <a:pt x="3210063" y="270452"/>
                    <a:pt x="3170551" y="270452"/>
                  </a:cubicBezTo>
                  <a:lnTo>
                    <a:pt x="71542" y="270452"/>
                  </a:lnTo>
                  <a:cubicBezTo>
                    <a:pt x="52568" y="270452"/>
                    <a:pt x="34371" y="262914"/>
                    <a:pt x="20954" y="249498"/>
                  </a:cubicBezTo>
                  <a:cubicBezTo>
                    <a:pt x="7537" y="236081"/>
                    <a:pt x="0" y="217884"/>
                    <a:pt x="0" y="198910"/>
                  </a:cubicBezTo>
                  <a:lnTo>
                    <a:pt x="0" y="71542"/>
                  </a:lnTo>
                  <a:cubicBezTo>
                    <a:pt x="0" y="52568"/>
                    <a:pt x="7537" y="34371"/>
                    <a:pt x="20954" y="20954"/>
                  </a:cubicBezTo>
                  <a:cubicBezTo>
                    <a:pt x="34371" y="7537"/>
                    <a:pt x="52568" y="0"/>
                    <a:pt x="71542" y="0"/>
                  </a:cubicBezTo>
                  <a:close/>
                </a:path>
              </a:pathLst>
            </a:custGeom>
            <a:solidFill>
              <a:srgbClr val="89C471"/>
            </a:solidFill>
            <a:ln w="38100" cap="rnd">
              <a:solidFill>
                <a:srgbClr val="000000"/>
              </a:solidFill>
              <a:prstDash val="solid"/>
              <a:round/>
            </a:ln>
          </p:spPr>
        </p:sp>
        <p:sp>
          <p:nvSpPr>
            <p:cNvPr name="TextBox 7" id="7"/>
            <p:cNvSpPr txBox="true"/>
            <p:nvPr/>
          </p:nvSpPr>
          <p:spPr>
            <a:xfrm>
              <a:off x="0" y="19050"/>
              <a:ext cx="3242093" cy="251402"/>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1280065">
            <a:off x="1649821" y="1190998"/>
            <a:ext cx="1106466" cy="1137488"/>
          </a:xfrm>
          <a:custGeom>
            <a:avLst/>
            <a:gdLst/>
            <a:ahLst/>
            <a:cxnLst/>
            <a:rect r="r" b="b" t="t" l="l"/>
            <a:pathLst>
              <a:path h="1137488" w="1106466">
                <a:moveTo>
                  <a:pt x="0" y="0"/>
                </a:moveTo>
                <a:lnTo>
                  <a:pt x="1106466" y="0"/>
                </a:lnTo>
                <a:lnTo>
                  <a:pt x="1106466" y="1137488"/>
                </a:lnTo>
                <a:lnTo>
                  <a:pt x="0" y="1137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21767" y="801242"/>
            <a:ext cx="2790681" cy="329552"/>
            <a:chOff x="0" y="0"/>
            <a:chExt cx="734994" cy="86796"/>
          </a:xfrm>
        </p:grpSpPr>
        <p:sp>
          <p:nvSpPr>
            <p:cNvPr name="Freeform 10" id="10"/>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11" id="11"/>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12" id="12"/>
          <p:cNvSpPr txBox="true"/>
          <p:nvPr/>
        </p:nvSpPr>
        <p:spPr>
          <a:xfrm rot="0">
            <a:off x="3944215" y="1601033"/>
            <a:ext cx="10399570" cy="1177492"/>
          </a:xfrm>
          <a:prstGeom prst="rect">
            <a:avLst/>
          </a:prstGeom>
        </p:spPr>
        <p:txBody>
          <a:bodyPr anchor="t" rtlCol="false" tIns="0" lIns="0" bIns="0" rIns="0">
            <a:spAutoFit/>
          </a:bodyPr>
          <a:lstStyle/>
          <a:p>
            <a:pPr algn="ctr">
              <a:lnSpc>
                <a:spcPts val="4524"/>
              </a:lnSpc>
            </a:pPr>
            <a:r>
              <a:rPr lang="en-US" sz="4524">
                <a:solidFill>
                  <a:srgbClr val="000000"/>
                </a:solidFill>
                <a:latin typeface="Itim"/>
                <a:ea typeface="Itim"/>
                <a:cs typeface="Itim"/>
                <a:sym typeface="Itim"/>
              </a:rPr>
              <a:t>CHALLENGE — CALCULATE SHAPE AREA</a:t>
            </a:r>
          </a:p>
          <a:p>
            <a:pPr algn="ctr" marL="0" indent="0" lvl="0">
              <a:lnSpc>
                <a:spcPts val="4524"/>
              </a:lnSpc>
              <a:spcBef>
                <a:spcPct val="0"/>
              </a:spcBef>
            </a:pPr>
          </a:p>
        </p:txBody>
      </p:sp>
      <p:sp>
        <p:nvSpPr>
          <p:cNvPr name="TextBox 13" id="13"/>
          <p:cNvSpPr txBox="true"/>
          <p:nvPr/>
        </p:nvSpPr>
        <p:spPr>
          <a:xfrm rot="0">
            <a:off x="2577451" y="2481258"/>
            <a:ext cx="13133098" cy="2521543"/>
          </a:xfrm>
          <a:prstGeom prst="rect">
            <a:avLst/>
          </a:prstGeom>
        </p:spPr>
        <p:txBody>
          <a:bodyPr anchor="t" rtlCol="false" tIns="0" lIns="0" bIns="0" rIns="0">
            <a:spAutoFit/>
          </a:bodyPr>
          <a:lstStyle/>
          <a:p>
            <a:pPr algn="l" marL="0" indent="0" lvl="0">
              <a:lnSpc>
                <a:spcPts val="4008"/>
              </a:lnSpc>
            </a:pPr>
            <a:r>
              <a:rPr lang="en-US" sz="3340">
                <a:solidFill>
                  <a:srgbClr val="000000"/>
                </a:solidFill>
                <a:latin typeface="Itim"/>
                <a:ea typeface="Itim"/>
                <a:cs typeface="Itim"/>
                <a:sym typeface="Itim"/>
              </a:rPr>
              <a:t>เขียน enum ชื่อ Shape มี variant 3 ตัว ได้แก่ Circle, Rectangle, Triangle </a:t>
            </a:r>
          </a:p>
          <a:p>
            <a:pPr algn="l" marL="0" indent="0" lvl="0">
              <a:lnSpc>
                <a:spcPts val="4008"/>
              </a:lnSpc>
            </a:pPr>
            <a:r>
              <a:rPr lang="en-US" sz="3340">
                <a:solidFill>
                  <a:srgbClr val="000000"/>
                </a:solidFill>
                <a:latin typeface="Itim"/>
                <a:ea typeface="Itim"/>
                <a:cs typeface="Itim"/>
                <a:sym typeface="Itim"/>
              </a:rPr>
              <a:t>จากนั้นเขียนฟังก์ชัน area ที่รับ Shape และคำนวณพื้นที่แต่ละรูปโดยใช้ match</a:t>
            </a:r>
          </a:p>
          <a:p>
            <a:pPr algn="l" marL="0" indent="0" lvl="0">
              <a:lnSpc>
                <a:spcPts val="4008"/>
              </a:lnSpc>
            </a:pPr>
            <a:r>
              <a:rPr lang="en-US" sz="3340">
                <a:solidFill>
                  <a:srgbClr val="000000"/>
                </a:solidFill>
                <a:latin typeface="Itim"/>
                <a:ea typeface="Itim"/>
                <a:cs typeface="Itim"/>
                <a:sym typeface="Itim"/>
              </a:rPr>
              <a:t>กำหนดให้ Circle และ Rectangle เก็บข้อมูลแบบ Tuple-like</a:t>
            </a:r>
          </a:p>
          <a:p>
            <a:pPr algn="l" marL="0" indent="0" lvl="0">
              <a:lnSpc>
                <a:spcPts val="4008"/>
              </a:lnSpc>
            </a:pPr>
            <a:r>
              <a:rPr lang="en-US" sz="3340">
                <a:solidFill>
                  <a:srgbClr val="000000"/>
                </a:solidFill>
                <a:latin typeface="Itim"/>
                <a:ea typeface="Itim"/>
                <a:cs typeface="Itim"/>
                <a:sym typeface="Itim"/>
              </a:rPr>
              <a:t>Triangle เก็บฟิลด์ที่ชื่อ base และ height แบบ Struct-like</a:t>
            </a:r>
          </a:p>
          <a:p>
            <a:pPr algn="l" marL="0" indent="0" lvl="0">
              <a:lnSpc>
                <a:spcPts val="4008"/>
              </a:lnSpc>
            </a:pPr>
          </a:p>
        </p:txBody>
      </p:sp>
      <p:sp>
        <p:nvSpPr>
          <p:cNvPr name="TextBox 14" id="14"/>
          <p:cNvSpPr txBox="true"/>
          <p:nvPr/>
        </p:nvSpPr>
        <p:spPr>
          <a:xfrm rot="0">
            <a:off x="-336949" y="845368"/>
            <a:ext cx="4308112" cy="269875"/>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sp>
        <p:nvSpPr>
          <p:cNvPr name="TextBox 15" id="15"/>
          <p:cNvSpPr txBox="true"/>
          <p:nvPr/>
        </p:nvSpPr>
        <p:spPr>
          <a:xfrm rot="0">
            <a:off x="0" y="9639300"/>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grpSp>
        <p:nvGrpSpPr>
          <p:cNvPr name="Group 16" id="16"/>
          <p:cNvGrpSpPr/>
          <p:nvPr/>
        </p:nvGrpSpPr>
        <p:grpSpPr>
          <a:xfrm rot="0">
            <a:off x="3814585" y="5143500"/>
            <a:ext cx="14139986" cy="4114800"/>
            <a:chOff x="0" y="0"/>
            <a:chExt cx="18853315" cy="5486400"/>
          </a:xfrm>
        </p:grpSpPr>
        <p:grpSp>
          <p:nvGrpSpPr>
            <p:cNvPr name="Group 17" id="17"/>
            <p:cNvGrpSpPr/>
            <p:nvPr/>
          </p:nvGrpSpPr>
          <p:grpSpPr>
            <a:xfrm rot="0">
              <a:off x="6090468" y="0"/>
              <a:ext cx="7770115" cy="4062066"/>
              <a:chOff x="0" y="0"/>
              <a:chExt cx="1534838" cy="802383"/>
            </a:xfrm>
          </p:grpSpPr>
          <p:sp>
            <p:nvSpPr>
              <p:cNvPr name="Freeform 18" id="18"/>
              <p:cNvSpPr/>
              <p:nvPr/>
            </p:nvSpPr>
            <p:spPr>
              <a:xfrm flipH="false" flipV="false" rot="0">
                <a:off x="0" y="0"/>
                <a:ext cx="1534838" cy="802383"/>
              </a:xfrm>
              <a:custGeom>
                <a:avLst/>
                <a:gdLst/>
                <a:ahLst/>
                <a:cxnLst/>
                <a:rect r="r" b="b" t="t" l="l"/>
                <a:pathLst>
                  <a:path h="802383" w="1534838">
                    <a:moveTo>
                      <a:pt x="65096" y="0"/>
                    </a:moveTo>
                    <a:lnTo>
                      <a:pt x="1469741" y="0"/>
                    </a:lnTo>
                    <a:cubicBezTo>
                      <a:pt x="1487006" y="0"/>
                      <a:pt x="1503563" y="6858"/>
                      <a:pt x="1515771" y="19066"/>
                    </a:cubicBezTo>
                    <a:cubicBezTo>
                      <a:pt x="1527979" y="31274"/>
                      <a:pt x="1534838" y="47832"/>
                      <a:pt x="1534838" y="65096"/>
                    </a:cubicBezTo>
                    <a:lnTo>
                      <a:pt x="1534838" y="737287"/>
                    </a:lnTo>
                    <a:cubicBezTo>
                      <a:pt x="1534838" y="754552"/>
                      <a:pt x="1527979" y="771109"/>
                      <a:pt x="1515771" y="783317"/>
                    </a:cubicBezTo>
                    <a:cubicBezTo>
                      <a:pt x="1503563" y="795525"/>
                      <a:pt x="1487006" y="802383"/>
                      <a:pt x="1469741" y="802383"/>
                    </a:cubicBezTo>
                    <a:lnTo>
                      <a:pt x="65096" y="802383"/>
                    </a:lnTo>
                    <a:cubicBezTo>
                      <a:pt x="47832" y="802383"/>
                      <a:pt x="31274" y="795525"/>
                      <a:pt x="19066" y="783317"/>
                    </a:cubicBezTo>
                    <a:cubicBezTo>
                      <a:pt x="6858" y="771109"/>
                      <a:pt x="0" y="754552"/>
                      <a:pt x="0" y="737287"/>
                    </a:cubicBezTo>
                    <a:lnTo>
                      <a:pt x="0" y="65096"/>
                    </a:lnTo>
                    <a:cubicBezTo>
                      <a:pt x="0" y="47832"/>
                      <a:pt x="6858" y="31274"/>
                      <a:pt x="19066" y="19066"/>
                    </a:cubicBezTo>
                    <a:cubicBezTo>
                      <a:pt x="31274" y="6858"/>
                      <a:pt x="47832" y="0"/>
                      <a:pt x="65096" y="0"/>
                    </a:cubicBezTo>
                    <a:close/>
                  </a:path>
                </a:pathLst>
              </a:custGeom>
              <a:solidFill>
                <a:srgbClr val="F6BD3B"/>
              </a:solidFill>
              <a:ln w="38100" cap="rnd">
                <a:solidFill>
                  <a:srgbClr val="000000"/>
                </a:solidFill>
                <a:prstDash val="solid"/>
                <a:round/>
              </a:ln>
            </p:spPr>
          </p:sp>
          <p:sp>
            <p:nvSpPr>
              <p:cNvPr name="TextBox 19" id="19"/>
              <p:cNvSpPr txBox="true"/>
              <p:nvPr/>
            </p:nvSpPr>
            <p:spPr>
              <a:xfrm>
                <a:off x="0" y="19050"/>
                <a:ext cx="1534838" cy="783333"/>
              </a:xfrm>
              <a:prstGeom prst="rect">
                <a:avLst/>
              </a:prstGeom>
            </p:spPr>
            <p:txBody>
              <a:bodyPr anchor="ctr" rtlCol="false" tIns="50800" lIns="50800" bIns="50800" rIns="50800"/>
              <a:lstStyle/>
              <a:p>
                <a:pPr algn="ctr">
                  <a:lnSpc>
                    <a:spcPts val="2694"/>
                  </a:lnSpc>
                </a:pPr>
              </a:p>
            </p:txBody>
          </p:sp>
        </p:grpSp>
        <p:grpSp>
          <p:nvGrpSpPr>
            <p:cNvPr name="Group 20" id="20"/>
            <p:cNvGrpSpPr/>
            <p:nvPr/>
          </p:nvGrpSpPr>
          <p:grpSpPr>
            <a:xfrm rot="0">
              <a:off x="6379696" y="412658"/>
              <a:ext cx="3193886" cy="804459"/>
              <a:chOff x="0" y="0"/>
              <a:chExt cx="630891" cy="158905"/>
            </a:xfrm>
          </p:grpSpPr>
          <p:sp>
            <p:nvSpPr>
              <p:cNvPr name="Freeform 21" id="21"/>
              <p:cNvSpPr/>
              <p:nvPr/>
            </p:nvSpPr>
            <p:spPr>
              <a:xfrm flipH="false" flipV="false" rot="0">
                <a:off x="0" y="0"/>
                <a:ext cx="630891" cy="158905"/>
              </a:xfrm>
              <a:custGeom>
                <a:avLst/>
                <a:gdLst/>
                <a:ahLst/>
                <a:cxnLst/>
                <a:rect r="r" b="b" t="t" l="l"/>
                <a:pathLst>
                  <a:path h="158905" w="630891">
                    <a:moveTo>
                      <a:pt x="79453" y="0"/>
                    </a:moveTo>
                    <a:lnTo>
                      <a:pt x="551438" y="0"/>
                    </a:lnTo>
                    <a:cubicBezTo>
                      <a:pt x="595319" y="0"/>
                      <a:pt x="630891" y="35572"/>
                      <a:pt x="630891" y="79453"/>
                    </a:cubicBezTo>
                    <a:lnTo>
                      <a:pt x="630891" y="79453"/>
                    </a:lnTo>
                    <a:cubicBezTo>
                      <a:pt x="630891" y="123333"/>
                      <a:pt x="595319" y="158905"/>
                      <a:pt x="551438" y="158905"/>
                    </a:cubicBezTo>
                    <a:lnTo>
                      <a:pt x="79453" y="158905"/>
                    </a:lnTo>
                    <a:cubicBezTo>
                      <a:pt x="35572" y="158905"/>
                      <a:pt x="0" y="123333"/>
                      <a:pt x="0" y="79453"/>
                    </a:cubicBezTo>
                    <a:lnTo>
                      <a:pt x="0" y="79453"/>
                    </a:lnTo>
                    <a:cubicBezTo>
                      <a:pt x="0" y="35572"/>
                      <a:pt x="35572" y="0"/>
                      <a:pt x="79453" y="0"/>
                    </a:cubicBezTo>
                    <a:close/>
                  </a:path>
                </a:pathLst>
              </a:custGeom>
              <a:solidFill>
                <a:srgbClr val="FFFFFF"/>
              </a:solidFill>
              <a:ln w="38100" cap="rnd">
                <a:solidFill>
                  <a:srgbClr val="FFFFFF"/>
                </a:solidFill>
                <a:prstDash val="solid"/>
                <a:round/>
              </a:ln>
            </p:spPr>
          </p:sp>
          <p:sp>
            <p:nvSpPr>
              <p:cNvPr name="TextBox 22" id="22"/>
              <p:cNvSpPr txBox="true"/>
              <p:nvPr/>
            </p:nvSpPr>
            <p:spPr>
              <a:xfrm>
                <a:off x="0" y="19050"/>
                <a:ext cx="630891" cy="139855"/>
              </a:xfrm>
              <a:prstGeom prst="rect">
                <a:avLst/>
              </a:prstGeom>
            </p:spPr>
            <p:txBody>
              <a:bodyPr anchor="ctr" rtlCol="false" tIns="50800" lIns="50800" bIns="50800" rIns="50800"/>
              <a:lstStyle/>
              <a:p>
                <a:pPr algn="ctr">
                  <a:lnSpc>
                    <a:spcPts val="2694"/>
                  </a:lnSpc>
                </a:pPr>
              </a:p>
            </p:txBody>
          </p:sp>
        </p:grpSp>
        <p:sp>
          <p:nvSpPr>
            <p:cNvPr name="Freeform 23" id="23"/>
            <p:cNvSpPr/>
            <p:nvPr/>
          </p:nvSpPr>
          <p:spPr>
            <a:xfrm flipH="false" flipV="false" rot="0">
              <a:off x="0" y="0"/>
              <a:ext cx="4855464" cy="5486400"/>
            </a:xfrm>
            <a:custGeom>
              <a:avLst/>
              <a:gdLst/>
              <a:ahLst/>
              <a:cxnLst/>
              <a:rect r="r" b="b" t="t" l="l"/>
              <a:pathLst>
                <a:path h="5486400" w="4855464">
                  <a:moveTo>
                    <a:pt x="0" y="0"/>
                  </a:moveTo>
                  <a:lnTo>
                    <a:pt x="4855464" y="0"/>
                  </a:lnTo>
                  <a:lnTo>
                    <a:pt x="4855464"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7032420" y="578961"/>
              <a:ext cx="11820895" cy="3075414"/>
            </a:xfrm>
            <a:prstGeom prst="rect">
              <a:avLst/>
            </a:prstGeom>
          </p:spPr>
          <p:txBody>
            <a:bodyPr anchor="t" rtlCol="false" tIns="0" lIns="0" bIns="0" rIns="0">
              <a:spAutoFit/>
            </a:bodyPr>
            <a:lstStyle/>
            <a:p>
              <a:pPr algn="l">
                <a:lnSpc>
                  <a:spcPts val="3018"/>
                </a:lnSpc>
                <a:spcBef>
                  <a:spcPct val="0"/>
                </a:spcBef>
              </a:pPr>
              <a:r>
                <a:rPr lang="en-US" sz="2743">
                  <a:solidFill>
                    <a:srgbClr val="000000"/>
                  </a:solidFill>
                  <a:latin typeface="Itim"/>
                  <a:ea typeface="Itim"/>
                  <a:cs typeface="Itim"/>
                  <a:sym typeface="Itim"/>
                </a:rPr>
                <a:t>💡 </a:t>
              </a:r>
              <a:r>
                <a:rPr lang="en-US" sz="2743">
                  <a:solidFill>
                    <a:srgbClr val="000000"/>
                  </a:solidFill>
                  <a:latin typeface="Itim"/>
                  <a:ea typeface="Itim"/>
                  <a:cs typeface="Itim"/>
                  <a:sym typeface="Itim"/>
                </a:rPr>
                <a:t>HINT</a:t>
              </a:r>
            </a:p>
            <a:p>
              <a:pPr algn="l">
                <a:lnSpc>
                  <a:spcPts val="3018"/>
                </a:lnSpc>
                <a:spcBef>
                  <a:spcPct val="0"/>
                </a:spcBef>
              </a:pPr>
            </a:p>
            <a:p>
              <a:pPr algn="l">
                <a:lnSpc>
                  <a:spcPts val="3018"/>
                </a:lnSpc>
                <a:spcBef>
                  <a:spcPct val="0"/>
                </a:spcBef>
              </a:pPr>
              <a:r>
                <a:rPr lang="en-US" sz="2743">
                  <a:solidFill>
                    <a:srgbClr val="000000"/>
                  </a:solidFill>
                  <a:latin typeface="Itim"/>
                  <a:ea typeface="Itim"/>
                  <a:cs typeface="Itim"/>
                  <a:sym typeface="Itim"/>
                </a:rPr>
                <a:t>พื้นที่วงกลม =     × R²</a:t>
              </a:r>
            </a:p>
            <a:p>
              <a:pPr algn="l">
                <a:lnSpc>
                  <a:spcPts val="3018"/>
                </a:lnSpc>
                <a:spcBef>
                  <a:spcPct val="0"/>
                </a:spcBef>
              </a:pPr>
              <a:r>
                <a:rPr lang="en-US" sz="2743">
                  <a:solidFill>
                    <a:srgbClr val="000000"/>
                  </a:solidFill>
                  <a:latin typeface="Itim"/>
                  <a:ea typeface="Itim"/>
                  <a:cs typeface="Itim"/>
                  <a:sym typeface="Itim"/>
                </a:rPr>
                <a:t>ค่า     = </a:t>
              </a:r>
              <a:r>
                <a:rPr lang="en-US" sz="2743">
                  <a:solidFill>
                    <a:srgbClr val="000000"/>
                  </a:solidFill>
                  <a:latin typeface="Itim"/>
                  <a:ea typeface="Itim"/>
                  <a:cs typeface="Itim"/>
                  <a:sym typeface="Itim"/>
                </a:rPr>
                <a:t>std::f64::coasts::PI </a:t>
              </a:r>
            </a:p>
            <a:p>
              <a:pPr algn="l">
                <a:lnSpc>
                  <a:spcPts val="3018"/>
                </a:lnSpc>
                <a:spcBef>
                  <a:spcPct val="0"/>
                </a:spcBef>
              </a:pPr>
              <a:r>
                <a:rPr lang="en-US" sz="2743">
                  <a:solidFill>
                    <a:srgbClr val="000000"/>
                  </a:solidFill>
                  <a:latin typeface="Itim"/>
                  <a:ea typeface="Itim"/>
                  <a:cs typeface="Itim"/>
                  <a:sym typeface="Itim"/>
                </a:rPr>
                <a:t>พื้นที่สี่เหลี่ยม = กว้าง × ยาว</a:t>
              </a:r>
            </a:p>
            <a:p>
              <a:pPr algn="l">
                <a:lnSpc>
                  <a:spcPts val="3018"/>
                </a:lnSpc>
                <a:spcBef>
                  <a:spcPct val="0"/>
                </a:spcBef>
              </a:pPr>
              <a:r>
                <a:rPr lang="en-US" sz="2743">
                  <a:solidFill>
                    <a:srgbClr val="000000"/>
                  </a:solidFill>
                  <a:latin typeface="Itim"/>
                  <a:ea typeface="Itim"/>
                  <a:cs typeface="Itim"/>
                  <a:sym typeface="Itim"/>
                </a:rPr>
                <a:t>พื้นที่สามเหลี่ยม = 1/2 × ฐาน × สูง</a:t>
              </a:r>
            </a:p>
          </p:txBody>
        </p:sp>
        <p:sp>
          <p:nvSpPr>
            <p:cNvPr name="TextBox 25" id="25"/>
            <p:cNvSpPr txBox="true"/>
            <p:nvPr/>
          </p:nvSpPr>
          <p:spPr>
            <a:xfrm rot="0">
              <a:off x="9573582" y="1613992"/>
              <a:ext cx="376833" cy="457400"/>
            </a:xfrm>
            <a:prstGeom prst="rect">
              <a:avLst/>
            </a:prstGeom>
          </p:spPr>
          <p:txBody>
            <a:bodyPr anchor="t" rtlCol="false" tIns="0" lIns="0" bIns="0" rIns="0">
              <a:spAutoFit/>
            </a:bodyPr>
            <a:lstStyle/>
            <a:p>
              <a:pPr algn="ctr">
                <a:lnSpc>
                  <a:spcPts val="2694"/>
                </a:lnSpc>
                <a:spcBef>
                  <a:spcPct val="0"/>
                </a:spcBef>
              </a:pPr>
              <a:r>
                <a:rPr lang="en-US" b="true" sz="2449">
                  <a:solidFill>
                    <a:srgbClr val="000000"/>
                  </a:solidFill>
                  <a:latin typeface="Comic Sans Bold"/>
                  <a:ea typeface="Comic Sans Bold"/>
                  <a:cs typeface="Comic Sans Bold"/>
                  <a:sym typeface="Comic Sans Bold"/>
                </a:rPr>
                <a:t>Π</a:t>
              </a:r>
            </a:p>
          </p:txBody>
        </p:sp>
        <p:sp>
          <p:nvSpPr>
            <p:cNvPr name="TextBox 26" id="26"/>
            <p:cNvSpPr txBox="true"/>
            <p:nvPr/>
          </p:nvSpPr>
          <p:spPr>
            <a:xfrm rot="0">
              <a:off x="7599806" y="2135719"/>
              <a:ext cx="376833" cy="457400"/>
            </a:xfrm>
            <a:prstGeom prst="rect">
              <a:avLst/>
            </a:prstGeom>
          </p:spPr>
          <p:txBody>
            <a:bodyPr anchor="t" rtlCol="false" tIns="0" lIns="0" bIns="0" rIns="0">
              <a:spAutoFit/>
            </a:bodyPr>
            <a:lstStyle/>
            <a:p>
              <a:pPr algn="ctr">
                <a:lnSpc>
                  <a:spcPts val="2694"/>
                </a:lnSpc>
                <a:spcBef>
                  <a:spcPct val="0"/>
                </a:spcBef>
              </a:pPr>
              <a:r>
                <a:rPr lang="en-US" b="true" sz="2449">
                  <a:solidFill>
                    <a:srgbClr val="000000"/>
                  </a:solidFill>
                  <a:latin typeface="Comic Sans Bold"/>
                  <a:ea typeface="Comic Sans Bold"/>
                  <a:cs typeface="Comic Sans Bold"/>
                  <a:sym typeface="Comic Sans Bold"/>
                </a:rPr>
                <a:t>Π</a:t>
              </a:r>
            </a:p>
          </p:txBody>
        </p:sp>
      </p:grpSp>
    </p:spTree>
  </p:cSld>
  <p:clrMapOvr>
    <a:masterClrMapping/>
  </p:clrMapOvr>
  <p:transition spd="fast">
    <p:fade/>
  </p:transition>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229600"/>
            <a:chOff x="0" y="0"/>
            <a:chExt cx="4274726" cy="2167467"/>
          </a:xfrm>
        </p:grpSpPr>
        <p:sp>
          <p:nvSpPr>
            <p:cNvPr name="Freeform 3" id="3"/>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FFFFFF"/>
            </a:solidFill>
            <a:ln w="38100" cap="sq">
              <a:solidFill>
                <a:srgbClr val="000000"/>
              </a:solidFill>
              <a:prstDash val="solid"/>
              <a:miter/>
            </a:ln>
          </p:spPr>
        </p:sp>
        <p:sp>
          <p:nvSpPr>
            <p:cNvPr name="TextBox 4" id="4"/>
            <p:cNvSpPr txBox="true"/>
            <p:nvPr/>
          </p:nvSpPr>
          <p:spPr>
            <a:xfrm>
              <a:off x="0" y="19050"/>
              <a:ext cx="4274726" cy="2148417"/>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731001" y="1173000"/>
            <a:ext cx="6662658" cy="1213469"/>
            <a:chOff x="0" y="0"/>
            <a:chExt cx="2231375" cy="406400"/>
          </a:xfrm>
        </p:grpSpPr>
        <p:sp>
          <p:nvSpPr>
            <p:cNvPr name="Freeform 6" id="6"/>
            <p:cNvSpPr/>
            <p:nvPr/>
          </p:nvSpPr>
          <p:spPr>
            <a:xfrm flipH="false" flipV="false" rot="0">
              <a:off x="0" y="0"/>
              <a:ext cx="2231375" cy="406400"/>
            </a:xfrm>
            <a:custGeom>
              <a:avLst/>
              <a:gdLst/>
              <a:ahLst/>
              <a:cxnLst/>
              <a:rect r="r" b="b" t="t" l="l"/>
              <a:pathLst>
                <a:path h="406400" w="2231375">
                  <a:moveTo>
                    <a:pt x="2028175" y="0"/>
                  </a:moveTo>
                  <a:lnTo>
                    <a:pt x="0" y="0"/>
                  </a:lnTo>
                  <a:lnTo>
                    <a:pt x="0" y="406400"/>
                  </a:lnTo>
                  <a:lnTo>
                    <a:pt x="2028175" y="406400"/>
                  </a:lnTo>
                  <a:lnTo>
                    <a:pt x="2231375" y="203200"/>
                  </a:lnTo>
                  <a:lnTo>
                    <a:pt x="2028175" y="0"/>
                  </a:lnTo>
                  <a:close/>
                </a:path>
              </a:pathLst>
            </a:custGeom>
            <a:solidFill>
              <a:srgbClr val="83C7FF"/>
            </a:solidFill>
            <a:ln w="38100" cap="sq">
              <a:solidFill>
                <a:srgbClr val="000000"/>
              </a:solidFill>
              <a:prstDash val="solid"/>
              <a:miter/>
            </a:ln>
          </p:spPr>
        </p:sp>
        <p:sp>
          <p:nvSpPr>
            <p:cNvPr name="TextBox 7" id="7"/>
            <p:cNvSpPr txBox="true"/>
            <p:nvPr/>
          </p:nvSpPr>
          <p:spPr>
            <a:xfrm>
              <a:off x="0" y="19050"/>
              <a:ext cx="2117075" cy="387350"/>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414973">
            <a:off x="16129337" y="8123320"/>
            <a:ext cx="1562100" cy="1562100"/>
          </a:xfrm>
          <a:custGeom>
            <a:avLst/>
            <a:gdLst/>
            <a:ahLst/>
            <a:cxnLst/>
            <a:rect r="r" b="b" t="t" l="l"/>
            <a:pathLst>
              <a:path h="1562100" w="1562100">
                <a:moveTo>
                  <a:pt x="0" y="0"/>
                </a:moveTo>
                <a:lnTo>
                  <a:pt x="1562100" y="0"/>
                </a:lnTo>
                <a:lnTo>
                  <a:pt x="1562100" y="1562100"/>
                </a:lnTo>
                <a:lnTo>
                  <a:pt x="0" y="1562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73950" y="332735"/>
            <a:ext cx="4308112" cy="329552"/>
            <a:chOff x="0" y="0"/>
            <a:chExt cx="5744150" cy="439403"/>
          </a:xfrm>
        </p:grpSpPr>
        <p:grpSp>
          <p:nvGrpSpPr>
            <p:cNvPr name="Group 10" id="10"/>
            <p:cNvGrpSpPr/>
            <p:nvPr/>
          </p:nvGrpSpPr>
          <p:grpSpPr>
            <a:xfrm rot="0">
              <a:off x="1011621" y="0"/>
              <a:ext cx="3720908" cy="439403"/>
              <a:chOff x="0" y="0"/>
              <a:chExt cx="734994" cy="86796"/>
            </a:xfrm>
          </p:grpSpPr>
          <p:sp>
            <p:nvSpPr>
              <p:cNvPr name="Freeform 11" id="11"/>
              <p:cNvSpPr/>
              <p:nvPr/>
            </p:nvSpPr>
            <p:spPr>
              <a:xfrm flipH="false" flipV="false" rot="0">
                <a:off x="0" y="0"/>
                <a:ext cx="734994" cy="86796"/>
              </a:xfrm>
              <a:custGeom>
                <a:avLst/>
                <a:gdLst/>
                <a:ahLst/>
                <a:cxnLst/>
                <a:rect r="r" b="b" t="t" l="l"/>
                <a:pathLst>
                  <a:path h="86796" w="734994">
                    <a:moveTo>
                      <a:pt x="43398" y="0"/>
                    </a:moveTo>
                    <a:lnTo>
                      <a:pt x="691596" y="0"/>
                    </a:lnTo>
                    <a:cubicBezTo>
                      <a:pt x="715564" y="0"/>
                      <a:pt x="734994" y="19430"/>
                      <a:pt x="734994" y="43398"/>
                    </a:cubicBezTo>
                    <a:lnTo>
                      <a:pt x="734994" y="43398"/>
                    </a:lnTo>
                    <a:cubicBezTo>
                      <a:pt x="734994" y="67366"/>
                      <a:pt x="715564" y="86796"/>
                      <a:pt x="691596" y="86796"/>
                    </a:cubicBezTo>
                    <a:lnTo>
                      <a:pt x="43398" y="86796"/>
                    </a:lnTo>
                    <a:cubicBezTo>
                      <a:pt x="19430" y="86796"/>
                      <a:pt x="0" y="67366"/>
                      <a:pt x="0" y="43398"/>
                    </a:cubicBezTo>
                    <a:lnTo>
                      <a:pt x="0" y="43398"/>
                    </a:lnTo>
                    <a:cubicBezTo>
                      <a:pt x="0" y="19430"/>
                      <a:pt x="19430" y="0"/>
                      <a:pt x="43398" y="0"/>
                    </a:cubicBezTo>
                    <a:close/>
                  </a:path>
                </a:pathLst>
              </a:custGeom>
              <a:solidFill>
                <a:srgbClr val="FFD9E1"/>
              </a:solidFill>
              <a:ln w="38100" cap="rnd">
                <a:solidFill>
                  <a:srgbClr val="FFD9E1"/>
                </a:solidFill>
                <a:prstDash val="solid"/>
                <a:round/>
              </a:ln>
            </p:spPr>
          </p:sp>
          <p:sp>
            <p:nvSpPr>
              <p:cNvPr name="TextBox 12" id="12"/>
              <p:cNvSpPr txBox="true"/>
              <p:nvPr/>
            </p:nvSpPr>
            <p:spPr>
              <a:xfrm>
                <a:off x="0" y="28575"/>
                <a:ext cx="734994" cy="58221"/>
              </a:xfrm>
              <a:prstGeom prst="rect">
                <a:avLst/>
              </a:prstGeom>
            </p:spPr>
            <p:txBody>
              <a:bodyPr anchor="ctr" rtlCol="false" tIns="50800" lIns="50800" bIns="50800" rIns="50800"/>
              <a:lstStyle/>
              <a:p>
                <a:pPr algn="l">
                  <a:lnSpc>
                    <a:spcPts val="4399"/>
                  </a:lnSpc>
                </a:pPr>
              </a:p>
            </p:txBody>
          </p:sp>
        </p:grpSp>
        <p:sp>
          <p:nvSpPr>
            <p:cNvPr name="TextBox 13" id="13"/>
            <p:cNvSpPr txBox="true"/>
            <p:nvPr/>
          </p:nvSpPr>
          <p:spPr>
            <a:xfrm rot="0">
              <a:off x="0" y="28575"/>
              <a:ext cx="5744150" cy="369358"/>
            </a:xfrm>
            <a:prstGeom prst="rect">
              <a:avLst/>
            </a:prstGeom>
          </p:spPr>
          <p:txBody>
            <a:bodyPr anchor="t" rtlCol="false" tIns="0" lIns="0" bIns="0" rIns="0">
              <a:spAutoFit/>
            </a:bodyPr>
            <a:lstStyle/>
            <a:p>
              <a:pPr algn="ctr" marL="0" indent="0" lvl="0">
                <a:lnSpc>
                  <a:spcPts val="1999"/>
                </a:lnSpc>
                <a:spcBef>
                  <a:spcPct val="0"/>
                </a:spcBef>
              </a:pPr>
              <a:r>
                <a:rPr lang="en-US" sz="1999">
                  <a:solidFill>
                    <a:srgbClr val="000000"/>
                  </a:solidFill>
                  <a:latin typeface="ไอติม"/>
                  <a:ea typeface="ไอติม"/>
                  <a:cs typeface="ไอติม"/>
                  <a:sym typeface="ไอติม"/>
                </a:rPr>
                <a:t>PART 4 - MEMBER 4</a:t>
              </a:r>
            </a:p>
          </p:txBody>
        </p:sp>
      </p:grpSp>
      <p:sp>
        <p:nvSpPr>
          <p:cNvPr name="TextBox 14" id="14"/>
          <p:cNvSpPr txBox="true"/>
          <p:nvPr/>
        </p:nvSpPr>
        <p:spPr>
          <a:xfrm rot="0">
            <a:off x="1740903" y="1441079"/>
            <a:ext cx="4666752" cy="782086"/>
          </a:xfrm>
          <a:prstGeom prst="rect">
            <a:avLst/>
          </a:prstGeom>
        </p:spPr>
        <p:txBody>
          <a:bodyPr anchor="t" rtlCol="false" tIns="0" lIns="0" bIns="0" rIns="0">
            <a:spAutoFit/>
          </a:bodyPr>
          <a:lstStyle/>
          <a:p>
            <a:pPr algn="ctr" marL="0" indent="0" lvl="0">
              <a:lnSpc>
                <a:spcPts val="5845"/>
              </a:lnSpc>
              <a:spcBef>
                <a:spcPct val="0"/>
              </a:spcBef>
            </a:pPr>
            <a:r>
              <a:rPr lang="en-US" sz="5845">
                <a:solidFill>
                  <a:srgbClr val="000000"/>
                </a:solidFill>
                <a:latin typeface="Itim"/>
                <a:ea typeface="Itim"/>
                <a:cs typeface="Itim"/>
                <a:sym typeface="Itim"/>
              </a:rPr>
              <a:t>Solution</a:t>
            </a:r>
          </a:p>
        </p:txBody>
      </p:sp>
      <p:sp>
        <p:nvSpPr>
          <p:cNvPr name="Freeform 15" id="15"/>
          <p:cNvSpPr/>
          <p:nvPr/>
        </p:nvSpPr>
        <p:spPr>
          <a:xfrm flipH="false" flipV="false" rot="0">
            <a:off x="3685624" y="2459865"/>
            <a:ext cx="10916752" cy="6444505"/>
          </a:xfrm>
          <a:custGeom>
            <a:avLst/>
            <a:gdLst/>
            <a:ahLst/>
            <a:cxnLst/>
            <a:rect r="r" b="b" t="t" l="l"/>
            <a:pathLst>
              <a:path h="6444505" w="10916752">
                <a:moveTo>
                  <a:pt x="0" y="0"/>
                </a:moveTo>
                <a:lnTo>
                  <a:pt x="10916752" y="0"/>
                </a:lnTo>
                <a:lnTo>
                  <a:pt x="10916752" y="6444505"/>
                </a:lnTo>
                <a:lnTo>
                  <a:pt x="0" y="6444505"/>
                </a:lnTo>
                <a:lnTo>
                  <a:pt x="0" y="0"/>
                </a:lnTo>
                <a:close/>
              </a:path>
            </a:pathLst>
          </a:custGeom>
          <a:blipFill>
            <a:blip r:embed="rId4"/>
            <a:stretch>
              <a:fillRect l="0" t="-105026" r="-2933" b="-104787"/>
            </a:stretch>
          </a:blipFill>
        </p:spPr>
      </p:sp>
      <p:sp>
        <p:nvSpPr>
          <p:cNvPr name="Freeform 16" id="16"/>
          <p:cNvSpPr/>
          <p:nvPr/>
        </p:nvSpPr>
        <p:spPr>
          <a:xfrm flipH="false" flipV="false" rot="164276">
            <a:off x="586554" y="8612666"/>
            <a:ext cx="3527868" cy="910831"/>
          </a:xfrm>
          <a:custGeom>
            <a:avLst/>
            <a:gdLst/>
            <a:ahLst/>
            <a:cxnLst/>
            <a:rect r="r" b="b" t="t" l="l"/>
            <a:pathLst>
              <a:path h="910831" w="3527868">
                <a:moveTo>
                  <a:pt x="0" y="0"/>
                </a:moveTo>
                <a:lnTo>
                  <a:pt x="3527868" y="0"/>
                </a:lnTo>
                <a:lnTo>
                  <a:pt x="3527868" y="910832"/>
                </a:lnTo>
                <a:lnTo>
                  <a:pt x="0" y="9108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2343736">
            <a:off x="12777883" y="2520687"/>
            <a:ext cx="2588698" cy="668355"/>
          </a:xfrm>
          <a:custGeom>
            <a:avLst/>
            <a:gdLst/>
            <a:ahLst/>
            <a:cxnLst/>
            <a:rect r="r" b="b" t="t" l="l"/>
            <a:pathLst>
              <a:path h="668355" w="2588698">
                <a:moveTo>
                  <a:pt x="0" y="0"/>
                </a:moveTo>
                <a:lnTo>
                  <a:pt x="2588697" y="0"/>
                </a:lnTo>
                <a:lnTo>
                  <a:pt x="2588697" y="668354"/>
                </a:lnTo>
                <a:lnTo>
                  <a:pt x="0" y="6683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70305" y="9673913"/>
            <a:ext cx="9214305" cy="384175"/>
          </a:xfrm>
          <a:prstGeom prst="rect">
            <a:avLst/>
          </a:prstGeom>
        </p:spPr>
        <p:txBody>
          <a:bodyPr anchor="t" rtlCol="false" tIns="0" lIns="0" bIns="0" rIns="0">
            <a:spAutoFit/>
          </a:bodyPr>
          <a:lstStyle/>
          <a:p>
            <a:pPr algn="ctr">
              <a:lnSpc>
                <a:spcPts val="2750"/>
              </a:lnSpc>
              <a:spcBef>
                <a:spcPct val="0"/>
              </a:spcBef>
            </a:pPr>
            <a:r>
              <a:rPr lang="en-US" sz="2500">
                <a:solidFill>
                  <a:srgbClr val="000000"/>
                </a:solidFill>
                <a:latin typeface="Amiko TH"/>
                <a:ea typeface="Amiko TH"/>
                <a:cs typeface="Amiko TH"/>
                <a:sym typeface="Amiko TH"/>
              </a:rPr>
              <a:t>517321</a:t>
            </a:r>
            <a:r>
              <a:rPr lang="en-US" sz="2500">
                <a:solidFill>
                  <a:srgbClr val="000000"/>
                </a:solidFill>
                <a:latin typeface="Amiko TH"/>
                <a:ea typeface="Amiko TH"/>
                <a:cs typeface="Amiko TH"/>
                <a:sym typeface="Amiko TH"/>
              </a:rPr>
              <a:t> PRINCIPLES OF PROGRAMMING LANGUAGES — RUST TUTORIAL</a:t>
            </a:r>
          </a:p>
        </p:txBody>
      </p:sp>
    </p:spTree>
  </p:cSld>
  <p:clrMapOvr>
    <a:masterClrMapping/>
  </p:clrMapOvr>
  <p:transition spd="fast">
    <p:fade/>
  </p:transition>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197262" y="1113710"/>
            <a:ext cx="11893476" cy="1770220"/>
            <a:chOff x="0" y="0"/>
            <a:chExt cx="3132438" cy="466231"/>
          </a:xfrm>
        </p:grpSpPr>
        <p:sp>
          <p:nvSpPr>
            <p:cNvPr name="Freeform 3" id="3"/>
            <p:cNvSpPr/>
            <p:nvPr/>
          </p:nvSpPr>
          <p:spPr>
            <a:xfrm flipH="false" flipV="false" rot="0">
              <a:off x="0" y="0"/>
              <a:ext cx="3132438" cy="466231"/>
            </a:xfrm>
            <a:custGeom>
              <a:avLst/>
              <a:gdLst/>
              <a:ahLst/>
              <a:cxnLst/>
              <a:rect r="r" b="b" t="t" l="l"/>
              <a:pathLst>
                <a:path h="466231" w="3132438">
                  <a:moveTo>
                    <a:pt x="65094" y="0"/>
                  </a:moveTo>
                  <a:lnTo>
                    <a:pt x="3067344" y="0"/>
                  </a:lnTo>
                  <a:cubicBezTo>
                    <a:pt x="3084608" y="0"/>
                    <a:pt x="3101165" y="6858"/>
                    <a:pt x="3113373" y="19066"/>
                  </a:cubicBezTo>
                  <a:cubicBezTo>
                    <a:pt x="3125580" y="31273"/>
                    <a:pt x="3132438" y="47830"/>
                    <a:pt x="3132438" y="65094"/>
                  </a:cubicBezTo>
                  <a:lnTo>
                    <a:pt x="3132438" y="401137"/>
                  </a:lnTo>
                  <a:cubicBezTo>
                    <a:pt x="3132438" y="418401"/>
                    <a:pt x="3125580" y="434958"/>
                    <a:pt x="3113373" y="447165"/>
                  </a:cubicBezTo>
                  <a:cubicBezTo>
                    <a:pt x="3101165" y="459373"/>
                    <a:pt x="3084608" y="466231"/>
                    <a:pt x="3067344" y="466231"/>
                  </a:cubicBezTo>
                  <a:lnTo>
                    <a:pt x="65094" y="466231"/>
                  </a:lnTo>
                  <a:cubicBezTo>
                    <a:pt x="47830" y="466231"/>
                    <a:pt x="31273" y="459373"/>
                    <a:pt x="19066" y="447165"/>
                  </a:cubicBezTo>
                  <a:cubicBezTo>
                    <a:pt x="6858" y="434958"/>
                    <a:pt x="0" y="418401"/>
                    <a:pt x="0" y="401137"/>
                  </a:cubicBezTo>
                  <a:lnTo>
                    <a:pt x="0" y="65094"/>
                  </a:lnTo>
                  <a:cubicBezTo>
                    <a:pt x="0" y="47830"/>
                    <a:pt x="6858" y="31273"/>
                    <a:pt x="19066" y="19066"/>
                  </a:cubicBezTo>
                  <a:cubicBezTo>
                    <a:pt x="31273" y="6858"/>
                    <a:pt x="47830" y="0"/>
                    <a:pt x="65094" y="0"/>
                  </a:cubicBezTo>
                  <a:close/>
                </a:path>
              </a:pathLst>
            </a:custGeom>
            <a:solidFill>
              <a:srgbClr val="FF8B54"/>
            </a:solidFill>
            <a:ln w="38100" cap="rnd">
              <a:solidFill>
                <a:srgbClr val="000000"/>
              </a:solidFill>
              <a:prstDash val="solid"/>
              <a:round/>
            </a:ln>
          </p:spPr>
        </p:sp>
        <p:sp>
          <p:nvSpPr>
            <p:cNvPr name="TextBox 4" id="4"/>
            <p:cNvSpPr txBox="true"/>
            <p:nvPr/>
          </p:nvSpPr>
          <p:spPr>
            <a:xfrm>
              <a:off x="0" y="19050"/>
              <a:ext cx="3132438" cy="447181"/>
            </a:xfrm>
            <a:prstGeom prst="rect">
              <a:avLst/>
            </a:prstGeom>
          </p:spPr>
          <p:txBody>
            <a:bodyPr anchor="ctr" rtlCol="false" tIns="50800" lIns="50800" bIns="50800" rIns="50800"/>
            <a:lstStyle/>
            <a:p>
              <a:pPr algn="ctr">
                <a:lnSpc>
                  <a:spcPts val="2694"/>
                </a:lnSpc>
              </a:pPr>
            </a:p>
          </p:txBody>
        </p:sp>
      </p:grpSp>
      <p:sp>
        <p:nvSpPr>
          <p:cNvPr name="Freeform 5" id="5"/>
          <p:cNvSpPr/>
          <p:nvPr/>
        </p:nvSpPr>
        <p:spPr>
          <a:xfrm flipH="false" flipV="false" rot="-1004402">
            <a:off x="1541751" y="990081"/>
            <a:ext cx="388078" cy="3617679"/>
          </a:xfrm>
          <a:custGeom>
            <a:avLst/>
            <a:gdLst/>
            <a:ahLst/>
            <a:cxnLst/>
            <a:rect r="r" b="b" t="t" l="l"/>
            <a:pathLst>
              <a:path h="3617679" w="388078">
                <a:moveTo>
                  <a:pt x="0" y="0"/>
                </a:moveTo>
                <a:lnTo>
                  <a:pt x="388078" y="0"/>
                </a:lnTo>
                <a:lnTo>
                  <a:pt x="388078" y="3617679"/>
                </a:lnTo>
                <a:lnTo>
                  <a:pt x="0" y="36176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63353">
            <a:off x="15222859" y="867697"/>
            <a:ext cx="2468202" cy="2490847"/>
          </a:xfrm>
          <a:custGeom>
            <a:avLst/>
            <a:gdLst/>
            <a:ahLst/>
            <a:cxnLst/>
            <a:rect r="r" b="b" t="t" l="l"/>
            <a:pathLst>
              <a:path h="2490847" w="2468202">
                <a:moveTo>
                  <a:pt x="0" y="0"/>
                </a:moveTo>
                <a:lnTo>
                  <a:pt x="2468202" y="0"/>
                </a:lnTo>
                <a:lnTo>
                  <a:pt x="2468202" y="2490846"/>
                </a:lnTo>
                <a:lnTo>
                  <a:pt x="0" y="24908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29676">
            <a:off x="2575682" y="604111"/>
            <a:ext cx="456626" cy="1550274"/>
          </a:xfrm>
          <a:custGeom>
            <a:avLst/>
            <a:gdLst/>
            <a:ahLst/>
            <a:cxnLst/>
            <a:rect r="r" b="b" t="t" l="l"/>
            <a:pathLst>
              <a:path h="1550274" w="456626">
                <a:moveTo>
                  <a:pt x="0" y="0"/>
                </a:moveTo>
                <a:lnTo>
                  <a:pt x="456626" y="0"/>
                </a:lnTo>
                <a:lnTo>
                  <a:pt x="456626" y="1550274"/>
                </a:lnTo>
                <a:lnTo>
                  <a:pt x="0" y="15502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610568" y="3434517"/>
            <a:ext cx="17066863" cy="6502515"/>
            <a:chOff x="0" y="0"/>
            <a:chExt cx="4494976" cy="1712597"/>
          </a:xfrm>
        </p:grpSpPr>
        <p:sp>
          <p:nvSpPr>
            <p:cNvPr name="Freeform 9" id="9"/>
            <p:cNvSpPr/>
            <p:nvPr/>
          </p:nvSpPr>
          <p:spPr>
            <a:xfrm flipH="false" flipV="false" rot="0">
              <a:off x="0" y="0"/>
              <a:ext cx="4494976" cy="1712597"/>
            </a:xfrm>
            <a:custGeom>
              <a:avLst/>
              <a:gdLst/>
              <a:ahLst/>
              <a:cxnLst/>
              <a:rect r="r" b="b" t="t" l="l"/>
              <a:pathLst>
                <a:path h="1712597" w="4494976">
                  <a:moveTo>
                    <a:pt x="0" y="0"/>
                  </a:moveTo>
                  <a:lnTo>
                    <a:pt x="4494976" y="0"/>
                  </a:lnTo>
                  <a:lnTo>
                    <a:pt x="4494976" y="1712597"/>
                  </a:lnTo>
                  <a:lnTo>
                    <a:pt x="0" y="1712597"/>
                  </a:lnTo>
                  <a:close/>
                </a:path>
              </a:pathLst>
            </a:custGeom>
            <a:solidFill>
              <a:srgbClr val="FFFFFF"/>
            </a:solidFill>
            <a:ln w="38100" cap="sq">
              <a:solidFill>
                <a:srgbClr val="000000"/>
              </a:solidFill>
              <a:prstDash val="solid"/>
              <a:miter/>
            </a:ln>
          </p:spPr>
        </p:sp>
        <p:sp>
          <p:nvSpPr>
            <p:cNvPr name="TextBox 10" id="10"/>
            <p:cNvSpPr txBox="true"/>
            <p:nvPr/>
          </p:nvSpPr>
          <p:spPr>
            <a:xfrm>
              <a:off x="0" y="19050"/>
              <a:ext cx="4494976" cy="1693547"/>
            </a:xfrm>
            <a:prstGeom prst="rect">
              <a:avLst/>
            </a:prstGeom>
          </p:spPr>
          <p:txBody>
            <a:bodyPr anchor="ctr" rtlCol="false" tIns="50800" lIns="50800" bIns="50800" rIns="50800"/>
            <a:lstStyle/>
            <a:p>
              <a:pPr algn="ctr">
                <a:lnSpc>
                  <a:spcPts val="2694"/>
                </a:lnSpc>
              </a:pPr>
            </a:p>
          </p:txBody>
        </p:sp>
      </p:grpSp>
      <p:sp>
        <p:nvSpPr>
          <p:cNvPr name="TextBox 11" id="11"/>
          <p:cNvSpPr txBox="true"/>
          <p:nvPr/>
        </p:nvSpPr>
        <p:spPr>
          <a:xfrm rot="0">
            <a:off x="3597228" y="1627028"/>
            <a:ext cx="11333665" cy="857885"/>
          </a:xfrm>
          <a:prstGeom prst="rect">
            <a:avLst/>
          </a:prstGeom>
        </p:spPr>
        <p:txBody>
          <a:bodyPr anchor="t" rtlCol="false" tIns="0" lIns="0" bIns="0" rIns="0">
            <a:spAutoFit/>
          </a:bodyPr>
          <a:lstStyle/>
          <a:p>
            <a:pPr algn="ctr" marL="0" indent="0" lvl="0">
              <a:lnSpc>
                <a:spcPts val="6399"/>
              </a:lnSpc>
              <a:spcBef>
                <a:spcPct val="0"/>
              </a:spcBef>
            </a:pPr>
            <a:r>
              <a:rPr lang="en-US" sz="6399">
                <a:solidFill>
                  <a:srgbClr val="000000"/>
                </a:solidFill>
                <a:latin typeface="ไอติม"/>
                <a:ea typeface="ไอติม"/>
                <a:cs typeface="ไอติม"/>
                <a:sym typeface="ไอติม"/>
              </a:rPr>
              <a:t>KEY TAKEAWAYS-</a:t>
            </a:r>
            <a:r>
              <a:rPr lang="en-US" sz="6399">
                <a:solidFill>
                  <a:srgbClr val="000000"/>
                </a:solidFill>
                <a:latin typeface="ไอติม"/>
                <a:ea typeface="ไอติม"/>
                <a:cs typeface="ไอติม"/>
                <a:sym typeface="ไอติม"/>
              </a:rPr>
              <a:t>สรุปสิ่งที่ควรจำ</a:t>
            </a:r>
          </a:p>
        </p:txBody>
      </p:sp>
      <p:grpSp>
        <p:nvGrpSpPr>
          <p:cNvPr name="Group 12" id="12"/>
          <p:cNvGrpSpPr/>
          <p:nvPr/>
        </p:nvGrpSpPr>
        <p:grpSpPr>
          <a:xfrm rot="0">
            <a:off x="951852" y="3206448"/>
            <a:ext cx="16443717" cy="6210841"/>
            <a:chOff x="0" y="0"/>
            <a:chExt cx="21924957" cy="8281121"/>
          </a:xfrm>
        </p:grpSpPr>
        <p:grpSp>
          <p:nvGrpSpPr>
            <p:cNvPr name="Group 13" id="13"/>
            <p:cNvGrpSpPr/>
            <p:nvPr/>
          </p:nvGrpSpPr>
          <p:grpSpPr>
            <a:xfrm rot="0">
              <a:off x="97310" y="7495302"/>
              <a:ext cx="5878451" cy="785819"/>
              <a:chOff x="0" y="0"/>
              <a:chExt cx="1161176" cy="155223"/>
            </a:xfrm>
          </p:grpSpPr>
          <p:sp>
            <p:nvSpPr>
              <p:cNvPr name="Freeform 14" id="14"/>
              <p:cNvSpPr/>
              <p:nvPr/>
            </p:nvSpPr>
            <p:spPr>
              <a:xfrm flipH="false" flipV="false" rot="0">
                <a:off x="0" y="0"/>
                <a:ext cx="1161176" cy="155223"/>
              </a:xfrm>
              <a:custGeom>
                <a:avLst/>
                <a:gdLst/>
                <a:ahLst/>
                <a:cxnLst/>
                <a:rect r="r" b="b" t="t" l="l"/>
                <a:pathLst>
                  <a:path h="155223" w="1161176">
                    <a:moveTo>
                      <a:pt x="77612" y="0"/>
                    </a:moveTo>
                    <a:lnTo>
                      <a:pt x="1083564" y="0"/>
                    </a:lnTo>
                    <a:cubicBezTo>
                      <a:pt x="1126428" y="0"/>
                      <a:pt x="1161176" y="34748"/>
                      <a:pt x="1161176" y="77612"/>
                    </a:cubicBezTo>
                    <a:lnTo>
                      <a:pt x="1161176" y="77612"/>
                    </a:lnTo>
                    <a:cubicBezTo>
                      <a:pt x="1161176" y="120476"/>
                      <a:pt x="1126428" y="155223"/>
                      <a:pt x="1083564" y="155223"/>
                    </a:cubicBezTo>
                    <a:lnTo>
                      <a:pt x="77612" y="155223"/>
                    </a:lnTo>
                    <a:cubicBezTo>
                      <a:pt x="34748" y="155223"/>
                      <a:pt x="0" y="120476"/>
                      <a:pt x="0" y="77612"/>
                    </a:cubicBezTo>
                    <a:lnTo>
                      <a:pt x="0" y="77612"/>
                    </a:lnTo>
                    <a:cubicBezTo>
                      <a:pt x="0" y="34748"/>
                      <a:pt x="34748" y="0"/>
                      <a:pt x="77612" y="0"/>
                    </a:cubicBezTo>
                    <a:close/>
                  </a:path>
                </a:pathLst>
              </a:custGeom>
              <a:solidFill>
                <a:srgbClr val="FFD9E1"/>
              </a:solidFill>
              <a:ln cap="rnd">
                <a:noFill/>
                <a:prstDash val="solid"/>
                <a:round/>
              </a:ln>
            </p:spPr>
          </p:sp>
          <p:sp>
            <p:nvSpPr>
              <p:cNvPr name="TextBox 15" id="15"/>
              <p:cNvSpPr txBox="true"/>
              <p:nvPr/>
            </p:nvSpPr>
            <p:spPr>
              <a:xfrm>
                <a:off x="0" y="19050"/>
                <a:ext cx="1161176" cy="136173"/>
              </a:xfrm>
              <a:prstGeom prst="rect">
                <a:avLst/>
              </a:prstGeom>
            </p:spPr>
            <p:txBody>
              <a:bodyPr anchor="ctr" rtlCol="false" tIns="50800" lIns="50800" bIns="50800" rIns="50800"/>
              <a:lstStyle/>
              <a:p>
                <a:pPr algn="ctr">
                  <a:lnSpc>
                    <a:spcPts val="2694"/>
                  </a:lnSpc>
                </a:pPr>
              </a:p>
            </p:txBody>
          </p:sp>
        </p:grpSp>
        <p:grpSp>
          <p:nvGrpSpPr>
            <p:cNvPr name="Group 16" id="16"/>
            <p:cNvGrpSpPr/>
            <p:nvPr/>
          </p:nvGrpSpPr>
          <p:grpSpPr>
            <a:xfrm rot="0">
              <a:off x="98604" y="5634632"/>
              <a:ext cx="3306404" cy="755248"/>
              <a:chOff x="0" y="0"/>
              <a:chExt cx="653117" cy="149185"/>
            </a:xfrm>
          </p:grpSpPr>
          <p:sp>
            <p:nvSpPr>
              <p:cNvPr name="Freeform 17" id="17"/>
              <p:cNvSpPr/>
              <p:nvPr/>
            </p:nvSpPr>
            <p:spPr>
              <a:xfrm flipH="false" flipV="false" rot="0">
                <a:off x="0" y="0"/>
                <a:ext cx="653117" cy="149185"/>
              </a:xfrm>
              <a:custGeom>
                <a:avLst/>
                <a:gdLst/>
                <a:ahLst/>
                <a:cxnLst/>
                <a:rect r="r" b="b" t="t" l="l"/>
                <a:pathLst>
                  <a:path h="149185" w="653117">
                    <a:moveTo>
                      <a:pt x="74592" y="0"/>
                    </a:moveTo>
                    <a:lnTo>
                      <a:pt x="578524" y="0"/>
                    </a:lnTo>
                    <a:cubicBezTo>
                      <a:pt x="619721" y="0"/>
                      <a:pt x="653117" y="33396"/>
                      <a:pt x="653117" y="74592"/>
                    </a:cubicBezTo>
                    <a:lnTo>
                      <a:pt x="653117" y="74592"/>
                    </a:lnTo>
                    <a:cubicBezTo>
                      <a:pt x="653117" y="115789"/>
                      <a:pt x="619721" y="149185"/>
                      <a:pt x="578524" y="149185"/>
                    </a:cubicBezTo>
                    <a:lnTo>
                      <a:pt x="74592" y="149185"/>
                    </a:lnTo>
                    <a:cubicBezTo>
                      <a:pt x="33396" y="149185"/>
                      <a:pt x="0" y="115789"/>
                      <a:pt x="0" y="74592"/>
                    </a:cubicBezTo>
                    <a:lnTo>
                      <a:pt x="0" y="74592"/>
                    </a:lnTo>
                    <a:cubicBezTo>
                      <a:pt x="0" y="33396"/>
                      <a:pt x="33396" y="0"/>
                      <a:pt x="74592" y="0"/>
                    </a:cubicBezTo>
                    <a:close/>
                  </a:path>
                </a:pathLst>
              </a:custGeom>
              <a:solidFill>
                <a:srgbClr val="FFD9E1"/>
              </a:solidFill>
              <a:ln cap="rnd">
                <a:noFill/>
                <a:prstDash val="solid"/>
                <a:round/>
              </a:ln>
            </p:spPr>
          </p:sp>
          <p:sp>
            <p:nvSpPr>
              <p:cNvPr name="TextBox 18" id="18"/>
              <p:cNvSpPr txBox="true"/>
              <p:nvPr/>
            </p:nvSpPr>
            <p:spPr>
              <a:xfrm>
                <a:off x="0" y="19050"/>
                <a:ext cx="653117" cy="130135"/>
              </a:xfrm>
              <a:prstGeom prst="rect">
                <a:avLst/>
              </a:prstGeom>
            </p:spPr>
            <p:txBody>
              <a:bodyPr anchor="ctr" rtlCol="false" tIns="50800" lIns="50800" bIns="50800" rIns="50800"/>
              <a:lstStyle/>
              <a:p>
                <a:pPr algn="ctr">
                  <a:lnSpc>
                    <a:spcPts val="2694"/>
                  </a:lnSpc>
                </a:pPr>
              </a:p>
            </p:txBody>
          </p:sp>
        </p:grpSp>
        <p:grpSp>
          <p:nvGrpSpPr>
            <p:cNvPr name="Group 19" id="19"/>
            <p:cNvGrpSpPr/>
            <p:nvPr/>
          </p:nvGrpSpPr>
          <p:grpSpPr>
            <a:xfrm rot="0">
              <a:off x="98604" y="6534396"/>
              <a:ext cx="3486357" cy="755248"/>
              <a:chOff x="0" y="0"/>
              <a:chExt cx="688663" cy="149185"/>
            </a:xfrm>
          </p:grpSpPr>
          <p:sp>
            <p:nvSpPr>
              <p:cNvPr name="Freeform 20" id="20"/>
              <p:cNvSpPr/>
              <p:nvPr/>
            </p:nvSpPr>
            <p:spPr>
              <a:xfrm flipH="false" flipV="false" rot="0">
                <a:off x="0" y="0"/>
                <a:ext cx="688663" cy="149185"/>
              </a:xfrm>
              <a:custGeom>
                <a:avLst/>
                <a:gdLst/>
                <a:ahLst/>
                <a:cxnLst/>
                <a:rect r="r" b="b" t="t" l="l"/>
                <a:pathLst>
                  <a:path h="149185" w="688663">
                    <a:moveTo>
                      <a:pt x="74592" y="0"/>
                    </a:moveTo>
                    <a:lnTo>
                      <a:pt x="614071" y="0"/>
                    </a:lnTo>
                    <a:cubicBezTo>
                      <a:pt x="655267" y="0"/>
                      <a:pt x="688663" y="33396"/>
                      <a:pt x="688663" y="74592"/>
                    </a:cubicBezTo>
                    <a:lnTo>
                      <a:pt x="688663" y="74592"/>
                    </a:lnTo>
                    <a:cubicBezTo>
                      <a:pt x="688663" y="115789"/>
                      <a:pt x="655267" y="149185"/>
                      <a:pt x="614071" y="149185"/>
                    </a:cubicBezTo>
                    <a:lnTo>
                      <a:pt x="74592" y="149185"/>
                    </a:lnTo>
                    <a:cubicBezTo>
                      <a:pt x="33396" y="149185"/>
                      <a:pt x="0" y="115789"/>
                      <a:pt x="0" y="74592"/>
                    </a:cubicBezTo>
                    <a:lnTo>
                      <a:pt x="0" y="74592"/>
                    </a:lnTo>
                    <a:cubicBezTo>
                      <a:pt x="0" y="33396"/>
                      <a:pt x="33396" y="0"/>
                      <a:pt x="74592" y="0"/>
                    </a:cubicBezTo>
                    <a:close/>
                  </a:path>
                </a:pathLst>
              </a:custGeom>
              <a:solidFill>
                <a:srgbClr val="FFD9E1"/>
              </a:solidFill>
              <a:ln cap="rnd">
                <a:noFill/>
                <a:prstDash val="solid"/>
                <a:round/>
              </a:ln>
            </p:spPr>
          </p:sp>
          <p:sp>
            <p:nvSpPr>
              <p:cNvPr name="TextBox 21" id="21"/>
              <p:cNvSpPr txBox="true"/>
              <p:nvPr/>
            </p:nvSpPr>
            <p:spPr>
              <a:xfrm>
                <a:off x="0" y="19050"/>
                <a:ext cx="688663" cy="130135"/>
              </a:xfrm>
              <a:prstGeom prst="rect">
                <a:avLst/>
              </a:prstGeom>
            </p:spPr>
            <p:txBody>
              <a:bodyPr anchor="ctr" rtlCol="false" tIns="50800" lIns="50800" bIns="50800" rIns="50800"/>
              <a:lstStyle/>
              <a:p>
                <a:pPr algn="ctr">
                  <a:lnSpc>
                    <a:spcPts val="2694"/>
                  </a:lnSpc>
                </a:pPr>
              </a:p>
            </p:txBody>
          </p:sp>
        </p:grpSp>
        <p:grpSp>
          <p:nvGrpSpPr>
            <p:cNvPr name="Group 22" id="22"/>
            <p:cNvGrpSpPr/>
            <p:nvPr/>
          </p:nvGrpSpPr>
          <p:grpSpPr>
            <a:xfrm rot="0">
              <a:off x="101064" y="3837565"/>
              <a:ext cx="4386120" cy="755248"/>
              <a:chOff x="0" y="0"/>
              <a:chExt cx="866394" cy="149185"/>
            </a:xfrm>
          </p:grpSpPr>
          <p:sp>
            <p:nvSpPr>
              <p:cNvPr name="Freeform 23" id="23"/>
              <p:cNvSpPr/>
              <p:nvPr/>
            </p:nvSpPr>
            <p:spPr>
              <a:xfrm flipH="false" flipV="false" rot="0">
                <a:off x="0" y="0"/>
                <a:ext cx="866394" cy="149185"/>
              </a:xfrm>
              <a:custGeom>
                <a:avLst/>
                <a:gdLst/>
                <a:ahLst/>
                <a:cxnLst/>
                <a:rect r="r" b="b" t="t" l="l"/>
                <a:pathLst>
                  <a:path h="149185" w="866394">
                    <a:moveTo>
                      <a:pt x="74592" y="0"/>
                    </a:moveTo>
                    <a:lnTo>
                      <a:pt x="791802" y="0"/>
                    </a:lnTo>
                    <a:cubicBezTo>
                      <a:pt x="832998" y="0"/>
                      <a:pt x="866394" y="33396"/>
                      <a:pt x="866394" y="74592"/>
                    </a:cubicBezTo>
                    <a:lnTo>
                      <a:pt x="866394" y="74592"/>
                    </a:lnTo>
                    <a:cubicBezTo>
                      <a:pt x="866394" y="115789"/>
                      <a:pt x="832998" y="149185"/>
                      <a:pt x="791802" y="149185"/>
                    </a:cubicBezTo>
                    <a:lnTo>
                      <a:pt x="74592" y="149185"/>
                    </a:lnTo>
                    <a:cubicBezTo>
                      <a:pt x="33396" y="149185"/>
                      <a:pt x="0" y="115789"/>
                      <a:pt x="0" y="74592"/>
                    </a:cubicBezTo>
                    <a:lnTo>
                      <a:pt x="0" y="74592"/>
                    </a:lnTo>
                    <a:cubicBezTo>
                      <a:pt x="0" y="33396"/>
                      <a:pt x="33396" y="0"/>
                      <a:pt x="74592" y="0"/>
                    </a:cubicBezTo>
                    <a:close/>
                  </a:path>
                </a:pathLst>
              </a:custGeom>
              <a:solidFill>
                <a:srgbClr val="FFD9E1"/>
              </a:solidFill>
              <a:ln cap="rnd">
                <a:noFill/>
                <a:prstDash val="solid"/>
                <a:round/>
              </a:ln>
            </p:spPr>
          </p:sp>
          <p:sp>
            <p:nvSpPr>
              <p:cNvPr name="TextBox 24" id="24"/>
              <p:cNvSpPr txBox="true"/>
              <p:nvPr/>
            </p:nvSpPr>
            <p:spPr>
              <a:xfrm>
                <a:off x="0" y="19050"/>
                <a:ext cx="866394" cy="130135"/>
              </a:xfrm>
              <a:prstGeom prst="rect">
                <a:avLst/>
              </a:prstGeom>
            </p:spPr>
            <p:txBody>
              <a:bodyPr anchor="ctr" rtlCol="false" tIns="50800" lIns="50800" bIns="50800" rIns="50800"/>
              <a:lstStyle/>
              <a:p>
                <a:pPr algn="ctr">
                  <a:lnSpc>
                    <a:spcPts val="2694"/>
                  </a:lnSpc>
                </a:pPr>
              </a:p>
            </p:txBody>
          </p:sp>
        </p:grpSp>
        <p:grpSp>
          <p:nvGrpSpPr>
            <p:cNvPr name="Group 25" id="25"/>
            <p:cNvGrpSpPr/>
            <p:nvPr/>
          </p:nvGrpSpPr>
          <p:grpSpPr>
            <a:xfrm rot="0">
              <a:off x="119516" y="868211"/>
              <a:ext cx="4531260" cy="756229"/>
              <a:chOff x="0" y="0"/>
              <a:chExt cx="895064" cy="149379"/>
            </a:xfrm>
          </p:grpSpPr>
          <p:sp>
            <p:nvSpPr>
              <p:cNvPr name="Freeform 26" id="26"/>
              <p:cNvSpPr/>
              <p:nvPr/>
            </p:nvSpPr>
            <p:spPr>
              <a:xfrm flipH="false" flipV="false" rot="0">
                <a:off x="0" y="0"/>
                <a:ext cx="895064" cy="149379"/>
              </a:xfrm>
              <a:custGeom>
                <a:avLst/>
                <a:gdLst/>
                <a:ahLst/>
                <a:cxnLst/>
                <a:rect r="r" b="b" t="t" l="l"/>
                <a:pathLst>
                  <a:path h="149379" w="895064">
                    <a:moveTo>
                      <a:pt x="74689" y="0"/>
                    </a:moveTo>
                    <a:lnTo>
                      <a:pt x="820374" y="0"/>
                    </a:lnTo>
                    <a:cubicBezTo>
                      <a:pt x="840183" y="0"/>
                      <a:pt x="859181" y="7869"/>
                      <a:pt x="873188" y="21876"/>
                    </a:cubicBezTo>
                    <a:cubicBezTo>
                      <a:pt x="887195" y="35883"/>
                      <a:pt x="895064" y="54880"/>
                      <a:pt x="895064" y="74689"/>
                    </a:cubicBezTo>
                    <a:lnTo>
                      <a:pt x="895064" y="74689"/>
                    </a:lnTo>
                    <a:cubicBezTo>
                      <a:pt x="895064" y="115939"/>
                      <a:pt x="861624" y="149379"/>
                      <a:pt x="820374" y="149379"/>
                    </a:cubicBezTo>
                    <a:lnTo>
                      <a:pt x="74689" y="149379"/>
                    </a:lnTo>
                    <a:cubicBezTo>
                      <a:pt x="54880" y="149379"/>
                      <a:pt x="35883" y="141509"/>
                      <a:pt x="21876" y="127503"/>
                    </a:cubicBezTo>
                    <a:cubicBezTo>
                      <a:pt x="7869" y="113496"/>
                      <a:pt x="0" y="94498"/>
                      <a:pt x="0" y="74689"/>
                    </a:cubicBezTo>
                    <a:lnTo>
                      <a:pt x="0" y="74689"/>
                    </a:lnTo>
                    <a:cubicBezTo>
                      <a:pt x="0" y="54880"/>
                      <a:pt x="7869" y="35883"/>
                      <a:pt x="21876" y="21876"/>
                    </a:cubicBezTo>
                    <a:cubicBezTo>
                      <a:pt x="35883" y="7869"/>
                      <a:pt x="54880" y="0"/>
                      <a:pt x="74689" y="0"/>
                    </a:cubicBezTo>
                    <a:close/>
                  </a:path>
                </a:pathLst>
              </a:custGeom>
              <a:solidFill>
                <a:srgbClr val="FFD9E1"/>
              </a:solidFill>
              <a:ln cap="rnd">
                <a:noFill/>
                <a:prstDash val="solid"/>
                <a:round/>
              </a:ln>
            </p:spPr>
          </p:sp>
          <p:sp>
            <p:nvSpPr>
              <p:cNvPr name="TextBox 27" id="27"/>
              <p:cNvSpPr txBox="true"/>
              <p:nvPr/>
            </p:nvSpPr>
            <p:spPr>
              <a:xfrm>
                <a:off x="0" y="19050"/>
                <a:ext cx="895064" cy="130329"/>
              </a:xfrm>
              <a:prstGeom prst="rect">
                <a:avLst/>
              </a:prstGeom>
            </p:spPr>
            <p:txBody>
              <a:bodyPr anchor="ctr" rtlCol="false" tIns="50800" lIns="50800" bIns="50800" rIns="50800"/>
              <a:lstStyle/>
              <a:p>
                <a:pPr algn="ctr">
                  <a:lnSpc>
                    <a:spcPts val="2694"/>
                  </a:lnSpc>
                </a:pPr>
              </a:p>
            </p:txBody>
          </p:sp>
        </p:grpSp>
        <p:grpSp>
          <p:nvGrpSpPr>
            <p:cNvPr name="Group 28" id="28"/>
            <p:cNvGrpSpPr/>
            <p:nvPr/>
          </p:nvGrpSpPr>
          <p:grpSpPr>
            <a:xfrm rot="0">
              <a:off x="119516" y="1766525"/>
              <a:ext cx="2265630" cy="809781"/>
              <a:chOff x="0" y="0"/>
              <a:chExt cx="447532" cy="159957"/>
            </a:xfrm>
          </p:grpSpPr>
          <p:sp>
            <p:nvSpPr>
              <p:cNvPr name="Freeform 29" id="29"/>
              <p:cNvSpPr/>
              <p:nvPr/>
            </p:nvSpPr>
            <p:spPr>
              <a:xfrm flipH="false" flipV="false" rot="0">
                <a:off x="0" y="0"/>
                <a:ext cx="447532" cy="159957"/>
              </a:xfrm>
              <a:custGeom>
                <a:avLst/>
                <a:gdLst/>
                <a:ahLst/>
                <a:cxnLst/>
                <a:rect r="r" b="b" t="t" l="l"/>
                <a:pathLst>
                  <a:path h="159957" w="447532">
                    <a:moveTo>
                      <a:pt x="79978" y="0"/>
                    </a:moveTo>
                    <a:lnTo>
                      <a:pt x="367554" y="0"/>
                    </a:lnTo>
                    <a:cubicBezTo>
                      <a:pt x="411724" y="0"/>
                      <a:pt x="447532" y="35808"/>
                      <a:pt x="447532" y="79978"/>
                    </a:cubicBezTo>
                    <a:lnTo>
                      <a:pt x="447532" y="79978"/>
                    </a:lnTo>
                    <a:cubicBezTo>
                      <a:pt x="447532" y="101190"/>
                      <a:pt x="439106" y="121533"/>
                      <a:pt x="424107" y="136532"/>
                    </a:cubicBezTo>
                    <a:cubicBezTo>
                      <a:pt x="409108" y="151530"/>
                      <a:pt x="388765" y="159957"/>
                      <a:pt x="367554" y="159957"/>
                    </a:cubicBezTo>
                    <a:lnTo>
                      <a:pt x="79978" y="159957"/>
                    </a:lnTo>
                    <a:cubicBezTo>
                      <a:pt x="35808" y="159957"/>
                      <a:pt x="0" y="124149"/>
                      <a:pt x="0" y="79978"/>
                    </a:cubicBezTo>
                    <a:lnTo>
                      <a:pt x="0" y="79978"/>
                    </a:lnTo>
                    <a:cubicBezTo>
                      <a:pt x="0" y="35808"/>
                      <a:pt x="35808" y="0"/>
                      <a:pt x="79978" y="0"/>
                    </a:cubicBezTo>
                    <a:close/>
                  </a:path>
                </a:pathLst>
              </a:custGeom>
              <a:solidFill>
                <a:srgbClr val="FFD9E1"/>
              </a:solidFill>
              <a:ln cap="rnd">
                <a:noFill/>
                <a:prstDash val="solid"/>
                <a:round/>
              </a:ln>
            </p:spPr>
          </p:sp>
          <p:sp>
            <p:nvSpPr>
              <p:cNvPr name="TextBox 30" id="30"/>
              <p:cNvSpPr txBox="true"/>
              <p:nvPr/>
            </p:nvSpPr>
            <p:spPr>
              <a:xfrm>
                <a:off x="0" y="19050"/>
                <a:ext cx="447532" cy="140907"/>
              </a:xfrm>
              <a:prstGeom prst="rect">
                <a:avLst/>
              </a:prstGeom>
            </p:spPr>
            <p:txBody>
              <a:bodyPr anchor="ctr" rtlCol="false" tIns="50800" lIns="50800" bIns="50800" rIns="50800"/>
              <a:lstStyle/>
              <a:p>
                <a:pPr algn="ctr">
                  <a:lnSpc>
                    <a:spcPts val="2694"/>
                  </a:lnSpc>
                </a:pPr>
              </a:p>
            </p:txBody>
          </p:sp>
        </p:grpSp>
        <p:grpSp>
          <p:nvGrpSpPr>
            <p:cNvPr name="Group 31" id="31"/>
            <p:cNvGrpSpPr/>
            <p:nvPr/>
          </p:nvGrpSpPr>
          <p:grpSpPr>
            <a:xfrm rot="0">
              <a:off x="101064" y="2828317"/>
              <a:ext cx="2156564" cy="846136"/>
              <a:chOff x="0" y="0"/>
              <a:chExt cx="425988" cy="167138"/>
            </a:xfrm>
          </p:grpSpPr>
          <p:sp>
            <p:nvSpPr>
              <p:cNvPr name="Freeform 32" id="32"/>
              <p:cNvSpPr/>
              <p:nvPr/>
            </p:nvSpPr>
            <p:spPr>
              <a:xfrm flipH="false" flipV="false" rot="0">
                <a:off x="0" y="0"/>
                <a:ext cx="425988" cy="167138"/>
              </a:xfrm>
              <a:custGeom>
                <a:avLst/>
                <a:gdLst/>
                <a:ahLst/>
                <a:cxnLst/>
                <a:rect r="r" b="b" t="t" l="l"/>
                <a:pathLst>
                  <a:path h="167138" w="425988">
                    <a:moveTo>
                      <a:pt x="83569" y="0"/>
                    </a:moveTo>
                    <a:lnTo>
                      <a:pt x="342419" y="0"/>
                    </a:lnTo>
                    <a:cubicBezTo>
                      <a:pt x="364583" y="0"/>
                      <a:pt x="385839" y="8805"/>
                      <a:pt x="401511" y="24477"/>
                    </a:cubicBezTo>
                    <a:cubicBezTo>
                      <a:pt x="417183" y="40149"/>
                      <a:pt x="425988" y="61405"/>
                      <a:pt x="425988" y="83569"/>
                    </a:cubicBezTo>
                    <a:lnTo>
                      <a:pt x="425988" y="83569"/>
                    </a:lnTo>
                    <a:cubicBezTo>
                      <a:pt x="425988" y="105733"/>
                      <a:pt x="417183" y="126989"/>
                      <a:pt x="401511" y="142661"/>
                    </a:cubicBezTo>
                    <a:cubicBezTo>
                      <a:pt x="385839" y="158333"/>
                      <a:pt x="364583" y="167138"/>
                      <a:pt x="342419" y="167138"/>
                    </a:cubicBezTo>
                    <a:lnTo>
                      <a:pt x="83569" y="167138"/>
                    </a:lnTo>
                    <a:cubicBezTo>
                      <a:pt x="61405" y="167138"/>
                      <a:pt x="40149" y="158333"/>
                      <a:pt x="24477" y="142661"/>
                    </a:cubicBezTo>
                    <a:cubicBezTo>
                      <a:pt x="8805" y="126989"/>
                      <a:pt x="0" y="105733"/>
                      <a:pt x="0" y="83569"/>
                    </a:cubicBezTo>
                    <a:lnTo>
                      <a:pt x="0" y="83569"/>
                    </a:lnTo>
                    <a:cubicBezTo>
                      <a:pt x="0" y="61405"/>
                      <a:pt x="8805" y="40149"/>
                      <a:pt x="24477" y="24477"/>
                    </a:cubicBezTo>
                    <a:cubicBezTo>
                      <a:pt x="40149" y="8805"/>
                      <a:pt x="61405" y="0"/>
                      <a:pt x="83569" y="0"/>
                    </a:cubicBezTo>
                    <a:close/>
                  </a:path>
                </a:pathLst>
              </a:custGeom>
              <a:solidFill>
                <a:srgbClr val="FFD9E1"/>
              </a:solidFill>
              <a:ln cap="rnd">
                <a:noFill/>
                <a:prstDash val="solid"/>
                <a:round/>
              </a:ln>
            </p:spPr>
          </p:sp>
          <p:sp>
            <p:nvSpPr>
              <p:cNvPr name="TextBox 33" id="33"/>
              <p:cNvSpPr txBox="true"/>
              <p:nvPr/>
            </p:nvSpPr>
            <p:spPr>
              <a:xfrm>
                <a:off x="0" y="19050"/>
                <a:ext cx="425988" cy="148088"/>
              </a:xfrm>
              <a:prstGeom prst="rect">
                <a:avLst/>
              </a:prstGeom>
            </p:spPr>
            <p:txBody>
              <a:bodyPr anchor="ctr" rtlCol="false" tIns="50800" lIns="50800" bIns="50800" rIns="50800"/>
              <a:lstStyle/>
              <a:p>
                <a:pPr algn="ctr">
                  <a:lnSpc>
                    <a:spcPts val="2694"/>
                  </a:lnSpc>
                </a:pPr>
              </a:p>
            </p:txBody>
          </p:sp>
        </p:grpSp>
        <p:sp>
          <p:nvSpPr>
            <p:cNvPr name="TextBox 34" id="34"/>
            <p:cNvSpPr txBox="true"/>
            <p:nvPr/>
          </p:nvSpPr>
          <p:spPr>
            <a:xfrm rot="0">
              <a:off x="0" y="-209550"/>
              <a:ext cx="21924957" cy="8373048"/>
            </a:xfrm>
            <a:prstGeom prst="rect">
              <a:avLst/>
            </a:prstGeom>
          </p:spPr>
          <p:txBody>
            <a:bodyPr anchor="t" rtlCol="false" tIns="0" lIns="0" bIns="0" rIns="0">
              <a:spAutoFit/>
            </a:bodyPr>
            <a:lstStyle/>
            <a:p>
              <a:pPr algn="l">
                <a:lnSpc>
                  <a:spcPts val="5603"/>
                </a:lnSpc>
              </a:pPr>
            </a:p>
            <a:p>
              <a:pPr algn="l" marL="614156" indent="-307078" lvl="1">
                <a:lnSpc>
                  <a:spcPts val="5603"/>
                </a:lnSpc>
                <a:buAutoNum type="arabicPeriod" startAt="1"/>
              </a:pPr>
              <a:r>
                <a:rPr lang="en-US" sz="2844">
                  <a:solidFill>
                    <a:srgbClr val="000000"/>
                  </a:solidFill>
                  <a:latin typeface="ไอติม"/>
                  <a:ea typeface="ไอติม"/>
                  <a:cs typeface="ไอติม"/>
                  <a:sym typeface="ไอติม"/>
                </a:rPr>
                <a:t>Patt</a:t>
              </a:r>
              <a:r>
                <a:rPr lang="en-US" sz="2844">
                  <a:solidFill>
                    <a:srgbClr val="000000"/>
                  </a:solidFill>
                  <a:latin typeface="ไอติม"/>
                  <a:ea typeface="ไอติม"/>
                  <a:cs typeface="ไอติม"/>
                  <a:sym typeface="ไอติม"/>
                </a:rPr>
                <a:t>ern Matching   : ใช้ match หรือ if let เพื่อตรวจสอบ Variant และดึงข้อมูลออกมาใช้งาน</a:t>
              </a:r>
            </a:p>
            <a:p>
              <a:pPr algn="l" marL="614156" indent="-307078" lvl="1">
                <a:lnSpc>
                  <a:spcPts val="6059"/>
                </a:lnSpc>
                <a:buAutoNum type="arabicPeriod" startAt="1"/>
              </a:pPr>
              <a:r>
                <a:rPr lang="en-US" sz="2844">
                  <a:solidFill>
                    <a:srgbClr val="000000"/>
                  </a:solidFill>
                  <a:latin typeface="ไอติม"/>
                  <a:ea typeface="ไอติม"/>
                  <a:cs typeface="ไอติม"/>
                  <a:sym typeface="ไอติม"/>
                </a:rPr>
                <a:t>match   : ต้องครอบคลุมทุกกรณี (Exhaustiveness) ถ้าไม่ครบจะ Compiler ไม่ได้</a:t>
              </a:r>
            </a:p>
            <a:p>
              <a:pPr algn="l" marL="614156" indent="-307078" lvl="1">
                <a:lnSpc>
                  <a:spcPts val="5603"/>
                </a:lnSpc>
                <a:buAutoNum type="arabicPeriod" startAt="1"/>
              </a:pPr>
              <a:r>
                <a:rPr lang="en-US" sz="2844">
                  <a:solidFill>
                    <a:srgbClr val="000000"/>
                  </a:solidFill>
                  <a:latin typeface="ไอติม"/>
                  <a:ea typeface="ไอติม"/>
                  <a:cs typeface="ไอติม"/>
                  <a:sym typeface="ไอติม"/>
                </a:rPr>
                <a:t>if let :  เหมาะสำหรับกรณีที่สนใจเพียง Variant เดียว แทนการ match ทุกตัว</a:t>
              </a:r>
            </a:p>
            <a:p>
              <a:pPr algn="l" marL="614156" indent="-307078" lvl="1">
                <a:lnSpc>
                  <a:spcPts val="5603"/>
                </a:lnSpc>
                <a:buAutoNum type="arabicPeriod" startAt="1"/>
              </a:pPr>
              <a:r>
                <a:rPr lang="en-US" sz="2844">
                  <a:solidFill>
                    <a:srgbClr val="000000"/>
                  </a:solidFill>
                  <a:latin typeface="ไอติม"/>
                  <a:ea typeface="ไอติม"/>
                  <a:cs typeface="ไอติม"/>
                  <a:sym typeface="ไอติม"/>
                </a:rPr>
                <a:t>Pattern ใน match : ตรวจจากบนลงล่าง จึงควรวาง Pattern ที่เฉพาะเจาะจงก่อน แล้วค่อยวางกรณีทัั่วไป </a:t>
              </a:r>
            </a:p>
            <a:p>
              <a:pPr algn="l">
                <a:lnSpc>
                  <a:spcPts val="5603"/>
                </a:lnSpc>
              </a:pPr>
              <a:r>
                <a:rPr lang="en-US" sz="2844">
                  <a:solidFill>
                    <a:srgbClr val="000000"/>
                  </a:solidFill>
                  <a:latin typeface="ไอติม"/>
                  <a:ea typeface="ไอติม"/>
                  <a:cs typeface="ไอติม"/>
                  <a:sym typeface="ไอติม"/>
                </a:rPr>
                <a:t>                       หรือ  ‘_’  (Wildcard)  ไว้ล่างสุด</a:t>
              </a:r>
            </a:p>
            <a:p>
              <a:pPr algn="l">
                <a:lnSpc>
                  <a:spcPts val="5603"/>
                </a:lnSpc>
              </a:pPr>
              <a:r>
                <a:rPr lang="en-US" sz="2844">
                  <a:solidFill>
                    <a:srgbClr val="000000"/>
                  </a:solidFill>
                  <a:latin typeface="ไอติม"/>
                  <a:ea typeface="ไอติม"/>
                  <a:cs typeface="ไอติม"/>
                  <a:sym typeface="ไอติม"/>
                </a:rPr>
                <a:t>   5. </a:t>
              </a:r>
              <a:r>
                <a:rPr lang="en-US" sz="2844">
                  <a:solidFill>
                    <a:srgbClr val="000000"/>
                  </a:solidFill>
                  <a:latin typeface="ไอติม"/>
                  <a:ea typeface="ไอติม"/>
                  <a:cs typeface="ไอติม"/>
                  <a:sym typeface="ไอติม"/>
                </a:rPr>
                <a:t>Option&lt;T&gt;  :  ใช้ตรวจสอบว่าข้อมูลนั้น มีค่า(Some) หรือ ไม่มีค่า (None) แทนการใช้ null </a:t>
              </a:r>
            </a:p>
            <a:p>
              <a:pPr algn="l">
                <a:lnSpc>
                  <a:spcPts val="5603"/>
                </a:lnSpc>
              </a:pPr>
              <a:r>
                <a:rPr lang="en-US" sz="2844">
                  <a:solidFill>
                    <a:srgbClr val="000000"/>
                  </a:solidFill>
                  <a:latin typeface="ไอติม"/>
                  <a:ea typeface="ไอติม"/>
                  <a:cs typeface="ไอติม"/>
                  <a:sym typeface="ไอติม"/>
                </a:rPr>
                <a:t>   6. </a:t>
              </a:r>
              <a:r>
                <a:rPr lang="en-US" sz="2844">
                  <a:solidFill>
                    <a:srgbClr val="000000"/>
                  </a:solidFill>
                  <a:latin typeface="ไอติม"/>
                  <a:ea typeface="ไอติม"/>
                  <a:cs typeface="ไอติม"/>
                  <a:sym typeface="ไอติม"/>
                </a:rPr>
                <a:t>Result&lt;T, E&gt; : ใช้จัดการผลลัพธ์ที่อาจสำเร็จ (Ok) หรือเกิดข้อผิดพลาด (Error)</a:t>
              </a:r>
            </a:p>
            <a:p>
              <a:pPr algn="l">
                <a:lnSpc>
                  <a:spcPts val="5603"/>
                </a:lnSpc>
              </a:pPr>
              <a:r>
                <a:rPr lang="en-US" sz="2844">
                  <a:solidFill>
                    <a:srgbClr val="000000"/>
                  </a:solidFill>
                  <a:latin typeface="ไอติม"/>
                  <a:ea typeface="ไอติม"/>
                  <a:cs typeface="ไอติม"/>
                  <a:sym typeface="ไอติม"/>
                </a:rPr>
                <a:t>   7. </a:t>
              </a:r>
              <a:r>
                <a:rPr lang="en-US" sz="2844">
                  <a:solidFill>
                    <a:srgbClr val="000000"/>
                  </a:solidFill>
                  <a:latin typeface="ไอติม"/>
                  <a:ea typeface="ไอติม"/>
                  <a:cs typeface="ไอติม"/>
                  <a:sym typeface="ไอติม"/>
                </a:rPr>
                <a:t>Ownership &amp; Borrowing   : มีผลต่อการใช้ match โดยเฉพาะเมื่อ Enum เก็บข้อมูลที่มี Ownership เช่น String</a:t>
              </a:r>
            </a:p>
          </p:txBody>
        </p:sp>
      </p:grpSp>
    </p:spTree>
  </p:cSld>
  <p:clrMapOvr>
    <a:masterClrMapping/>
  </p:clrMapOvr>
  <p:transition spd="fast">
    <p:fade/>
  </p:transition>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8F5E7"/>
        </a:solidFill>
      </p:bgPr>
    </p:bg>
    <p:spTree>
      <p:nvGrpSpPr>
        <p:cNvPr id="1" name=""/>
        <p:cNvGrpSpPr/>
        <p:nvPr/>
      </p:nvGrpSpPr>
      <p:grpSpPr>
        <a:xfrm>
          <a:off x="0" y="0"/>
          <a:ext cx="0" cy="0"/>
          <a:chOff x="0" y="0"/>
          <a:chExt cx="0" cy="0"/>
        </a:xfrm>
      </p:grpSpPr>
      <p:grpSp>
        <p:nvGrpSpPr>
          <p:cNvPr name="Group 2" id="2"/>
          <p:cNvGrpSpPr/>
          <p:nvPr/>
        </p:nvGrpSpPr>
        <p:grpSpPr>
          <a:xfrm rot="0">
            <a:off x="3197262" y="1113710"/>
            <a:ext cx="11893476" cy="1770220"/>
            <a:chOff x="0" y="0"/>
            <a:chExt cx="3132438" cy="466231"/>
          </a:xfrm>
        </p:grpSpPr>
        <p:sp>
          <p:nvSpPr>
            <p:cNvPr name="Freeform 3" id="3"/>
            <p:cNvSpPr/>
            <p:nvPr/>
          </p:nvSpPr>
          <p:spPr>
            <a:xfrm flipH="false" flipV="false" rot="0">
              <a:off x="0" y="0"/>
              <a:ext cx="3132438" cy="466231"/>
            </a:xfrm>
            <a:custGeom>
              <a:avLst/>
              <a:gdLst/>
              <a:ahLst/>
              <a:cxnLst/>
              <a:rect r="r" b="b" t="t" l="l"/>
              <a:pathLst>
                <a:path h="466231" w="3132438">
                  <a:moveTo>
                    <a:pt x="65094" y="0"/>
                  </a:moveTo>
                  <a:lnTo>
                    <a:pt x="3067344" y="0"/>
                  </a:lnTo>
                  <a:cubicBezTo>
                    <a:pt x="3084608" y="0"/>
                    <a:pt x="3101165" y="6858"/>
                    <a:pt x="3113373" y="19066"/>
                  </a:cubicBezTo>
                  <a:cubicBezTo>
                    <a:pt x="3125580" y="31273"/>
                    <a:pt x="3132438" y="47830"/>
                    <a:pt x="3132438" y="65094"/>
                  </a:cubicBezTo>
                  <a:lnTo>
                    <a:pt x="3132438" y="401137"/>
                  </a:lnTo>
                  <a:cubicBezTo>
                    <a:pt x="3132438" y="418401"/>
                    <a:pt x="3125580" y="434958"/>
                    <a:pt x="3113373" y="447165"/>
                  </a:cubicBezTo>
                  <a:cubicBezTo>
                    <a:pt x="3101165" y="459373"/>
                    <a:pt x="3084608" y="466231"/>
                    <a:pt x="3067344" y="466231"/>
                  </a:cubicBezTo>
                  <a:lnTo>
                    <a:pt x="65094" y="466231"/>
                  </a:lnTo>
                  <a:cubicBezTo>
                    <a:pt x="47830" y="466231"/>
                    <a:pt x="31273" y="459373"/>
                    <a:pt x="19066" y="447165"/>
                  </a:cubicBezTo>
                  <a:cubicBezTo>
                    <a:pt x="6858" y="434958"/>
                    <a:pt x="0" y="418401"/>
                    <a:pt x="0" y="401137"/>
                  </a:cubicBezTo>
                  <a:lnTo>
                    <a:pt x="0" y="65094"/>
                  </a:lnTo>
                  <a:cubicBezTo>
                    <a:pt x="0" y="47830"/>
                    <a:pt x="6858" y="31273"/>
                    <a:pt x="19066" y="19066"/>
                  </a:cubicBezTo>
                  <a:cubicBezTo>
                    <a:pt x="31273" y="6858"/>
                    <a:pt x="47830" y="0"/>
                    <a:pt x="65094" y="0"/>
                  </a:cubicBezTo>
                  <a:close/>
                </a:path>
              </a:pathLst>
            </a:custGeom>
            <a:solidFill>
              <a:srgbClr val="FF8B54"/>
            </a:solidFill>
            <a:ln w="38100" cap="rnd">
              <a:solidFill>
                <a:srgbClr val="000000"/>
              </a:solidFill>
              <a:prstDash val="solid"/>
              <a:round/>
            </a:ln>
          </p:spPr>
        </p:sp>
        <p:sp>
          <p:nvSpPr>
            <p:cNvPr name="TextBox 4" id="4"/>
            <p:cNvSpPr txBox="true"/>
            <p:nvPr/>
          </p:nvSpPr>
          <p:spPr>
            <a:xfrm>
              <a:off x="0" y="19050"/>
              <a:ext cx="3132438" cy="447181"/>
            </a:xfrm>
            <a:prstGeom prst="rect">
              <a:avLst/>
            </a:prstGeom>
          </p:spPr>
          <p:txBody>
            <a:bodyPr anchor="ctr" rtlCol="false" tIns="50800" lIns="50800" bIns="50800" rIns="50800"/>
            <a:lstStyle/>
            <a:p>
              <a:pPr algn="ctr">
                <a:lnSpc>
                  <a:spcPts val="2694"/>
                </a:lnSpc>
              </a:pPr>
            </a:p>
          </p:txBody>
        </p:sp>
      </p:grpSp>
      <p:sp>
        <p:nvSpPr>
          <p:cNvPr name="Freeform 5" id="5"/>
          <p:cNvSpPr/>
          <p:nvPr/>
        </p:nvSpPr>
        <p:spPr>
          <a:xfrm flipH="false" flipV="false" rot="-1004402">
            <a:off x="1541751" y="990081"/>
            <a:ext cx="388078" cy="3617679"/>
          </a:xfrm>
          <a:custGeom>
            <a:avLst/>
            <a:gdLst/>
            <a:ahLst/>
            <a:cxnLst/>
            <a:rect r="r" b="b" t="t" l="l"/>
            <a:pathLst>
              <a:path h="3617679" w="388078">
                <a:moveTo>
                  <a:pt x="0" y="0"/>
                </a:moveTo>
                <a:lnTo>
                  <a:pt x="388078" y="0"/>
                </a:lnTo>
                <a:lnTo>
                  <a:pt x="388078" y="3617679"/>
                </a:lnTo>
                <a:lnTo>
                  <a:pt x="0" y="36176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63353">
            <a:off x="15222859" y="867697"/>
            <a:ext cx="2468202" cy="2490847"/>
          </a:xfrm>
          <a:custGeom>
            <a:avLst/>
            <a:gdLst/>
            <a:ahLst/>
            <a:cxnLst/>
            <a:rect r="r" b="b" t="t" l="l"/>
            <a:pathLst>
              <a:path h="2490847" w="2468202">
                <a:moveTo>
                  <a:pt x="0" y="0"/>
                </a:moveTo>
                <a:lnTo>
                  <a:pt x="2468202" y="0"/>
                </a:lnTo>
                <a:lnTo>
                  <a:pt x="2468202" y="2490846"/>
                </a:lnTo>
                <a:lnTo>
                  <a:pt x="0" y="24908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29676">
            <a:off x="2575682" y="604111"/>
            <a:ext cx="456626" cy="1550274"/>
          </a:xfrm>
          <a:custGeom>
            <a:avLst/>
            <a:gdLst/>
            <a:ahLst/>
            <a:cxnLst/>
            <a:rect r="r" b="b" t="t" l="l"/>
            <a:pathLst>
              <a:path h="1550274" w="456626">
                <a:moveTo>
                  <a:pt x="0" y="0"/>
                </a:moveTo>
                <a:lnTo>
                  <a:pt x="456626" y="0"/>
                </a:lnTo>
                <a:lnTo>
                  <a:pt x="456626" y="1550274"/>
                </a:lnTo>
                <a:lnTo>
                  <a:pt x="0" y="15502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597228" y="1627028"/>
            <a:ext cx="11333665" cy="857885"/>
          </a:xfrm>
          <a:prstGeom prst="rect">
            <a:avLst/>
          </a:prstGeom>
        </p:spPr>
        <p:txBody>
          <a:bodyPr anchor="t" rtlCol="false" tIns="0" lIns="0" bIns="0" rIns="0">
            <a:spAutoFit/>
          </a:bodyPr>
          <a:lstStyle/>
          <a:p>
            <a:pPr algn="ctr" marL="0" indent="0" lvl="0">
              <a:lnSpc>
                <a:spcPts val="6399"/>
              </a:lnSpc>
              <a:spcBef>
                <a:spcPct val="0"/>
              </a:spcBef>
            </a:pPr>
            <a:r>
              <a:rPr lang="en-US" sz="6399">
                <a:solidFill>
                  <a:srgbClr val="000000"/>
                </a:solidFill>
                <a:latin typeface="ไอติม"/>
                <a:ea typeface="ไอติม"/>
                <a:cs typeface="ไอติม"/>
                <a:sym typeface="ไอติม"/>
              </a:rPr>
              <a:t>KEY TAKEAWAYS-</a:t>
            </a:r>
            <a:r>
              <a:rPr lang="en-US" sz="6399">
                <a:solidFill>
                  <a:srgbClr val="000000"/>
                </a:solidFill>
                <a:latin typeface="ไอติม"/>
                <a:ea typeface="ไอติม"/>
                <a:cs typeface="ไอติม"/>
                <a:sym typeface="ไอติม"/>
              </a:rPr>
              <a:t>สรุปสิ่งที่ควรจำ</a:t>
            </a:r>
          </a:p>
        </p:txBody>
      </p:sp>
      <p:grpSp>
        <p:nvGrpSpPr>
          <p:cNvPr name="Group 9" id="9"/>
          <p:cNvGrpSpPr/>
          <p:nvPr/>
        </p:nvGrpSpPr>
        <p:grpSpPr>
          <a:xfrm rot="0">
            <a:off x="610568" y="3434517"/>
            <a:ext cx="17066863" cy="6502515"/>
            <a:chOff x="0" y="0"/>
            <a:chExt cx="4494976" cy="1712597"/>
          </a:xfrm>
        </p:grpSpPr>
        <p:sp>
          <p:nvSpPr>
            <p:cNvPr name="Freeform 10" id="10"/>
            <p:cNvSpPr/>
            <p:nvPr/>
          </p:nvSpPr>
          <p:spPr>
            <a:xfrm flipH="false" flipV="false" rot="0">
              <a:off x="0" y="0"/>
              <a:ext cx="4494976" cy="1712597"/>
            </a:xfrm>
            <a:custGeom>
              <a:avLst/>
              <a:gdLst/>
              <a:ahLst/>
              <a:cxnLst/>
              <a:rect r="r" b="b" t="t" l="l"/>
              <a:pathLst>
                <a:path h="1712597" w="4494976">
                  <a:moveTo>
                    <a:pt x="0" y="0"/>
                  </a:moveTo>
                  <a:lnTo>
                    <a:pt x="4494976" y="0"/>
                  </a:lnTo>
                  <a:lnTo>
                    <a:pt x="4494976" y="1712597"/>
                  </a:lnTo>
                  <a:lnTo>
                    <a:pt x="0" y="1712597"/>
                  </a:lnTo>
                  <a:close/>
                </a:path>
              </a:pathLst>
            </a:custGeom>
            <a:solidFill>
              <a:srgbClr val="FFFFFF"/>
            </a:solidFill>
            <a:ln w="38100" cap="sq">
              <a:solidFill>
                <a:srgbClr val="000000"/>
              </a:solidFill>
              <a:prstDash val="solid"/>
              <a:miter/>
            </a:ln>
          </p:spPr>
        </p:sp>
        <p:sp>
          <p:nvSpPr>
            <p:cNvPr name="TextBox 11" id="11"/>
            <p:cNvSpPr txBox="true"/>
            <p:nvPr/>
          </p:nvSpPr>
          <p:spPr>
            <a:xfrm>
              <a:off x="0" y="19050"/>
              <a:ext cx="4494976" cy="1693547"/>
            </a:xfrm>
            <a:prstGeom prst="rect">
              <a:avLst/>
            </a:prstGeom>
          </p:spPr>
          <p:txBody>
            <a:bodyPr anchor="ctr" rtlCol="false" tIns="50800" lIns="50800" bIns="50800" rIns="50800"/>
            <a:lstStyle/>
            <a:p>
              <a:pPr algn="ctr">
                <a:lnSpc>
                  <a:spcPts val="2694"/>
                </a:lnSpc>
              </a:pPr>
            </a:p>
          </p:txBody>
        </p:sp>
      </p:grpSp>
      <p:sp>
        <p:nvSpPr>
          <p:cNvPr name="TextBox 12" id="12"/>
          <p:cNvSpPr txBox="true"/>
          <p:nvPr/>
        </p:nvSpPr>
        <p:spPr>
          <a:xfrm rot="0">
            <a:off x="1311616" y="4533335"/>
            <a:ext cx="16247044" cy="4898491"/>
          </a:xfrm>
          <a:prstGeom prst="rect">
            <a:avLst/>
          </a:prstGeom>
        </p:spPr>
        <p:txBody>
          <a:bodyPr anchor="t" rtlCol="false" tIns="0" lIns="0" bIns="0" rIns="0">
            <a:spAutoFit/>
          </a:bodyPr>
          <a:lstStyle/>
          <a:p>
            <a:pPr algn="l">
              <a:lnSpc>
                <a:spcPts val="4892"/>
              </a:lnSpc>
            </a:pPr>
            <a:r>
              <a:rPr lang="en-US" sz="2844" u="sng">
                <a:solidFill>
                  <a:srgbClr val="000000"/>
                </a:solidFill>
                <a:latin typeface="ไอติม"/>
                <a:ea typeface="ไอติม"/>
                <a:cs typeface="ไอติม"/>
                <a:sym typeface="ไอติม"/>
              </a:rPr>
              <a:t> Type Safety &amp; Type Systems</a:t>
            </a:r>
          </a:p>
          <a:p>
            <a:pPr algn="l">
              <a:lnSpc>
                <a:spcPts val="4892"/>
              </a:lnSpc>
            </a:pPr>
            <a:r>
              <a:rPr lang="en-US" sz="2844">
                <a:solidFill>
                  <a:srgbClr val="3C3C3C"/>
                </a:solidFill>
                <a:latin typeface="ไอติม"/>
                <a:ea typeface="ไอติม"/>
                <a:cs typeface="ไอติม"/>
                <a:sym typeface="ไอติม"/>
              </a:rPr>
              <a:t>      บังคับให้จัดการข้อผิดพลาดตั้งแต่ Complie time  ส่งผลให้มีความปลอดภัยและได้ประสิทธิภาพสูง</a:t>
            </a:r>
          </a:p>
          <a:p>
            <a:pPr algn="l">
              <a:lnSpc>
                <a:spcPts val="4892"/>
              </a:lnSpc>
            </a:pPr>
            <a:r>
              <a:rPr lang="en-US" sz="2844">
                <a:solidFill>
                  <a:srgbClr val="000000"/>
                </a:solidFill>
                <a:latin typeface="ไอติม"/>
                <a:ea typeface="ไอติม"/>
                <a:cs typeface="ไอติม"/>
                <a:sym typeface="ไอติม"/>
              </a:rPr>
              <a:t> </a:t>
            </a:r>
            <a:r>
              <a:rPr lang="en-US" sz="2844" u="sng">
                <a:solidFill>
                  <a:srgbClr val="000000"/>
                </a:solidFill>
                <a:latin typeface="ไอติม"/>
                <a:ea typeface="ไอติม"/>
                <a:cs typeface="ไอติม"/>
                <a:sym typeface="ไอติม"/>
              </a:rPr>
              <a:t>Control Flow</a:t>
            </a:r>
          </a:p>
          <a:p>
            <a:pPr algn="l">
              <a:lnSpc>
                <a:spcPts val="4892"/>
              </a:lnSpc>
            </a:pPr>
            <a:r>
              <a:rPr lang="en-US" sz="2844">
                <a:solidFill>
                  <a:srgbClr val="3C3C3C"/>
                </a:solidFill>
                <a:latin typeface="ไอติม"/>
                <a:ea typeface="ไอติม"/>
                <a:cs typeface="ไอติม"/>
                <a:sym typeface="ไอติม"/>
              </a:rPr>
              <a:t>     Pattern Matching ใน Control Structure ตรวจสอบทั้งประเภทและดึงข้อมูลภายในขั้นตอนเดียว </a:t>
            </a:r>
          </a:p>
          <a:p>
            <a:pPr algn="l">
              <a:lnSpc>
                <a:spcPts val="4892"/>
              </a:lnSpc>
            </a:pPr>
            <a:r>
              <a:rPr lang="en-US" sz="2844">
                <a:solidFill>
                  <a:srgbClr val="000000"/>
                </a:solidFill>
                <a:latin typeface="ไอติม"/>
                <a:ea typeface="ไอติม"/>
                <a:cs typeface="ไอติม"/>
                <a:sym typeface="ไอติม"/>
              </a:rPr>
              <a:t> </a:t>
            </a:r>
            <a:r>
              <a:rPr lang="en-US" sz="2844" u="sng">
                <a:solidFill>
                  <a:srgbClr val="000000"/>
                </a:solidFill>
                <a:latin typeface="ไอติม"/>
                <a:ea typeface="ไอติม"/>
                <a:cs typeface="ไอติม"/>
                <a:sym typeface="ไอติม"/>
              </a:rPr>
              <a:t>Error Handling Paradigm</a:t>
            </a:r>
          </a:p>
          <a:p>
            <a:pPr algn="l">
              <a:lnSpc>
                <a:spcPts val="4892"/>
              </a:lnSpc>
            </a:pPr>
            <a:r>
              <a:rPr lang="en-US" sz="2844">
                <a:solidFill>
                  <a:srgbClr val="3C3C3C"/>
                </a:solidFill>
                <a:latin typeface="ไอติม"/>
                <a:ea typeface="ไอติม"/>
                <a:cs typeface="ไอติม"/>
                <a:sym typeface="ไอติม"/>
              </a:rPr>
              <a:t>     จัดการข้อผิดพลาดแบบคืนค่าข้อมูลแทนการโยน Exception ช่วยบังคับให้ตรวจเช็กแล้วเปลี่ยนลำดับการทำงาน</a:t>
            </a:r>
          </a:p>
          <a:p>
            <a:pPr algn="l">
              <a:lnSpc>
                <a:spcPts val="4892"/>
              </a:lnSpc>
            </a:pPr>
            <a:r>
              <a:rPr lang="en-US" sz="2844" u="sng">
                <a:solidFill>
                  <a:srgbClr val="000000"/>
                </a:solidFill>
                <a:latin typeface="ไอติม"/>
                <a:ea typeface="ไอติม"/>
                <a:cs typeface="ไอติม"/>
                <a:sym typeface="ไอติม"/>
              </a:rPr>
              <a:t> The Null Pointer Problem</a:t>
            </a:r>
            <a:r>
              <a:rPr lang="en-US" sz="2844">
                <a:solidFill>
                  <a:srgbClr val="000000"/>
                </a:solidFill>
                <a:latin typeface="ไอติม"/>
                <a:ea typeface="ไอติม"/>
                <a:cs typeface="ไอติม"/>
                <a:sym typeface="ไอติม"/>
              </a:rPr>
              <a:t>   </a:t>
            </a:r>
          </a:p>
          <a:p>
            <a:pPr algn="l">
              <a:lnSpc>
                <a:spcPts val="4892"/>
              </a:lnSpc>
            </a:pPr>
            <a:r>
              <a:rPr lang="en-US" sz="2844">
                <a:solidFill>
                  <a:srgbClr val="3C3C3C"/>
                </a:solidFill>
                <a:latin typeface="ไอติม"/>
                <a:ea typeface="ไอติม"/>
                <a:cs typeface="ไอติม"/>
                <a:sym typeface="ไอติม"/>
              </a:rPr>
              <a:t>     ภาษาทราบได้อย่างชัดเจนว่าค่าใดที่ไม่มีค่าและให้ผู้สร้างจัดการกับกรณีนั้นเสมอ</a:t>
            </a:r>
          </a:p>
        </p:txBody>
      </p:sp>
      <p:sp>
        <p:nvSpPr>
          <p:cNvPr name="TextBox 13" id="13"/>
          <p:cNvSpPr txBox="true"/>
          <p:nvPr/>
        </p:nvSpPr>
        <p:spPr>
          <a:xfrm rot="0">
            <a:off x="263500" y="3557000"/>
            <a:ext cx="9171638" cy="737657"/>
          </a:xfrm>
          <a:prstGeom prst="rect">
            <a:avLst/>
          </a:prstGeom>
        </p:spPr>
        <p:txBody>
          <a:bodyPr anchor="t" rtlCol="false" tIns="0" lIns="0" bIns="0" rIns="0">
            <a:spAutoFit/>
          </a:bodyPr>
          <a:lstStyle/>
          <a:p>
            <a:pPr algn="ctr">
              <a:lnSpc>
                <a:spcPts val="6339"/>
              </a:lnSpc>
            </a:pPr>
            <a:r>
              <a:rPr lang="en-US" sz="3685">
                <a:solidFill>
                  <a:srgbClr val="E74724"/>
                </a:solidFill>
                <a:latin typeface="ไอติม"/>
                <a:ea typeface="ไอติม"/>
                <a:cs typeface="ไอติม"/>
                <a:sym typeface="ไอติม"/>
              </a:rPr>
              <a:t>ความเชื่อมโยงกับหัวข้ออื่น ๆ ในวิชา PPL</a:t>
            </a:r>
          </a:p>
        </p:txBody>
      </p:sp>
    </p:spTree>
  </p:cSld>
  <p:clrMapOvr>
    <a:masterClrMapping/>
  </p:clrMapOvr>
  <p:transition spd="fast">
    <p:fade/>
  </p:transition>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F8B54"/>
        </a:solidFill>
      </p:bgPr>
    </p:bg>
    <p:spTree>
      <p:nvGrpSpPr>
        <p:cNvPr id="1" name=""/>
        <p:cNvGrpSpPr/>
        <p:nvPr/>
      </p:nvGrpSpPr>
      <p:grpSpPr>
        <a:xfrm>
          <a:off x="0" y="0"/>
          <a:ext cx="0" cy="0"/>
          <a:chOff x="0" y="0"/>
          <a:chExt cx="0" cy="0"/>
        </a:xfrm>
      </p:grpSpPr>
      <p:grpSp>
        <p:nvGrpSpPr>
          <p:cNvPr name="Group 2" id="2"/>
          <p:cNvGrpSpPr/>
          <p:nvPr/>
        </p:nvGrpSpPr>
        <p:grpSpPr>
          <a:xfrm rot="0">
            <a:off x="15876423" y="7015121"/>
            <a:ext cx="1382877" cy="1619841"/>
            <a:chOff x="0" y="0"/>
            <a:chExt cx="364214" cy="426625"/>
          </a:xfrm>
        </p:grpSpPr>
        <p:sp>
          <p:nvSpPr>
            <p:cNvPr name="Freeform 3" id="3"/>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4" id="4"/>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515942" y="1028700"/>
            <a:ext cx="18083804" cy="8229600"/>
            <a:chOff x="0" y="0"/>
            <a:chExt cx="4762812" cy="2167467"/>
          </a:xfrm>
        </p:grpSpPr>
        <p:sp>
          <p:nvSpPr>
            <p:cNvPr name="Freeform 6" id="6"/>
            <p:cNvSpPr/>
            <p:nvPr/>
          </p:nvSpPr>
          <p:spPr>
            <a:xfrm flipH="false" flipV="false" rot="0">
              <a:off x="0" y="0"/>
              <a:ext cx="4762812" cy="2167467"/>
            </a:xfrm>
            <a:custGeom>
              <a:avLst/>
              <a:gdLst/>
              <a:ahLst/>
              <a:cxnLst/>
              <a:rect r="r" b="b" t="t" l="l"/>
              <a:pathLst>
                <a:path h="2167467" w="4762812">
                  <a:moveTo>
                    <a:pt x="29968" y="0"/>
                  </a:moveTo>
                  <a:lnTo>
                    <a:pt x="4732844" y="0"/>
                  </a:lnTo>
                  <a:cubicBezTo>
                    <a:pt x="4740792" y="0"/>
                    <a:pt x="4748415" y="3157"/>
                    <a:pt x="4754035" y="8777"/>
                  </a:cubicBezTo>
                  <a:cubicBezTo>
                    <a:pt x="4759655" y="14397"/>
                    <a:pt x="4762812" y="22020"/>
                    <a:pt x="4762812" y="29968"/>
                  </a:cubicBezTo>
                  <a:lnTo>
                    <a:pt x="4762812" y="2137499"/>
                  </a:lnTo>
                  <a:cubicBezTo>
                    <a:pt x="4762812" y="2154050"/>
                    <a:pt x="4749395" y="2167467"/>
                    <a:pt x="4732844" y="2167467"/>
                  </a:cubicBezTo>
                  <a:lnTo>
                    <a:pt x="29968" y="2167467"/>
                  </a:lnTo>
                  <a:cubicBezTo>
                    <a:pt x="22020" y="2167467"/>
                    <a:pt x="14397" y="2164309"/>
                    <a:pt x="8777" y="2158689"/>
                  </a:cubicBezTo>
                  <a:cubicBezTo>
                    <a:pt x="3157" y="2153069"/>
                    <a:pt x="0" y="2145447"/>
                    <a:pt x="0" y="2137499"/>
                  </a:cubicBezTo>
                  <a:lnTo>
                    <a:pt x="0" y="29968"/>
                  </a:lnTo>
                  <a:cubicBezTo>
                    <a:pt x="0" y="13417"/>
                    <a:pt x="13417" y="0"/>
                    <a:pt x="29968" y="0"/>
                  </a:cubicBezTo>
                  <a:close/>
                </a:path>
              </a:pathLst>
            </a:custGeom>
            <a:solidFill>
              <a:srgbClr val="F8F5E7"/>
            </a:solidFill>
            <a:ln w="38100" cap="rnd">
              <a:solidFill>
                <a:srgbClr val="000000"/>
              </a:solidFill>
              <a:prstDash val="solid"/>
              <a:round/>
            </a:ln>
          </p:spPr>
        </p:sp>
        <p:sp>
          <p:nvSpPr>
            <p:cNvPr name="TextBox 7" id="7"/>
            <p:cNvSpPr txBox="true"/>
            <p:nvPr/>
          </p:nvSpPr>
          <p:spPr>
            <a:xfrm>
              <a:off x="0" y="19050"/>
              <a:ext cx="4762812" cy="2148417"/>
            </a:xfrm>
            <a:prstGeom prst="rect">
              <a:avLst/>
            </a:prstGeom>
          </p:spPr>
          <p:txBody>
            <a:bodyPr anchor="ctr" rtlCol="false" tIns="50800" lIns="50800" bIns="50800" rIns="50800"/>
            <a:lstStyle/>
            <a:p>
              <a:pPr algn="ctr">
                <a:lnSpc>
                  <a:spcPts val="2694"/>
                </a:lnSpc>
              </a:pPr>
            </a:p>
          </p:txBody>
        </p:sp>
      </p:grpSp>
      <p:sp>
        <p:nvSpPr>
          <p:cNvPr name="Freeform 8" id="8"/>
          <p:cNvSpPr/>
          <p:nvPr/>
        </p:nvSpPr>
        <p:spPr>
          <a:xfrm flipH="false" flipV="false" rot="545158">
            <a:off x="15620075" y="510795"/>
            <a:ext cx="1895573" cy="1895573"/>
          </a:xfrm>
          <a:custGeom>
            <a:avLst/>
            <a:gdLst/>
            <a:ahLst/>
            <a:cxnLst/>
            <a:rect r="r" b="b" t="t" l="l"/>
            <a:pathLst>
              <a:path h="1895573" w="1895573">
                <a:moveTo>
                  <a:pt x="0" y="0"/>
                </a:moveTo>
                <a:lnTo>
                  <a:pt x="1895573" y="0"/>
                </a:lnTo>
                <a:lnTo>
                  <a:pt x="1895573" y="1895573"/>
                </a:lnTo>
                <a:lnTo>
                  <a:pt x="0" y="189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643955" y="1420482"/>
            <a:ext cx="13764010" cy="1007110"/>
          </a:xfrm>
          <a:prstGeom prst="rect">
            <a:avLst/>
          </a:prstGeom>
        </p:spPr>
        <p:txBody>
          <a:bodyPr anchor="t" rtlCol="false" tIns="0" lIns="0" bIns="0" rIns="0">
            <a:spAutoFit/>
          </a:bodyPr>
          <a:lstStyle/>
          <a:p>
            <a:pPr algn="l" marL="0" indent="0" lvl="0">
              <a:lnSpc>
                <a:spcPts val="7999"/>
              </a:lnSpc>
            </a:pPr>
            <a:r>
              <a:rPr lang="en-US" sz="6399">
                <a:solidFill>
                  <a:srgbClr val="000000"/>
                </a:solidFill>
                <a:latin typeface="ไอติม"/>
                <a:ea typeface="ไอติม"/>
                <a:cs typeface="ไอติม"/>
                <a:sym typeface="ไอติม"/>
              </a:rPr>
              <a:t>REFERENCES—เอ</a:t>
            </a:r>
            <a:r>
              <a:rPr lang="en-US" sz="6399">
                <a:solidFill>
                  <a:srgbClr val="000000"/>
                </a:solidFill>
                <a:latin typeface="ไอติม"/>
                <a:ea typeface="ไอติม"/>
                <a:cs typeface="ไอติม"/>
                <a:sym typeface="ไอติม"/>
              </a:rPr>
              <a:t>กสารอ้างอิง</a:t>
            </a:r>
          </a:p>
        </p:txBody>
      </p:sp>
      <p:grpSp>
        <p:nvGrpSpPr>
          <p:cNvPr name="Group 10" id="10"/>
          <p:cNvGrpSpPr/>
          <p:nvPr/>
        </p:nvGrpSpPr>
        <p:grpSpPr>
          <a:xfrm rot="0">
            <a:off x="643955" y="7316701"/>
            <a:ext cx="14636307" cy="1596598"/>
            <a:chOff x="0" y="0"/>
            <a:chExt cx="3854830" cy="420503"/>
          </a:xfrm>
        </p:grpSpPr>
        <p:sp>
          <p:nvSpPr>
            <p:cNvPr name="Freeform 11" id="11"/>
            <p:cNvSpPr/>
            <p:nvPr/>
          </p:nvSpPr>
          <p:spPr>
            <a:xfrm flipH="false" flipV="false" rot="0">
              <a:off x="0" y="0"/>
              <a:ext cx="3854830" cy="420503"/>
            </a:xfrm>
            <a:custGeom>
              <a:avLst/>
              <a:gdLst/>
              <a:ahLst/>
              <a:cxnLst/>
              <a:rect r="r" b="b" t="t" l="l"/>
              <a:pathLst>
                <a:path h="420503" w="3854830">
                  <a:moveTo>
                    <a:pt x="37027" y="0"/>
                  </a:moveTo>
                  <a:lnTo>
                    <a:pt x="3817803" y="0"/>
                  </a:lnTo>
                  <a:cubicBezTo>
                    <a:pt x="3827623" y="0"/>
                    <a:pt x="3837041" y="3901"/>
                    <a:pt x="3843985" y="10845"/>
                  </a:cubicBezTo>
                  <a:cubicBezTo>
                    <a:pt x="3850929" y="17789"/>
                    <a:pt x="3854830" y="27207"/>
                    <a:pt x="3854830" y="37027"/>
                  </a:cubicBezTo>
                  <a:lnTo>
                    <a:pt x="3854830" y="383477"/>
                  </a:lnTo>
                  <a:cubicBezTo>
                    <a:pt x="3854830" y="403926"/>
                    <a:pt x="3838253" y="420503"/>
                    <a:pt x="3817803" y="420503"/>
                  </a:cubicBezTo>
                  <a:lnTo>
                    <a:pt x="37027" y="420503"/>
                  </a:lnTo>
                  <a:cubicBezTo>
                    <a:pt x="16577" y="420503"/>
                    <a:pt x="0" y="403926"/>
                    <a:pt x="0" y="383477"/>
                  </a:cubicBezTo>
                  <a:lnTo>
                    <a:pt x="0" y="37027"/>
                  </a:lnTo>
                  <a:cubicBezTo>
                    <a:pt x="0" y="16577"/>
                    <a:pt x="16577" y="0"/>
                    <a:pt x="37027" y="0"/>
                  </a:cubicBezTo>
                  <a:close/>
                </a:path>
              </a:pathLst>
            </a:custGeom>
            <a:solidFill>
              <a:srgbClr val="FFFFFF"/>
            </a:solidFill>
            <a:ln w="38100" cap="rnd">
              <a:solidFill>
                <a:srgbClr val="FFC153"/>
              </a:solidFill>
              <a:prstDash val="solid"/>
              <a:round/>
            </a:ln>
          </p:spPr>
        </p:sp>
        <p:sp>
          <p:nvSpPr>
            <p:cNvPr name="TextBox 12" id="12"/>
            <p:cNvSpPr txBox="true"/>
            <p:nvPr/>
          </p:nvSpPr>
          <p:spPr>
            <a:xfrm>
              <a:off x="0" y="19050"/>
              <a:ext cx="3854830" cy="401453"/>
            </a:xfrm>
            <a:prstGeom prst="rect">
              <a:avLst/>
            </a:prstGeom>
          </p:spPr>
          <p:txBody>
            <a:bodyPr anchor="ctr" rtlCol="false" tIns="50800" lIns="50800" bIns="50800" rIns="50800"/>
            <a:lstStyle/>
            <a:p>
              <a:pPr algn="ctr">
                <a:lnSpc>
                  <a:spcPts val="2694"/>
                </a:lnSpc>
              </a:pPr>
            </a:p>
          </p:txBody>
        </p:sp>
      </p:grpSp>
      <p:sp>
        <p:nvSpPr>
          <p:cNvPr name="TextBox 13" id="13"/>
          <p:cNvSpPr txBox="true"/>
          <p:nvPr/>
        </p:nvSpPr>
        <p:spPr>
          <a:xfrm rot="0">
            <a:off x="1713054" y="7408246"/>
            <a:ext cx="12706591" cy="1365885"/>
          </a:xfrm>
          <a:prstGeom prst="rect">
            <a:avLst/>
          </a:prstGeom>
        </p:spPr>
        <p:txBody>
          <a:bodyPr anchor="t" rtlCol="false" tIns="0" lIns="0" bIns="0" rIns="0">
            <a:spAutoFit/>
          </a:bodyPr>
          <a:lstStyle/>
          <a:p>
            <a:pPr algn="l">
              <a:lnSpc>
                <a:spcPts val="5460"/>
              </a:lnSpc>
              <a:spcBef>
                <a:spcPct val="0"/>
              </a:spcBef>
            </a:pPr>
            <a:r>
              <a:rPr lang="en-US" sz="4200">
                <a:solidFill>
                  <a:srgbClr val="000000"/>
                </a:solidFill>
                <a:latin typeface="ไอติม"/>
                <a:ea typeface="ไอติม"/>
                <a:cs typeface="ไอติม"/>
                <a:sym typeface="ไอติม"/>
              </a:rPr>
              <a:t>GitHubRepository : https://github.com/670710143/rust-tutorial-2569</a:t>
            </a:r>
          </a:p>
        </p:txBody>
      </p:sp>
      <p:sp>
        <p:nvSpPr>
          <p:cNvPr name="TextBox 14" id="14"/>
          <p:cNvSpPr txBox="true"/>
          <p:nvPr/>
        </p:nvSpPr>
        <p:spPr>
          <a:xfrm rot="0">
            <a:off x="643955" y="2713926"/>
            <a:ext cx="14844790" cy="4730115"/>
          </a:xfrm>
          <a:prstGeom prst="rect">
            <a:avLst/>
          </a:prstGeom>
        </p:spPr>
        <p:txBody>
          <a:bodyPr anchor="t" rtlCol="false" tIns="0" lIns="0" bIns="0" rIns="0">
            <a:spAutoFit/>
          </a:bodyPr>
          <a:lstStyle/>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[The Rust Programming Language — Rust Book]</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[Rust by Example / Rust Reference]</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 Rust Documentation ]</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 W3Schools ]</a:t>
            </a:r>
          </a:p>
          <a:p>
            <a:pPr algn="l" marL="1036320" indent="-518160" lvl="1">
              <a:lnSpc>
                <a:spcPts val="6240"/>
              </a:lnSpc>
              <a:buAutoNum type="arabicPeriod" startAt="1"/>
            </a:pPr>
            <a:r>
              <a:rPr lang="en-US" sz="4800">
                <a:solidFill>
                  <a:srgbClr val="000000"/>
                </a:solidFill>
                <a:latin typeface="ไอติม"/>
                <a:ea typeface="ไอติม"/>
                <a:cs typeface="ไอติม"/>
                <a:sym typeface="ไอติม"/>
              </a:rPr>
              <a:t>[ Workshop EDM - Rust 2024 ]</a:t>
            </a:r>
          </a:p>
          <a:p>
            <a:pPr algn="l">
              <a:lnSpc>
                <a:spcPts val="6240"/>
              </a:lnSpc>
              <a:spcBef>
                <a:spcPct val="0"/>
              </a:spcBef>
            </a:pPr>
          </a:p>
        </p:txBody>
      </p:sp>
    </p:spTree>
  </p:cSld>
  <p:clrMapOvr>
    <a:masterClrMapping/>
  </p:clrMapOvr>
  <p:transition spd="fast">
    <p:fade/>
  </p:transition>
</p:sld>
</file>

<file path=ppt/slides/slide54.xml><?xml version="1.0" encoding="utf-8"?>
<p:sld xmlns:p="http://schemas.openxmlformats.org/presentationml/2006/main" xmlns:a="http://schemas.openxmlformats.org/drawingml/2006/main">
  <p:cSld>
    <p:bg>
      <p:bgPr>
        <a:solidFill>
          <a:srgbClr val="F6BD3B"/>
        </a:solidFill>
      </p:bgPr>
    </p:bg>
    <p:spTree>
      <p:nvGrpSpPr>
        <p:cNvPr id="1" name=""/>
        <p:cNvGrpSpPr/>
        <p:nvPr/>
      </p:nvGrpSpPr>
      <p:grpSpPr>
        <a:xfrm>
          <a:off x="0" y="0"/>
          <a:ext cx="0" cy="0"/>
          <a:chOff x="0" y="0"/>
          <a:chExt cx="0" cy="0"/>
        </a:xfrm>
      </p:grpSpPr>
      <p:grpSp>
        <p:nvGrpSpPr>
          <p:cNvPr name="Group 2" id="2"/>
          <p:cNvGrpSpPr/>
          <p:nvPr/>
        </p:nvGrpSpPr>
        <p:grpSpPr>
          <a:xfrm rot="-10800000">
            <a:off x="1986838" y="1524000"/>
            <a:ext cx="18083804" cy="8229600"/>
            <a:chOff x="0" y="0"/>
            <a:chExt cx="4762812" cy="2167467"/>
          </a:xfrm>
        </p:grpSpPr>
        <p:sp>
          <p:nvSpPr>
            <p:cNvPr name="Freeform 3" id="3"/>
            <p:cNvSpPr/>
            <p:nvPr/>
          </p:nvSpPr>
          <p:spPr>
            <a:xfrm flipH="false" flipV="false" rot="0">
              <a:off x="0" y="0"/>
              <a:ext cx="4762812" cy="2167467"/>
            </a:xfrm>
            <a:custGeom>
              <a:avLst/>
              <a:gdLst/>
              <a:ahLst/>
              <a:cxnLst/>
              <a:rect r="r" b="b" t="t" l="l"/>
              <a:pathLst>
                <a:path h="2167467" w="4762812">
                  <a:moveTo>
                    <a:pt x="29968" y="0"/>
                  </a:moveTo>
                  <a:lnTo>
                    <a:pt x="4732844" y="0"/>
                  </a:lnTo>
                  <a:cubicBezTo>
                    <a:pt x="4740792" y="0"/>
                    <a:pt x="4748415" y="3157"/>
                    <a:pt x="4754035" y="8777"/>
                  </a:cubicBezTo>
                  <a:cubicBezTo>
                    <a:pt x="4759655" y="14397"/>
                    <a:pt x="4762812" y="22020"/>
                    <a:pt x="4762812" y="29968"/>
                  </a:cubicBezTo>
                  <a:lnTo>
                    <a:pt x="4762812" y="2137499"/>
                  </a:lnTo>
                  <a:cubicBezTo>
                    <a:pt x="4762812" y="2154050"/>
                    <a:pt x="4749395" y="2167467"/>
                    <a:pt x="4732844" y="2167467"/>
                  </a:cubicBezTo>
                  <a:lnTo>
                    <a:pt x="29968" y="2167467"/>
                  </a:lnTo>
                  <a:cubicBezTo>
                    <a:pt x="22020" y="2167467"/>
                    <a:pt x="14397" y="2164309"/>
                    <a:pt x="8777" y="2158689"/>
                  </a:cubicBezTo>
                  <a:cubicBezTo>
                    <a:pt x="3157" y="2153069"/>
                    <a:pt x="0" y="2145447"/>
                    <a:pt x="0" y="2137499"/>
                  </a:cubicBezTo>
                  <a:lnTo>
                    <a:pt x="0" y="29968"/>
                  </a:lnTo>
                  <a:cubicBezTo>
                    <a:pt x="0" y="13417"/>
                    <a:pt x="13417" y="0"/>
                    <a:pt x="29968" y="0"/>
                  </a:cubicBezTo>
                  <a:close/>
                </a:path>
              </a:pathLst>
            </a:custGeom>
            <a:solidFill>
              <a:srgbClr val="FFFFFF"/>
            </a:solidFill>
            <a:ln w="38100" cap="rnd">
              <a:solidFill>
                <a:srgbClr val="000000"/>
              </a:solidFill>
              <a:prstDash val="solid"/>
              <a:round/>
            </a:ln>
          </p:spPr>
        </p:sp>
        <p:sp>
          <p:nvSpPr>
            <p:cNvPr name="TextBox 4" id="4"/>
            <p:cNvSpPr txBox="true"/>
            <p:nvPr/>
          </p:nvSpPr>
          <p:spPr>
            <a:xfrm>
              <a:off x="0" y="19050"/>
              <a:ext cx="4762812" cy="2148417"/>
            </a:xfrm>
            <a:prstGeom prst="rect">
              <a:avLst/>
            </a:prstGeom>
          </p:spPr>
          <p:txBody>
            <a:bodyPr anchor="ctr" rtlCol="false" tIns="50800" lIns="50800" bIns="50800" rIns="50800"/>
            <a:lstStyle/>
            <a:p>
              <a:pPr algn="ctr">
                <a:lnSpc>
                  <a:spcPts val="2694"/>
                </a:lnSpc>
              </a:pPr>
            </a:p>
          </p:txBody>
        </p:sp>
      </p:grpSp>
      <p:grpSp>
        <p:nvGrpSpPr>
          <p:cNvPr name="Group 5" id="5"/>
          <p:cNvGrpSpPr/>
          <p:nvPr/>
        </p:nvGrpSpPr>
        <p:grpSpPr>
          <a:xfrm rot="0">
            <a:off x="1028700" y="1652039"/>
            <a:ext cx="1382877" cy="1619841"/>
            <a:chOff x="0" y="0"/>
            <a:chExt cx="364214" cy="426625"/>
          </a:xfrm>
        </p:grpSpPr>
        <p:sp>
          <p:nvSpPr>
            <p:cNvPr name="Freeform 6" id="6"/>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E2A9F1"/>
            </a:solidFill>
            <a:ln w="38100" cap="sq">
              <a:solidFill>
                <a:srgbClr val="000000"/>
              </a:solidFill>
              <a:prstDash val="solid"/>
              <a:miter/>
            </a:ln>
          </p:spPr>
        </p:sp>
        <p:sp>
          <p:nvSpPr>
            <p:cNvPr name="TextBox 7" id="7"/>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8" id="8"/>
          <p:cNvGrpSpPr/>
          <p:nvPr/>
        </p:nvGrpSpPr>
        <p:grpSpPr>
          <a:xfrm rot="0">
            <a:off x="1028700" y="3439733"/>
            <a:ext cx="1382877" cy="1619841"/>
            <a:chOff x="0" y="0"/>
            <a:chExt cx="364214" cy="426625"/>
          </a:xfrm>
        </p:grpSpPr>
        <p:sp>
          <p:nvSpPr>
            <p:cNvPr name="Freeform 9" id="9"/>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49F"/>
            </a:solidFill>
            <a:ln w="38100" cap="sq">
              <a:solidFill>
                <a:srgbClr val="000000"/>
              </a:solidFill>
              <a:prstDash val="solid"/>
              <a:miter/>
            </a:ln>
          </p:spPr>
        </p:sp>
        <p:sp>
          <p:nvSpPr>
            <p:cNvPr name="TextBox 10" id="10"/>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1" id="11"/>
          <p:cNvGrpSpPr/>
          <p:nvPr/>
        </p:nvGrpSpPr>
        <p:grpSpPr>
          <a:xfrm rot="0">
            <a:off x="1028700" y="5227427"/>
            <a:ext cx="1382877" cy="1619841"/>
            <a:chOff x="0" y="0"/>
            <a:chExt cx="364214" cy="426625"/>
          </a:xfrm>
        </p:grpSpPr>
        <p:sp>
          <p:nvSpPr>
            <p:cNvPr name="Freeform 12" id="12"/>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FF8B54"/>
            </a:solidFill>
            <a:ln w="38100" cap="sq">
              <a:solidFill>
                <a:srgbClr val="000000"/>
              </a:solidFill>
              <a:prstDash val="solid"/>
              <a:miter/>
            </a:ln>
          </p:spPr>
        </p:sp>
        <p:sp>
          <p:nvSpPr>
            <p:cNvPr name="TextBox 13" id="13"/>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4" id="14"/>
          <p:cNvGrpSpPr/>
          <p:nvPr/>
        </p:nvGrpSpPr>
        <p:grpSpPr>
          <a:xfrm rot="0">
            <a:off x="1028700" y="7015121"/>
            <a:ext cx="1382877" cy="1619841"/>
            <a:chOff x="0" y="0"/>
            <a:chExt cx="364214" cy="426625"/>
          </a:xfrm>
        </p:grpSpPr>
        <p:sp>
          <p:nvSpPr>
            <p:cNvPr name="Freeform 15" id="15"/>
            <p:cNvSpPr/>
            <p:nvPr/>
          </p:nvSpPr>
          <p:spPr>
            <a:xfrm flipH="false" flipV="false" rot="0">
              <a:off x="0" y="0"/>
              <a:ext cx="364214" cy="426625"/>
            </a:xfrm>
            <a:custGeom>
              <a:avLst/>
              <a:gdLst/>
              <a:ahLst/>
              <a:cxnLst/>
              <a:rect r="r" b="b" t="t" l="l"/>
              <a:pathLst>
                <a:path h="426625" w="364214">
                  <a:moveTo>
                    <a:pt x="0" y="0"/>
                  </a:moveTo>
                  <a:lnTo>
                    <a:pt x="364214" y="0"/>
                  </a:lnTo>
                  <a:lnTo>
                    <a:pt x="364214" y="426625"/>
                  </a:lnTo>
                  <a:lnTo>
                    <a:pt x="0" y="426625"/>
                  </a:lnTo>
                  <a:close/>
                </a:path>
              </a:pathLst>
            </a:custGeom>
            <a:solidFill>
              <a:srgbClr val="327EBD"/>
            </a:solidFill>
            <a:ln w="38100" cap="sq">
              <a:solidFill>
                <a:srgbClr val="000000"/>
              </a:solidFill>
              <a:prstDash val="solid"/>
              <a:miter/>
            </a:ln>
          </p:spPr>
        </p:sp>
        <p:sp>
          <p:nvSpPr>
            <p:cNvPr name="TextBox 16" id="16"/>
            <p:cNvSpPr txBox="true"/>
            <p:nvPr/>
          </p:nvSpPr>
          <p:spPr>
            <a:xfrm>
              <a:off x="0" y="19050"/>
              <a:ext cx="364214" cy="407575"/>
            </a:xfrm>
            <a:prstGeom prst="rect">
              <a:avLst/>
            </a:prstGeom>
          </p:spPr>
          <p:txBody>
            <a:bodyPr anchor="ctr" rtlCol="false" tIns="50800" lIns="50800" bIns="50800" rIns="50800"/>
            <a:lstStyle/>
            <a:p>
              <a:pPr algn="ctr">
                <a:lnSpc>
                  <a:spcPts val="2694"/>
                </a:lnSpc>
              </a:pPr>
            </a:p>
          </p:txBody>
        </p:sp>
      </p:grpSp>
      <p:grpSp>
        <p:nvGrpSpPr>
          <p:cNvPr name="Group 17" id="17"/>
          <p:cNvGrpSpPr/>
          <p:nvPr/>
        </p:nvGrpSpPr>
        <p:grpSpPr>
          <a:xfrm rot="-10800000">
            <a:off x="1720138" y="1238250"/>
            <a:ext cx="18083804" cy="8229600"/>
            <a:chOff x="0" y="0"/>
            <a:chExt cx="4762812" cy="2167467"/>
          </a:xfrm>
        </p:grpSpPr>
        <p:sp>
          <p:nvSpPr>
            <p:cNvPr name="Freeform 18" id="18"/>
            <p:cNvSpPr/>
            <p:nvPr/>
          </p:nvSpPr>
          <p:spPr>
            <a:xfrm flipH="false" flipV="false" rot="0">
              <a:off x="0" y="0"/>
              <a:ext cx="4762812" cy="2167467"/>
            </a:xfrm>
            <a:custGeom>
              <a:avLst/>
              <a:gdLst/>
              <a:ahLst/>
              <a:cxnLst/>
              <a:rect r="r" b="b" t="t" l="l"/>
              <a:pathLst>
                <a:path h="2167467" w="4762812">
                  <a:moveTo>
                    <a:pt x="29968" y="0"/>
                  </a:moveTo>
                  <a:lnTo>
                    <a:pt x="4732844" y="0"/>
                  </a:lnTo>
                  <a:cubicBezTo>
                    <a:pt x="4740792" y="0"/>
                    <a:pt x="4748415" y="3157"/>
                    <a:pt x="4754035" y="8777"/>
                  </a:cubicBezTo>
                  <a:cubicBezTo>
                    <a:pt x="4759655" y="14397"/>
                    <a:pt x="4762812" y="22020"/>
                    <a:pt x="4762812" y="29968"/>
                  </a:cubicBezTo>
                  <a:lnTo>
                    <a:pt x="4762812" y="2137499"/>
                  </a:lnTo>
                  <a:cubicBezTo>
                    <a:pt x="4762812" y="2154050"/>
                    <a:pt x="4749395" y="2167467"/>
                    <a:pt x="4732844" y="2167467"/>
                  </a:cubicBezTo>
                  <a:lnTo>
                    <a:pt x="29968" y="2167467"/>
                  </a:lnTo>
                  <a:cubicBezTo>
                    <a:pt x="22020" y="2167467"/>
                    <a:pt x="14397" y="2164309"/>
                    <a:pt x="8777" y="2158689"/>
                  </a:cubicBezTo>
                  <a:cubicBezTo>
                    <a:pt x="3157" y="2153069"/>
                    <a:pt x="0" y="2145447"/>
                    <a:pt x="0" y="2137499"/>
                  </a:cubicBezTo>
                  <a:lnTo>
                    <a:pt x="0" y="29968"/>
                  </a:lnTo>
                  <a:cubicBezTo>
                    <a:pt x="0" y="13417"/>
                    <a:pt x="13417" y="0"/>
                    <a:pt x="29968" y="0"/>
                  </a:cubicBezTo>
                  <a:close/>
                </a:path>
              </a:pathLst>
            </a:custGeom>
            <a:solidFill>
              <a:srgbClr val="F8F5E7"/>
            </a:solidFill>
            <a:ln w="38100" cap="rnd">
              <a:solidFill>
                <a:srgbClr val="000000"/>
              </a:solidFill>
              <a:prstDash val="solid"/>
              <a:round/>
            </a:ln>
          </p:spPr>
        </p:sp>
        <p:sp>
          <p:nvSpPr>
            <p:cNvPr name="TextBox 19" id="19"/>
            <p:cNvSpPr txBox="true"/>
            <p:nvPr/>
          </p:nvSpPr>
          <p:spPr>
            <a:xfrm>
              <a:off x="0" y="19050"/>
              <a:ext cx="4762812" cy="2148417"/>
            </a:xfrm>
            <a:prstGeom prst="rect">
              <a:avLst/>
            </a:prstGeom>
          </p:spPr>
          <p:txBody>
            <a:bodyPr anchor="ctr" rtlCol="false" tIns="50800" lIns="50800" bIns="50800" rIns="50800"/>
            <a:lstStyle/>
            <a:p>
              <a:pPr algn="ctr">
                <a:lnSpc>
                  <a:spcPts val="2694"/>
                </a:lnSpc>
              </a:pPr>
            </a:p>
          </p:txBody>
        </p:sp>
      </p:grpSp>
      <p:sp>
        <p:nvSpPr>
          <p:cNvPr name="TextBox 20" id="20"/>
          <p:cNvSpPr txBox="true"/>
          <p:nvPr/>
        </p:nvSpPr>
        <p:spPr>
          <a:xfrm rot="0">
            <a:off x="3798464" y="4340286"/>
            <a:ext cx="13927153" cy="1209679"/>
          </a:xfrm>
          <a:prstGeom prst="rect">
            <a:avLst/>
          </a:prstGeom>
        </p:spPr>
        <p:txBody>
          <a:bodyPr anchor="t" rtlCol="false" tIns="0" lIns="0" bIns="0" rIns="0">
            <a:spAutoFit/>
          </a:bodyPr>
          <a:lstStyle/>
          <a:p>
            <a:pPr algn="l" marL="0" indent="0" lvl="0">
              <a:lnSpc>
                <a:spcPts val="9000"/>
              </a:lnSpc>
              <a:spcBef>
                <a:spcPct val="0"/>
              </a:spcBef>
            </a:pPr>
            <a:r>
              <a:rPr lang="en-US" sz="9000">
                <a:solidFill>
                  <a:srgbClr val="000000"/>
                </a:solidFill>
                <a:latin typeface="ไอติม"/>
                <a:ea typeface="ไอติม"/>
                <a:cs typeface="ไอติม"/>
                <a:sym typeface="ไอติม"/>
              </a:rPr>
              <a:t>QUESTIONS &amp; ANSWERS</a:t>
            </a:r>
          </a:p>
        </p:txBody>
      </p:sp>
      <p:sp>
        <p:nvSpPr>
          <p:cNvPr name="TextBox 21" id="21"/>
          <p:cNvSpPr txBox="true"/>
          <p:nvPr/>
        </p:nvSpPr>
        <p:spPr>
          <a:xfrm rot="0">
            <a:off x="4441299" y="5805744"/>
            <a:ext cx="12641482" cy="721995"/>
          </a:xfrm>
          <a:prstGeom prst="rect">
            <a:avLst/>
          </a:prstGeom>
        </p:spPr>
        <p:txBody>
          <a:bodyPr anchor="t" rtlCol="false" tIns="0" lIns="0" bIns="0" rIns="0">
            <a:spAutoFit/>
          </a:bodyPr>
          <a:lstStyle/>
          <a:p>
            <a:pPr algn="ctr">
              <a:lnSpc>
                <a:spcPts val="5880"/>
              </a:lnSpc>
            </a:pPr>
            <a:r>
              <a:rPr lang="en-US" sz="4200">
                <a:solidFill>
                  <a:srgbClr val="000000"/>
                </a:solidFill>
                <a:latin typeface="ไอติม"/>
                <a:ea typeface="ไอติม"/>
                <a:cs typeface="ไอติม"/>
                <a:sym typeface="ไอติม"/>
              </a:rPr>
              <a:t>กลุ่มที่ 9 - Enums &amp; Pattern Matching</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DAHWfxT6YdM</dc:identifier>
  <dcterms:modified xsi:type="dcterms:W3CDTF">2011-08-01T06:04:30Z</dcterms:modified>
  <cp:revision>1</cp:revision>
  <dc:title>กลุ่มที่ 9 - Enums &amp; Pattern Matching</dc:title>
</cp:coreProperties>
</file>